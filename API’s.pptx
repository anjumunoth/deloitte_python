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01" r:id="rId3"/>
    <p:sldId id="305" r:id="rId4"/>
    <p:sldId id="306" r:id="rId5"/>
    <p:sldId id="307" r:id="rId6"/>
    <p:sldId id="257" r:id="rId7"/>
    <p:sldId id="302" r:id="rId8"/>
    <p:sldId id="303" r:id="rId9"/>
    <p:sldId id="258" r:id="rId10"/>
    <p:sldId id="313" r:id="rId11"/>
    <p:sldId id="314" r:id="rId12"/>
    <p:sldId id="259" r:id="rId13"/>
    <p:sldId id="315" r:id="rId14"/>
    <p:sldId id="260" r:id="rId15"/>
    <p:sldId id="317" r:id="rId16"/>
    <p:sldId id="261" r:id="rId17"/>
    <p:sldId id="316" r:id="rId18"/>
    <p:sldId id="318" r:id="rId19"/>
    <p:sldId id="309" r:id="rId20"/>
    <p:sldId id="310" r:id="rId21"/>
    <p:sldId id="311" r:id="rId22"/>
    <p:sldId id="312" r:id="rId23"/>
    <p:sldId id="262" r:id="rId24"/>
    <p:sldId id="263" r:id="rId25"/>
    <p:sldId id="264" r:id="rId26"/>
    <p:sldId id="265" r:id="rId27"/>
    <p:sldId id="266" r:id="rId28"/>
    <p:sldId id="267" r:id="rId29"/>
    <p:sldId id="268" r:id="rId30"/>
    <p:sldId id="269" r:id="rId31"/>
    <p:sldId id="276" r:id="rId32"/>
    <p:sldId id="270" r:id="rId33"/>
    <p:sldId id="271" r:id="rId34"/>
    <p:sldId id="272" r:id="rId35"/>
    <p:sldId id="273" r:id="rId36"/>
    <p:sldId id="274" r:id="rId37"/>
    <p:sldId id="275"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290" r:id="rId52"/>
    <p:sldId id="291" r:id="rId53"/>
    <p:sldId id="292" r:id="rId54"/>
    <p:sldId id="293" r:id="rId55"/>
    <p:sldId id="294" r:id="rId56"/>
    <p:sldId id="295" r:id="rId57"/>
    <p:sldId id="296" r:id="rId58"/>
    <p:sldId id="297" r:id="rId59"/>
    <p:sldId id="298" r:id="rId60"/>
    <p:sldId id="299" r:id="rId61"/>
    <p:sldId id="300"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p:scale>
          <a:sx n="82" d="100"/>
          <a:sy n="82" d="100"/>
        </p:scale>
        <p:origin x="290"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DB0C5C3-61A9-4B5F-9F0C-7E63AABBBEF0}" type="datetimeFigureOut">
              <a:rPr lang="en-IN" smtClean="0"/>
              <a:t>07-12-2025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3372973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B0C5C3-61A9-4B5F-9F0C-7E63AABBBEF0}"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3708296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B0C5C3-61A9-4B5F-9F0C-7E63AABBBEF0}"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4072653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B0C5C3-61A9-4B5F-9F0C-7E63AABBBEF0}" type="datetimeFigureOut">
              <a:rPr lang="en-IN" smtClean="0"/>
              <a:t>07-12-2025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1312949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B0C5C3-61A9-4B5F-9F0C-7E63AABBBEF0}" type="datetimeFigureOut">
              <a:rPr lang="en-IN" smtClean="0"/>
              <a:t>07-12-2025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1147141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B0C5C3-61A9-4B5F-9F0C-7E63AABBBEF0}" type="datetimeFigureOut">
              <a:rPr lang="en-IN" smtClean="0"/>
              <a:t>07-12-2025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302266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B0C5C3-61A9-4B5F-9F0C-7E63AABBBEF0}" type="datetimeFigureOut">
              <a:rPr lang="en-IN" smtClean="0"/>
              <a:t>07-12-2025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1166358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B0C5C3-61A9-4B5F-9F0C-7E63AABBBEF0}" type="datetimeFigureOut">
              <a:rPr lang="en-IN" smtClean="0"/>
              <a:t>07-12-2025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3241080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B0C5C3-61A9-4B5F-9F0C-7E63AABBBEF0}" type="datetimeFigureOut">
              <a:rPr lang="en-IN" smtClean="0"/>
              <a:t>07-12-2025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2202239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B0C5C3-61A9-4B5F-9F0C-7E63AABBBEF0}" type="datetimeFigureOut">
              <a:rPr lang="en-IN" smtClean="0"/>
              <a:t>07-12-2025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277133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DB0C5C3-61A9-4B5F-9F0C-7E63AABBBEF0}"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14434499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DB0C5C3-61A9-4B5F-9F0C-7E63AABBBEF0}"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162113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B0C5C3-61A9-4B5F-9F0C-7E63AABBBEF0}"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2398167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DB0C5C3-61A9-4B5F-9F0C-7E63AABBBEF0}" type="datetimeFigureOut">
              <a:rPr lang="en-IN" smtClean="0"/>
              <a:t>07-12-2025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2085938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DB0C5C3-61A9-4B5F-9F0C-7E63AABBBEF0}" type="datetimeFigureOut">
              <a:rPr lang="en-IN" smtClean="0"/>
              <a:t>07-12-2025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2575594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DB0C5C3-61A9-4B5F-9F0C-7E63AABBBEF0}"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2108908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DB0C5C3-61A9-4B5F-9F0C-7E63AABBBEF0}"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B7EF666-4BC9-4E69-B15C-A1F192E9E2DB}" type="slidenum">
              <a:rPr lang="en-IN" smtClean="0"/>
              <a:t>‹#›</a:t>
            </a:fld>
            <a:endParaRPr lang="en-IN"/>
          </a:p>
        </p:txBody>
      </p:sp>
    </p:spTree>
    <p:extLst>
      <p:ext uri="{BB962C8B-B14F-4D97-AF65-F5344CB8AC3E}">
        <p14:creationId xmlns:p14="http://schemas.microsoft.com/office/powerpoint/2010/main" val="2026608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DB0C5C3-61A9-4B5F-9F0C-7E63AABBBEF0}" type="datetimeFigureOut">
              <a:rPr lang="en-IN" smtClean="0"/>
              <a:t>07-12-2025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EB7EF666-4BC9-4E69-B15C-A1F192E9E2DB}" type="slidenum">
              <a:rPr lang="en-IN" smtClean="0"/>
              <a:t>‹#›</a:t>
            </a:fld>
            <a:endParaRPr lang="en-IN"/>
          </a:p>
        </p:txBody>
      </p:sp>
    </p:spTree>
    <p:extLst>
      <p:ext uri="{BB962C8B-B14F-4D97-AF65-F5344CB8AC3E}">
        <p14:creationId xmlns:p14="http://schemas.microsoft.com/office/powerpoint/2010/main" val="13388783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geeksforgeeks.org/blogs/how-does-upi-work/"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3E84C-8555-B63F-6D30-C759EB02BAF5}"/>
              </a:ext>
            </a:extLst>
          </p:cNvPr>
          <p:cNvSpPr>
            <a:spLocks noGrp="1"/>
          </p:cNvSpPr>
          <p:nvPr>
            <p:ph type="ctrTitle"/>
          </p:nvPr>
        </p:nvSpPr>
        <p:spPr/>
        <p:txBody>
          <a:bodyPr/>
          <a:lstStyle/>
          <a:p>
            <a:r>
              <a:rPr lang="en-IN" dirty="0"/>
              <a:t>API’s</a:t>
            </a:r>
          </a:p>
        </p:txBody>
      </p:sp>
      <p:sp>
        <p:nvSpPr>
          <p:cNvPr id="3" name="Subtitle 2">
            <a:extLst>
              <a:ext uri="{FF2B5EF4-FFF2-40B4-BE49-F238E27FC236}">
                <a16:creationId xmlns:a16="http://schemas.microsoft.com/office/drawing/2014/main" id="{98DAB583-EF81-9312-37D4-EBFFC65B2A5E}"/>
              </a:ext>
            </a:extLst>
          </p:cNvPr>
          <p:cNvSpPr>
            <a:spLocks noGrp="1"/>
          </p:cNvSpPr>
          <p:nvPr>
            <p:ph type="subTitle" idx="1"/>
          </p:nvPr>
        </p:nvSpPr>
        <p:spPr/>
        <p:txBody>
          <a:bodyPr/>
          <a:lstStyle/>
          <a:p>
            <a:r>
              <a:rPr lang="en-IN" dirty="0"/>
              <a:t>Anju munoth</a:t>
            </a:r>
          </a:p>
        </p:txBody>
      </p:sp>
    </p:spTree>
    <p:extLst>
      <p:ext uri="{BB962C8B-B14F-4D97-AF65-F5344CB8AC3E}">
        <p14:creationId xmlns:p14="http://schemas.microsoft.com/office/powerpoint/2010/main" val="2832981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46784-EB95-1F1A-BFFA-550ED9DFF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BC221-87CC-DC4F-6C84-34FC5ED9C66F}"/>
              </a:ext>
            </a:extLst>
          </p:cNvPr>
          <p:cNvSpPr>
            <a:spLocks noGrp="1"/>
          </p:cNvSpPr>
          <p:nvPr>
            <p:ph type="title"/>
          </p:nvPr>
        </p:nvSpPr>
        <p:spPr/>
        <p:txBody>
          <a:bodyPr/>
          <a:lstStyle/>
          <a:p>
            <a:r>
              <a:rPr lang="en-US" b="1" dirty="0"/>
              <a:t>What is an API (Technically)?</a:t>
            </a:r>
            <a:endParaRPr lang="en-IN" dirty="0"/>
          </a:p>
        </p:txBody>
      </p:sp>
      <p:sp>
        <p:nvSpPr>
          <p:cNvPr id="3" name="Content Placeholder 2">
            <a:extLst>
              <a:ext uri="{FF2B5EF4-FFF2-40B4-BE49-F238E27FC236}">
                <a16:creationId xmlns:a16="http://schemas.microsoft.com/office/drawing/2014/main" id="{0FCC9F3E-09F6-54D9-5C27-5866AFB1C51C}"/>
              </a:ext>
            </a:extLst>
          </p:cNvPr>
          <p:cNvSpPr>
            <a:spLocks noGrp="1"/>
          </p:cNvSpPr>
          <p:nvPr>
            <p:ph idx="1"/>
          </p:nvPr>
        </p:nvSpPr>
        <p:spPr>
          <a:xfrm>
            <a:off x="1154954" y="2603500"/>
            <a:ext cx="10438332" cy="3867280"/>
          </a:xfrm>
        </p:spPr>
        <p:txBody>
          <a:bodyPr>
            <a:normAutofit lnSpcReduction="10000"/>
          </a:bodyPr>
          <a:lstStyle/>
          <a:p>
            <a:r>
              <a:rPr lang="en-US" dirty="0"/>
              <a:t>An API (Application Programming Interface) is a set of definitions and protocols for building and integrating application software. </a:t>
            </a:r>
          </a:p>
          <a:p>
            <a:r>
              <a:rPr lang="en-US" b="1" dirty="0"/>
              <a:t>Contract</a:t>
            </a:r>
            <a:r>
              <a:rPr lang="en-US" dirty="0"/>
              <a:t> between the </a:t>
            </a:r>
            <a:r>
              <a:rPr lang="en-US" b="1" dirty="0"/>
              <a:t>Client</a:t>
            </a:r>
            <a:r>
              <a:rPr lang="en-US" dirty="0"/>
              <a:t> (Consumer) and the </a:t>
            </a:r>
            <a:r>
              <a:rPr lang="en-US" b="1" dirty="0"/>
              <a:t>Server</a:t>
            </a:r>
            <a:r>
              <a:rPr lang="en-US" dirty="0"/>
              <a:t> (Provider).</a:t>
            </a:r>
          </a:p>
          <a:p>
            <a:r>
              <a:rPr lang="en-US" b="1" dirty="0"/>
              <a:t>Contract states:</a:t>
            </a:r>
            <a:endParaRPr lang="en-US" dirty="0"/>
          </a:p>
          <a:p>
            <a:r>
              <a:rPr lang="en-US" b="1" dirty="0"/>
              <a:t>The Request:</a:t>
            </a:r>
            <a:r>
              <a:rPr lang="en-US" dirty="0"/>
              <a:t> If you send me data in </a:t>
            </a:r>
            <a:r>
              <a:rPr lang="en-US" i="1" dirty="0"/>
              <a:t>this</a:t>
            </a:r>
            <a:r>
              <a:rPr lang="en-US" dirty="0"/>
              <a:t> specific format (JSON/XML) to </a:t>
            </a:r>
            <a:r>
              <a:rPr lang="en-US" i="1" dirty="0"/>
              <a:t>this</a:t>
            </a:r>
            <a:r>
              <a:rPr lang="en-US" dirty="0"/>
              <a:t> endpoint (URL)...</a:t>
            </a:r>
          </a:p>
          <a:p>
            <a:r>
              <a:rPr lang="en-US" b="1" dirty="0"/>
              <a:t>The Processing:</a:t>
            </a:r>
            <a:r>
              <a:rPr lang="en-US" dirty="0"/>
              <a:t> I will perform a specific action (black box to you)...</a:t>
            </a:r>
          </a:p>
          <a:p>
            <a:r>
              <a:rPr lang="en-US" b="1" dirty="0"/>
              <a:t>The Response:</a:t>
            </a:r>
            <a:r>
              <a:rPr lang="en-US" dirty="0"/>
              <a:t> And I will return data in </a:t>
            </a:r>
            <a:r>
              <a:rPr lang="en-US" i="1" dirty="0"/>
              <a:t>this</a:t>
            </a:r>
            <a:r>
              <a:rPr lang="en-US" dirty="0"/>
              <a:t> predictable format, or an error code explaining why I failed.</a:t>
            </a:r>
          </a:p>
          <a:p>
            <a:r>
              <a:rPr lang="en-US" b="1" dirty="0"/>
              <a:t>Backbone of modern software development — let different systems talk to each other, exchange data, and extend functionality without reinventing the wheel.</a:t>
            </a:r>
          </a:p>
          <a:p>
            <a:endParaRPr lang="en-US" dirty="0"/>
          </a:p>
          <a:p>
            <a:endParaRPr lang="en-IN" dirty="0"/>
          </a:p>
        </p:txBody>
      </p:sp>
    </p:spTree>
    <p:extLst>
      <p:ext uri="{BB962C8B-B14F-4D97-AF65-F5344CB8AC3E}">
        <p14:creationId xmlns:p14="http://schemas.microsoft.com/office/powerpoint/2010/main" val="989443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8B8D-D29D-A028-59A1-F6E2127C3B70}"/>
              </a:ext>
            </a:extLst>
          </p:cNvPr>
          <p:cNvSpPr>
            <a:spLocks noGrp="1"/>
          </p:cNvSpPr>
          <p:nvPr>
            <p:ph type="title"/>
          </p:nvPr>
        </p:nvSpPr>
        <p:spPr/>
        <p:txBody>
          <a:bodyPr/>
          <a:lstStyle/>
          <a:p>
            <a:r>
              <a:rPr lang="en-US" b="1" dirty="0"/>
              <a:t>What is an API?</a:t>
            </a:r>
            <a:endParaRPr lang="en-IN" dirty="0"/>
          </a:p>
        </p:txBody>
      </p:sp>
      <p:sp>
        <p:nvSpPr>
          <p:cNvPr id="3" name="Content Placeholder 2">
            <a:extLst>
              <a:ext uri="{FF2B5EF4-FFF2-40B4-BE49-F238E27FC236}">
                <a16:creationId xmlns:a16="http://schemas.microsoft.com/office/drawing/2014/main" id="{E37037AA-899D-B44C-FCEE-C417AE54B3E0}"/>
              </a:ext>
            </a:extLst>
          </p:cNvPr>
          <p:cNvSpPr>
            <a:spLocks noGrp="1"/>
          </p:cNvSpPr>
          <p:nvPr>
            <p:ph idx="1"/>
          </p:nvPr>
        </p:nvSpPr>
        <p:spPr>
          <a:xfrm>
            <a:off x="1154954" y="2603499"/>
            <a:ext cx="10345026" cy="3778639"/>
          </a:xfrm>
        </p:spPr>
        <p:txBody>
          <a:bodyPr/>
          <a:lstStyle/>
          <a:p>
            <a:r>
              <a:rPr lang="en-US" dirty="0"/>
              <a:t>API, acts as a set of rules and protocols that enable one software application to communicate and interact with another.</a:t>
            </a:r>
          </a:p>
          <a:p>
            <a:r>
              <a:rPr lang="en-US" dirty="0"/>
              <a:t>APIs serve as bridges that facilitate communication and data exchange between different software systems, allowing them to work together cohesively.</a:t>
            </a:r>
          </a:p>
          <a:p>
            <a:r>
              <a:rPr lang="en-US" dirty="0"/>
              <a:t>APIs define the methods and data formats that applications can use to request and exchange information, abstracting the underlying complexities and promoting a </a:t>
            </a:r>
            <a:r>
              <a:rPr lang="en-US" dirty="0" err="1"/>
              <a:t>standardised</a:t>
            </a:r>
            <a:r>
              <a:rPr lang="en-US" dirty="0"/>
              <a:t> approach to integration.</a:t>
            </a:r>
          </a:p>
          <a:p>
            <a:endParaRPr lang="en-IN" dirty="0"/>
          </a:p>
        </p:txBody>
      </p:sp>
    </p:spTree>
    <p:extLst>
      <p:ext uri="{BB962C8B-B14F-4D97-AF65-F5344CB8AC3E}">
        <p14:creationId xmlns:p14="http://schemas.microsoft.com/office/powerpoint/2010/main" val="727101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996B5-944C-E111-26F3-47DA2EA5FB7B}"/>
              </a:ext>
            </a:extLst>
          </p:cNvPr>
          <p:cNvSpPr>
            <a:spLocks noGrp="1"/>
          </p:cNvSpPr>
          <p:nvPr>
            <p:ph type="title"/>
          </p:nvPr>
        </p:nvSpPr>
        <p:spPr/>
        <p:txBody>
          <a:bodyPr/>
          <a:lstStyle/>
          <a:p>
            <a:r>
              <a:rPr lang="en-US" b="1" dirty="0"/>
              <a:t>Functions of APIs</a:t>
            </a:r>
            <a:endParaRPr lang="en-IN" dirty="0"/>
          </a:p>
        </p:txBody>
      </p:sp>
      <p:sp>
        <p:nvSpPr>
          <p:cNvPr id="3" name="Content Placeholder 2">
            <a:extLst>
              <a:ext uri="{FF2B5EF4-FFF2-40B4-BE49-F238E27FC236}">
                <a16:creationId xmlns:a16="http://schemas.microsoft.com/office/drawing/2014/main" id="{6FAB98D8-F140-A5D7-9985-B9248439FF20}"/>
              </a:ext>
            </a:extLst>
          </p:cNvPr>
          <p:cNvSpPr>
            <a:spLocks noGrp="1"/>
          </p:cNvSpPr>
          <p:nvPr>
            <p:ph idx="1"/>
          </p:nvPr>
        </p:nvSpPr>
        <p:spPr>
          <a:xfrm>
            <a:off x="1154954" y="2603500"/>
            <a:ext cx="11096140" cy="3997908"/>
          </a:xfrm>
        </p:spPr>
        <p:txBody>
          <a:bodyPr>
            <a:normAutofit/>
          </a:bodyPr>
          <a:lstStyle/>
          <a:p>
            <a:pPr marL="0" indent="0">
              <a:buNone/>
            </a:pPr>
            <a:r>
              <a:rPr lang="en-US" b="1" dirty="0"/>
              <a:t>Data Retrieval</a:t>
            </a:r>
            <a:endParaRPr lang="en-US" dirty="0"/>
          </a:p>
          <a:p>
            <a:r>
              <a:rPr lang="en-US" dirty="0"/>
              <a:t>APIs enable applications to retrieve data from external sources, be it from databases, web services, or other applications. </a:t>
            </a:r>
          </a:p>
          <a:p>
            <a:r>
              <a:rPr lang="en-US" dirty="0"/>
              <a:t>Facilitates the seamless integration of data from various platforms, enhancing the functionality of the requesting application.</a:t>
            </a:r>
          </a:p>
          <a:p>
            <a:pPr marL="0" indent="0">
              <a:buNone/>
            </a:pPr>
            <a:r>
              <a:rPr lang="en-US" b="1" dirty="0"/>
              <a:t>Functionality Integration</a:t>
            </a:r>
            <a:endParaRPr lang="en-US" dirty="0"/>
          </a:p>
          <a:p>
            <a:r>
              <a:rPr lang="en-US" dirty="0"/>
              <a:t>Allow applications to leverage the functionalities of other software components without needing to understand their internal workings. </a:t>
            </a:r>
          </a:p>
          <a:p>
            <a:r>
              <a:rPr lang="en-US" dirty="0"/>
              <a:t>Promotes modular development, where developers can focus on specific features without worrying about the entire system architecture.</a:t>
            </a:r>
          </a:p>
          <a:p>
            <a:endParaRPr lang="en-IN" dirty="0"/>
          </a:p>
        </p:txBody>
      </p:sp>
    </p:spTree>
    <p:extLst>
      <p:ext uri="{BB962C8B-B14F-4D97-AF65-F5344CB8AC3E}">
        <p14:creationId xmlns:p14="http://schemas.microsoft.com/office/powerpoint/2010/main" val="1285939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8C4F0-39B6-C440-70C1-AC917CC9FDC3}"/>
              </a:ext>
            </a:extLst>
          </p:cNvPr>
          <p:cNvSpPr>
            <a:spLocks noGrp="1"/>
          </p:cNvSpPr>
          <p:nvPr>
            <p:ph type="title"/>
          </p:nvPr>
        </p:nvSpPr>
        <p:spPr/>
        <p:txBody>
          <a:bodyPr/>
          <a:lstStyle/>
          <a:p>
            <a:r>
              <a:rPr lang="en-US" b="1" dirty="0"/>
              <a:t>Functions of APIs</a:t>
            </a:r>
            <a:endParaRPr lang="en-IN" dirty="0"/>
          </a:p>
        </p:txBody>
      </p:sp>
      <p:sp>
        <p:nvSpPr>
          <p:cNvPr id="3" name="Content Placeholder 2">
            <a:extLst>
              <a:ext uri="{FF2B5EF4-FFF2-40B4-BE49-F238E27FC236}">
                <a16:creationId xmlns:a16="http://schemas.microsoft.com/office/drawing/2014/main" id="{5056E21F-25A6-1B41-07FD-F1622F924AFE}"/>
              </a:ext>
            </a:extLst>
          </p:cNvPr>
          <p:cNvSpPr>
            <a:spLocks noGrp="1"/>
          </p:cNvSpPr>
          <p:nvPr>
            <p:ph idx="1"/>
          </p:nvPr>
        </p:nvSpPr>
        <p:spPr>
          <a:xfrm>
            <a:off x="1154954" y="2603499"/>
            <a:ext cx="10643605" cy="4193851"/>
          </a:xfrm>
        </p:spPr>
        <p:txBody>
          <a:bodyPr>
            <a:normAutofit/>
          </a:bodyPr>
          <a:lstStyle/>
          <a:p>
            <a:pPr marL="0" indent="0">
              <a:buNone/>
            </a:pPr>
            <a:r>
              <a:rPr lang="en-US" b="1" dirty="0"/>
              <a:t>Automation</a:t>
            </a:r>
            <a:endParaRPr lang="en-US" dirty="0"/>
          </a:p>
          <a:p>
            <a:r>
              <a:rPr lang="en-US" dirty="0"/>
              <a:t>APIs play a crucial role in automating repetitive tasks by allowing different software systems to communicate and execute functions programmatically. </a:t>
            </a:r>
          </a:p>
          <a:p>
            <a:r>
              <a:rPr lang="en-US" dirty="0"/>
              <a:t>Enhances efficiency and reduces manual intervention in various processes.</a:t>
            </a:r>
          </a:p>
          <a:p>
            <a:pPr marL="0" indent="0">
              <a:buNone/>
            </a:pPr>
            <a:r>
              <a:rPr lang="en-US" b="1" dirty="0"/>
              <a:t>Interoperability</a:t>
            </a:r>
            <a:endParaRPr lang="en-US" dirty="0"/>
          </a:p>
          <a:p>
            <a:r>
              <a:rPr lang="en-US" dirty="0"/>
              <a:t>Foster interoperability by providing a </a:t>
            </a:r>
            <a:r>
              <a:rPr lang="en-US" dirty="0" err="1"/>
              <a:t>standardised</a:t>
            </a:r>
            <a:r>
              <a:rPr lang="en-US" dirty="0"/>
              <a:t> way for different systems to communicate. </a:t>
            </a:r>
          </a:p>
          <a:p>
            <a:r>
              <a:rPr lang="en-US" dirty="0"/>
              <a:t>Particularly important in heterogeneous environments where diverse technologies and platforms coexist.</a:t>
            </a:r>
          </a:p>
          <a:p>
            <a:endParaRPr lang="en-IN" dirty="0"/>
          </a:p>
        </p:txBody>
      </p:sp>
    </p:spTree>
    <p:extLst>
      <p:ext uri="{BB962C8B-B14F-4D97-AF65-F5344CB8AC3E}">
        <p14:creationId xmlns:p14="http://schemas.microsoft.com/office/powerpoint/2010/main" val="3835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2C15F-FFB4-3829-F7EA-6A7412A703E7}"/>
              </a:ext>
            </a:extLst>
          </p:cNvPr>
          <p:cNvSpPr>
            <a:spLocks noGrp="1"/>
          </p:cNvSpPr>
          <p:nvPr>
            <p:ph type="title"/>
          </p:nvPr>
        </p:nvSpPr>
        <p:spPr/>
        <p:txBody>
          <a:bodyPr/>
          <a:lstStyle/>
          <a:p>
            <a:r>
              <a:rPr lang="en-IN" dirty="0"/>
              <a:t>Why API</a:t>
            </a:r>
          </a:p>
        </p:txBody>
      </p:sp>
      <p:sp>
        <p:nvSpPr>
          <p:cNvPr id="3" name="Content Placeholder 2">
            <a:extLst>
              <a:ext uri="{FF2B5EF4-FFF2-40B4-BE49-F238E27FC236}">
                <a16:creationId xmlns:a16="http://schemas.microsoft.com/office/drawing/2014/main" id="{4F1E27AE-19E7-3F28-5E48-6E2F9A3CD396}"/>
              </a:ext>
            </a:extLst>
          </p:cNvPr>
          <p:cNvSpPr>
            <a:spLocks noGrp="1"/>
          </p:cNvSpPr>
          <p:nvPr>
            <p:ph idx="1"/>
          </p:nvPr>
        </p:nvSpPr>
        <p:spPr>
          <a:xfrm>
            <a:off x="1154954" y="2603500"/>
            <a:ext cx="10438332" cy="3867280"/>
          </a:xfrm>
        </p:spPr>
        <p:txBody>
          <a:bodyPr>
            <a:normAutofit fontScale="92500" lnSpcReduction="10000"/>
          </a:bodyPr>
          <a:lstStyle/>
          <a:p>
            <a:r>
              <a:rPr lang="en-US" dirty="0"/>
              <a:t>For an intermediate developer, APIs shift your focus from "How do I write code to do X?" to "How do I architecture systems?"</a:t>
            </a:r>
          </a:p>
          <a:p>
            <a:r>
              <a:rPr lang="en-US" b="1" dirty="0"/>
              <a:t>Decoupling (Microservices):</a:t>
            </a:r>
            <a:r>
              <a:rPr lang="en-US" dirty="0"/>
              <a:t> Can write your backend in Python (Django/</a:t>
            </a:r>
            <a:r>
              <a:rPr lang="en-US" dirty="0" err="1"/>
              <a:t>FastAPI</a:t>
            </a:r>
            <a:r>
              <a:rPr lang="en-US" dirty="0"/>
              <a:t>) and the frontend in React.</a:t>
            </a:r>
          </a:p>
          <a:p>
            <a:pPr lvl="1"/>
            <a:r>
              <a:rPr lang="en-US" dirty="0"/>
              <a:t>Speak to each other via API.</a:t>
            </a:r>
          </a:p>
          <a:p>
            <a:pPr lvl="1"/>
            <a:r>
              <a:rPr lang="en-US" dirty="0"/>
              <a:t>Want to rewrite the backend in Go later, the frontend doesn't care as long as the API contract (JSON structure) remains the same.</a:t>
            </a:r>
          </a:p>
          <a:p>
            <a:r>
              <a:rPr lang="en-US" b="1" dirty="0"/>
              <a:t>Security via Obscurity:</a:t>
            </a:r>
            <a:r>
              <a:rPr lang="en-US" dirty="0"/>
              <a:t> Don't give a user direct access to your database. </a:t>
            </a:r>
          </a:p>
          <a:p>
            <a:pPr lvl="1"/>
            <a:r>
              <a:rPr lang="en-US" dirty="0"/>
              <a:t>Give them an API endpoint. </a:t>
            </a:r>
          </a:p>
          <a:p>
            <a:pPr lvl="1"/>
            <a:r>
              <a:rPr lang="en-US" dirty="0"/>
              <a:t>API layer handles validation, rate limiting, and authentication before the query ever hits the DB.</a:t>
            </a:r>
          </a:p>
          <a:p>
            <a:r>
              <a:rPr lang="en-US" b="1" dirty="0"/>
              <a:t>Leverage:</a:t>
            </a:r>
            <a:r>
              <a:rPr lang="en-US" dirty="0"/>
              <a:t> Don't need to build your own mapping software; you use Google Maps API. </a:t>
            </a:r>
          </a:p>
          <a:p>
            <a:pPr lvl="1"/>
            <a:r>
              <a:rPr lang="en-US" dirty="0"/>
              <a:t>Don't need to build a banking infrastructure; you use Stripe API.</a:t>
            </a:r>
          </a:p>
          <a:p>
            <a:endParaRPr lang="en-IN" dirty="0"/>
          </a:p>
        </p:txBody>
      </p:sp>
    </p:spTree>
    <p:extLst>
      <p:ext uri="{BB962C8B-B14F-4D97-AF65-F5344CB8AC3E}">
        <p14:creationId xmlns:p14="http://schemas.microsoft.com/office/powerpoint/2010/main" val="1308991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698DA-EBEB-2759-4D86-D15933B44F11}"/>
              </a:ext>
            </a:extLst>
          </p:cNvPr>
          <p:cNvSpPr>
            <a:spLocks noGrp="1"/>
          </p:cNvSpPr>
          <p:nvPr>
            <p:ph type="title"/>
          </p:nvPr>
        </p:nvSpPr>
        <p:spPr/>
        <p:txBody>
          <a:bodyPr/>
          <a:lstStyle/>
          <a:p>
            <a:r>
              <a:rPr lang="en-IN" dirty="0"/>
              <a:t>Why API</a:t>
            </a:r>
          </a:p>
        </p:txBody>
      </p:sp>
      <p:sp>
        <p:nvSpPr>
          <p:cNvPr id="3" name="Content Placeholder 2">
            <a:extLst>
              <a:ext uri="{FF2B5EF4-FFF2-40B4-BE49-F238E27FC236}">
                <a16:creationId xmlns:a16="http://schemas.microsoft.com/office/drawing/2014/main" id="{40ACCE9F-F1CE-44EB-5F94-A04179C21BB2}"/>
              </a:ext>
            </a:extLst>
          </p:cNvPr>
          <p:cNvSpPr>
            <a:spLocks noGrp="1"/>
          </p:cNvSpPr>
          <p:nvPr>
            <p:ph idx="1"/>
          </p:nvPr>
        </p:nvSpPr>
        <p:spPr>
          <a:xfrm>
            <a:off x="1154954" y="2603499"/>
            <a:ext cx="10331030" cy="3773973"/>
          </a:xfrm>
        </p:spPr>
        <p:txBody>
          <a:bodyPr>
            <a:normAutofit/>
          </a:bodyPr>
          <a:lstStyle/>
          <a:p>
            <a:r>
              <a:rPr lang="en-US" b="1" dirty="0"/>
              <a:t>Integration:</a:t>
            </a:r>
            <a:r>
              <a:rPr lang="en-US" dirty="0"/>
              <a:t> Connects different systems (e.g., your </a:t>
            </a:r>
            <a:r>
              <a:rPr lang="en-US" dirty="0" err="1"/>
              <a:t>FastAPI</a:t>
            </a:r>
            <a:r>
              <a:rPr lang="en-US" dirty="0"/>
              <a:t> backend with a payment gateway).</a:t>
            </a:r>
          </a:p>
          <a:p>
            <a:r>
              <a:rPr lang="en-US" b="1" dirty="0"/>
              <a:t>Reusability:</a:t>
            </a:r>
            <a:r>
              <a:rPr lang="en-US" dirty="0"/>
              <a:t> Avoids reinventing features like authentication, maps, or messaging.</a:t>
            </a:r>
          </a:p>
          <a:p>
            <a:r>
              <a:rPr lang="en-US" b="1" dirty="0"/>
              <a:t>Scalability:</a:t>
            </a:r>
            <a:r>
              <a:rPr lang="en-US" dirty="0"/>
              <a:t> Enables modular design — you can plug in new services without breaking existing ones.</a:t>
            </a:r>
          </a:p>
          <a:p>
            <a:r>
              <a:rPr lang="en-US" b="1" dirty="0"/>
              <a:t>Automation:</a:t>
            </a:r>
            <a:r>
              <a:rPr lang="en-US" dirty="0"/>
              <a:t> APIs streamline workflows, like CI/CD pipelines or cloud deployments.</a:t>
            </a:r>
          </a:p>
          <a:p>
            <a:r>
              <a:rPr lang="en-US" b="1" dirty="0"/>
              <a:t>Innovation:</a:t>
            </a:r>
            <a:r>
              <a:rPr lang="en-US" dirty="0"/>
              <a:t> They allow developers to build on top of existing platforms (e.g., Twitter API for analytics).</a:t>
            </a:r>
          </a:p>
          <a:p>
            <a:endParaRPr lang="en-IN" dirty="0"/>
          </a:p>
        </p:txBody>
      </p:sp>
    </p:spTree>
    <p:extLst>
      <p:ext uri="{BB962C8B-B14F-4D97-AF65-F5344CB8AC3E}">
        <p14:creationId xmlns:p14="http://schemas.microsoft.com/office/powerpoint/2010/main" val="601389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7AA5E-98D9-AEE2-5BCA-3DF7B421585F}"/>
              </a:ext>
            </a:extLst>
          </p:cNvPr>
          <p:cNvSpPr>
            <a:spLocks noGrp="1"/>
          </p:cNvSpPr>
          <p:nvPr>
            <p:ph type="title"/>
          </p:nvPr>
        </p:nvSpPr>
        <p:spPr/>
        <p:txBody>
          <a:bodyPr/>
          <a:lstStyle/>
          <a:p>
            <a:r>
              <a:rPr lang="en-IN" dirty="0"/>
              <a:t>Common Use Cases</a:t>
            </a:r>
          </a:p>
        </p:txBody>
      </p:sp>
      <p:sp>
        <p:nvSpPr>
          <p:cNvPr id="3" name="Content Placeholder 2">
            <a:extLst>
              <a:ext uri="{FF2B5EF4-FFF2-40B4-BE49-F238E27FC236}">
                <a16:creationId xmlns:a16="http://schemas.microsoft.com/office/drawing/2014/main" id="{58084CB7-ED3B-57FB-F63F-0E2B604CEB1E}"/>
              </a:ext>
            </a:extLst>
          </p:cNvPr>
          <p:cNvSpPr>
            <a:spLocks noGrp="1"/>
          </p:cNvSpPr>
          <p:nvPr>
            <p:ph idx="1"/>
          </p:nvPr>
        </p:nvSpPr>
        <p:spPr/>
        <p:txBody>
          <a:bodyPr/>
          <a:lstStyle/>
          <a:p>
            <a:r>
              <a:rPr lang="en-IN" b="1" dirty="0"/>
              <a:t>Web Development:</a:t>
            </a:r>
            <a:r>
              <a:rPr lang="en-IN" dirty="0"/>
              <a:t> REST APIs for CRUD operations in </a:t>
            </a:r>
            <a:r>
              <a:rPr lang="en-IN" dirty="0" err="1"/>
              <a:t>FastAPI</a:t>
            </a:r>
            <a:r>
              <a:rPr lang="en-IN" dirty="0"/>
              <a:t>/Django.</a:t>
            </a:r>
          </a:p>
          <a:p>
            <a:r>
              <a:rPr lang="en-IN" b="1" dirty="0"/>
              <a:t>Mobile Apps:</a:t>
            </a:r>
            <a:r>
              <a:rPr lang="en-IN" dirty="0"/>
              <a:t> APIs for push notifications, authentication, or fetching data.</a:t>
            </a:r>
          </a:p>
          <a:p>
            <a:r>
              <a:rPr lang="en-IN" b="1" dirty="0"/>
              <a:t>Cloud Services:</a:t>
            </a:r>
            <a:r>
              <a:rPr lang="en-IN" dirty="0"/>
              <a:t> AWS/GCP APIs for storage, compute, and monitoring.</a:t>
            </a:r>
          </a:p>
          <a:p>
            <a:r>
              <a:rPr lang="en-IN" b="1" dirty="0"/>
              <a:t>Third-Party Integrations:</a:t>
            </a:r>
            <a:r>
              <a:rPr lang="en-IN" dirty="0"/>
              <a:t> Payment gateways (Stripe, </a:t>
            </a:r>
            <a:r>
              <a:rPr lang="en-IN" dirty="0" err="1"/>
              <a:t>Razorpay</a:t>
            </a:r>
            <a:r>
              <a:rPr lang="en-IN" dirty="0"/>
              <a:t>), social login (Google OAuth), or messaging (Twilio).</a:t>
            </a:r>
          </a:p>
          <a:p>
            <a:r>
              <a:rPr lang="en-IN" b="1" dirty="0"/>
              <a:t>Data Retrieval:</a:t>
            </a:r>
            <a:r>
              <a:rPr lang="en-IN" dirty="0"/>
              <a:t> APIs for weather, stock prices, or geolocation.</a:t>
            </a:r>
          </a:p>
          <a:p>
            <a:endParaRPr lang="en-IN" dirty="0"/>
          </a:p>
        </p:txBody>
      </p:sp>
    </p:spTree>
    <p:extLst>
      <p:ext uri="{BB962C8B-B14F-4D97-AF65-F5344CB8AC3E}">
        <p14:creationId xmlns:p14="http://schemas.microsoft.com/office/powerpoint/2010/main" val="2148467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0A492-FB82-2597-4000-FE0076C9A0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D9A59-E193-187A-871C-DF56999D6090}"/>
              </a:ext>
            </a:extLst>
          </p:cNvPr>
          <p:cNvSpPr>
            <a:spLocks noGrp="1"/>
          </p:cNvSpPr>
          <p:nvPr>
            <p:ph type="title"/>
          </p:nvPr>
        </p:nvSpPr>
        <p:spPr/>
        <p:txBody>
          <a:bodyPr/>
          <a:lstStyle/>
          <a:p>
            <a:r>
              <a:rPr lang="en-IN" b="1" dirty="0"/>
              <a:t>API Protocols</a:t>
            </a:r>
            <a:endParaRPr lang="en-IN" dirty="0"/>
          </a:p>
        </p:txBody>
      </p:sp>
      <p:sp>
        <p:nvSpPr>
          <p:cNvPr id="3" name="Content Placeholder 2">
            <a:extLst>
              <a:ext uri="{FF2B5EF4-FFF2-40B4-BE49-F238E27FC236}">
                <a16:creationId xmlns:a16="http://schemas.microsoft.com/office/drawing/2014/main" id="{DF3FBA5D-EA83-27ED-3FEC-BD9434E5219B}"/>
              </a:ext>
            </a:extLst>
          </p:cNvPr>
          <p:cNvSpPr>
            <a:spLocks noGrp="1"/>
          </p:cNvSpPr>
          <p:nvPr>
            <p:ph idx="1"/>
          </p:nvPr>
        </p:nvSpPr>
        <p:spPr>
          <a:xfrm>
            <a:off x="1154954" y="2603500"/>
            <a:ext cx="10438332" cy="3867280"/>
          </a:xfrm>
        </p:spPr>
        <p:txBody>
          <a:bodyPr/>
          <a:lstStyle/>
          <a:p>
            <a:pPr marL="0" indent="0">
              <a:buNone/>
            </a:pPr>
            <a:r>
              <a:rPr lang="en-US" b="1" dirty="0"/>
              <a:t>REST (Representational State Transfer)</a:t>
            </a:r>
          </a:p>
          <a:p>
            <a:r>
              <a:rPr lang="en-US" b="1" dirty="0"/>
              <a:t>The Standard.</a:t>
            </a:r>
            <a:r>
              <a:rPr lang="en-US" dirty="0"/>
              <a:t> Most common.</a:t>
            </a:r>
          </a:p>
          <a:p>
            <a:r>
              <a:rPr lang="en-US" b="1" dirty="0"/>
              <a:t>Philosophy:</a:t>
            </a:r>
            <a:r>
              <a:rPr lang="en-US" dirty="0"/>
              <a:t> Everything is a "Resource" (User, Product, Order) identified by a URL.</a:t>
            </a:r>
          </a:p>
          <a:p>
            <a:r>
              <a:rPr lang="en-US" b="1" dirty="0"/>
              <a:t>Verbs:</a:t>
            </a:r>
            <a:r>
              <a:rPr lang="en-US" dirty="0"/>
              <a:t> Uses HTTP methods strictly (GET for reading, POST for creating, PUT/PATCH for updating, DELETE for removing).</a:t>
            </a:r>
          </a:p>
          <a:p>
            <a:r>
              <a:rPr lang="en-US" b="1" dirty="0"/>
              <a:t>State:</a:t>
            </a:r>
            <a:r>
              <a:rPr lang="en-US" dirty="0"/>
              <a:t> Stateless. Every request must contain all info (auth tokens) to process it.</a:t>
            </a:r>
          </a:p>
          <a:p>
            <a:r>
              <a:rPr lang="en-US" b="1" dirty="0"/>
              <a:t>Python Tool:</a:t>
            </a:r>
            <a:r>
              <a:rPr lang="en-US" dirty="0"/>
              <a:t> </a:t>
            </a:r>
            <a:r>
              <a:rPr lang="en-US" dirty="0" err="1"/>
              <a:t>FastAPI</a:t>
            </a:r>
            <a:r>
              <a:rPr lang="en-US" dirty="0"/>
              <a:t>, Django REST Framework, Flask.</a:t>
            </a:r>
          </a:p>
          <a:p>
            <a:endParaRPr lang="en-IN" dirty="0"/>
          </a:p>
        </p:txBody>
      </p:sp>
    </p:spTree>
    <p:extLst>
      <p:ext uri="{BB962C8B-B14F-4D97-AF65-F5344CB8AC3E}">
        <p14:creationId xmlns:p14="http://schemas.microsoft.com/office/powerpoint/2010/main" val="231385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D5F0B-F671-78F7-2B94-8092948AF04E}"/>
              </a:ext>
            </a:extLst>
          </p:cNvPr>
          <p:cNvSpPr>
            <a:spLocks noGrp="1"/>
          </p:cNvSpPr>
          <p:nvPr>
            <p:ph type="title"/>
          </p:nvPr>
        </p:nvSpPr>
        <p:spPr/>
        <p:txBody>
          <a:bodyPr/>
          <a:lstStyle/>
          <a:p>
            <a:r>
              <a:rPr lang="en-IN" b="1" dirty="0"/>
              <a:t>API Protocols</a:t>
            </a:r>
            <a:endParaRPr lang="en-IN" dirty="0"/>
          </a:p>
        </p:txBody>
      </p:sp>
      <p:sp>
        <p:nvSpPr>
          <p:cNvPr id="3" name="Content Placeholder 2">
            <a:extLst>
              <a:ext uri="{FF2B5EF4-FFF2-40B4-BE49-F238E27FC236}">
                <a16:creationId xmlns:a16="http://schemas.microsoft.com/office/drawing/2014/main" id="{C560C9CD-DD4D-3153-5A30-FD21D99E1AC3}"/>
              </a:ext>
            </a:extLst>
          </p:cNvPr>
          <p:cNvSpPr>
            <a:spLocks noGrp="1"/>
          </p:cNvSpPr>
          <p:nvPr>
            <p:ph idx="1"/>
          </p:nvPr>
        </p:nvSpPr>
        <p:spPr>
          <a:xfrm>
            <a:off x="755780" y="2458616"/>
            <a:ext cx="10772191" cy="4021494"/>
          </a:xfrm>
        </p:spPr>
        <p:txBody>
          <a:bodyPr>
            <a:normAutofit fontScale="77500" lnSpcReduction="20000"/>
          </a:bodyPr>
          <a:lstStyle/>
          <a:p>
            <a:pPr marL="0" indent="0">
              <a:buNone/>
            </a:pPr>
            <a:r>
              <a:rPr lang="en-US" b="1" dirty="0"/>
              <a:t>REST (Representational State Transfer)</a:t>
            </a:r>
          </a:p>
          <a:p>
            <a:r>
              <a:rPr lang="en-US" b="1" dirty="0"/>
              <a:t>Status:</a:t>
            </a:r>
            <a:r>
              <a:rPr lang="en-US" dirty="0"/>
              <a:t> The Industry Standard.</a:t>
            </a:r>
            <a:br>
              <a:rPr lang="en-US" dirty="0"/>
            </a:br>
            <a:r>
              <a:rPr lang="en-US" b="1" dirty="0"/>
              <a:t>Underlying Protocol:</a:t>
            </a:r>
            <a:r>
              <a:rPr lang="en-US" dirty="0"/>
              <a:t> HTTP/1.1 or HTTP/2.</a:t>
            </a:r>
          </a:p>
          <a:p>
            <a:r>
              <a:rPr lang="en-US" dirty="0"/>
              <a:t>REST is not a protocol itself but an architectural style. It treats everything as a </a:t>
            </a:r>
            <a:r>
              <a:rPr lang="en-US" b="1" dirty="0"/>
              <a:t>Resource</a:t>
            </a:r>
            <a:r>
              <a:rPr lang="en-US" dirty="0"/>
              <a:t> (a noun) manipulated by standard HTTP verbs (GET, POST, PUT, DELETE).</a:t>
            </a:r>
          </a:p>
          <a:p>
            <a:r>
              <a:rPr lang="en-US" b="1" dirty="0"/>
              <a:t>Features:</a:t>
            </a:r>
            <a:endParaRPr lang="en-US" dirty="0"/>
          </a:p>
          <a:p>
            <a:pPr lvl="1"/>
            <a:r>
              <a:rPr lang="en-US" b="1" dirty="0"/>
              <a:t>Stateless:</a:t>
            </a:r>
            <a:r>
              <a:rPr lang="en-US" dirty="0"/>
              <a:t> The server stores no session data. Every request has all the info needed (like a JWT token).</a:t>
            </a:r>
          </a:p>
          <a:p>
            <a:pPr lvl="1"/>
            <a:r>
              <a:rPr lang="en-US" b="1" dirty="0"/>
              <a:t>Cacheable:</a:t>
            </a:r>
            <a:r>
              <a:rPr lang="en-US" dirty="0"/>
              <a:t> Uses standard HTTP caching mechanism (ETags, Last-Modified).</a:t>
            </a:r>
          </a:p>
          <a:p>
            <a:pPr lvl="1"/>
            <a:r>
              <a:rPr lang="en-US" b="1" dirty="0"/>
              <a:t>Layered:</a:t>
            </a:r>
            <a:r>
              <a:rPr lang="en-US" dirty="0"/>
              <a:t> The client doesn't know if it's hitting the server directly or a load balancer.</a:t>
            </a:r>
          </a:p>
          <a:p>
            <a:r>
              <a:rPr lang="en-US" b="1" dirty="0"/>
              <a:t>Limitations:</a:t>
            </a:r>
            <a:endParaRPr lang="en-US" dirty="0"/>
          </a:p>
          <a:p>
            <a:pPr lvl="1"/>
            <a:r>
              <a:rPr lang="en-US" b="1" dirty="0"/>
              <a:t>Over-fetching/Under-fetching:</a:t>
            </a:r>
            <a:r>
              <a:rPr lang="en-US" dirty="0"/>
              <a:t> You might want just a username, but the /user endpoint sends back the user's entire history, address, and bio (waste of bandwidth).</a:t>
            </a:r>
          </a:p>
          <a:p>
            <a:pPr lvl="1"/>
            <a:r>
              <a:rPr lang="en-US" b="1" dirty="0"/>
              <a:t>Chatty:</a:t>
            </a:r>
            <a:r>
              <a:rPr lang="en-US" dirty="0"/>
              <a:t> To get a "User" and their "Posts," you often have to make two separate API calls.</a:t>
            </a:r>
          </a:p>
          <a:p>
            <a:r>
              <a:rPr lang="en-US" b="1" dirty="0"/>
              <a:t>Use Cases:</a:t>
            </a:r>
            <a:r>
              <a:rPr lang="en-US" dirty="0"/>
              <a:t> Public-facing APIs (Twitter, Stripe), standard Web Apps, SaaS platforms.</a:t>
            </a:r>
          </a:p>
          <a:p>
            <a:r>
              <a:rPr lang="en-US" b="1" dirty="0"/>
              <a:t>Python Libraries:</a:t>
            </a:r>
            <a:r>
              <a:rPr lang="en-US" dirty="0"/>
              <a:t> </a:t>
            </a:r>
            <a:r>
              <a:rPr lang="en-US" dirty="0" err="1"/>
              <a:t>FastAPI</a:t>
            </a:r>
            <a:r>
              <a:rPr lang="en-US" dirty="0"/>
              <a:t> (Modern), Flask, Django REST Framework.</a:t>
            </a:r>
          </a:p>
          <a:p>
            <a:endParaRPr lang="en-IN" dirty="0"/>
          </a:p>
        </p:txBody>
      </p:sp>
    </p:spTree>
    <p:extLst>
      <p:ext uri="{BB962C8B-B14F-4D97-AF65-F5344CB8AC3E}">
        <p14:creationId xmlns:p14="http://schemas.microsoft.com/office/powerpoint/2010/main" val="2886493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DAC6F-8ACC-A918-02E9-22D626892118}"/>
              </a:ext>
            </a:extLst>
          </p:cNvPr>
          <p:cNvSpPr>
            <a:spLocks noGrp="1"/>
          </p:cNvSpPr>
          <p:nvPr>
            <p:ph type="title"/>
          </p:nvPr>
        </p:nvSpPr>
        <p:spPr/>
        <p:txBody>
          <a:bodyPr/>
          <a:lstStyle/>
          <a:p>
            <a:r>
              <a:rPr lang="en-IN" b="1" dirty="0"/>
              <a:t>API Protocols</a:t>
            </a:r>
            <a:endParaRPr lang="en-IN" dirty="0"/>
          </a:p>
        </p:txBody>
      </p:sp>
      <p:sp>
        <p:nvSpPr>
          <p:cNvPr id="3" name="Content Placeholder 2">
            <a:extLst>
              <a:ext uri="{FF2B5EF4-FFF2-40B4-BE49-F238E27FC236}">
                <a16:creationId xmlns:a16="http://schemas.microsoft.com/office/drawing/2014/main" id="{386C51D2-91CC-BFB7-5DEB-633BCD13A28C}"/>
              </a:ext>
            </a:extLst>
          </p:cNvPr>
          <p:cNvSpPr>
            <a:spLocks noGrp="1"/>
          </p:cNvSpPr>
          <p:nvPr>
            <p:ph idx="1"/>
          </p:nvPr>
        </p:nvSpPr>
        <p:spPr>
          <a:xfrm>
            <a:off x="1154954" y="2603499"/>
            <a:ext cx="10284377" cy="3909267"/>
          </a:xfrm>
        </p:spPr>
        <p:txBody>
          <a:bodyPr>
            <a:normAutofit fontScale="70000" lnSpcReduction="20000"/>
          </a:bodyPr>
          <a:lstStyle/>
          <a:p>
            <a:pPr marL="0" indent="0">
              <a:buNone/>
            </a:pPr>
            <a:r>
              <a:rPr lang="en-IN" b="1" dirty="0"/>
              <a:t>SOAP (Simple Object Access Protocol)</a:t>
            </a:r>
          </a:p>
          <a:p>
            <a:r>
              <a:rPr lang="en-US" b="1" dirty="0"/>
              <a:t>Status:</a:t>
            </a:r>
            <a:r>
              <a:rPr lang="en-US" dirty="0"/>
              <a:t> The Legacy Enterprise Standard.</a:t>
            </a:r>
            <a:br>
              <a:rPr lang="en-US" dirty="0"/>
            </a:br>
            <a:r>
              <a:rPr lang="en-US" b="1" dirty="0"/>
              <a:t>Underlying Protocol:</a:t>
            </a:r>
            <a:r>
              <a:rPr lang="en-US" dirty="0"/>
              <a:t> HTTP, SMTP, TCP (but mostly HTTP).</a:t>
            </a:r>
          </a:p>
          <a:p>
            <a:r>
              <a:rPr lang="en-US" dirty="0"/>
              <a:t>SOAP is a strict protocol. It relies heavily on </a:t>
            </a:r>
            <a:r>
              <a:rPr lang="en-US" b="1" dirty="0"/>
              <a:t>XML</a:t>
            </a:r>
            <a:r>
              <a:rPr lang="en-US" dirty="0"/>
              <a:t> and rigid schemas defined by a </a:t>
            </a:r>
            <a:r>
              <a:rPr lang="en-US" b="1" dirty="0"/>
              <a:t>WSDL</a:t>
            </a:r>
            <a:r>
              <a:rPr lang="en-US" dirty="0"/>
              <a:t> (Web Services Description Language) file.</a:t>
            </a:r>
          </a:p>
          <a:p>
            <a:r>
              <a:rPr lang="en-US" b="1" dirty="0"/>
              <a:t>Features:</a:t>
            </a:r>
            <a:endParaRPr lang="en-US" dirty="0"/>
          </a:p>
          <a:p>
            <a:pPr lvl="1"/>
            <a:r>
              <a:rPr lang="en-US" b="1" dirty="0"/>
              <a:t>Formal Contract:</a:t>
            </a:r>
            <a:r>
              <a:rPr lang="en-US" dirty="0"/>
              <a:t> The WSDL defines exactly what the API does. If you break the contract, the code won't compile.</a:t>
            </a:r>
          </a:p>
          <a:p>
            <a:pPr lvl="1"/>
            <a:r>
              <a:rPr lang="en-US" b="1" dirty="0"/>
              <a:t>ACID Compliance:</a:t>
            </a:r>
            <a:r>
              <a:rPr lang="en-US" dirty="0"/>
              <a:t> Great for transactions (Atomic, Consistent, Isolated, Durable).</a:t>
            </a:r>
          </a:p>
          <a:p>
            <a:pPr lvl="1"/>
            <a:r>
              <a:rPr lang="en-US" b="1" dirty="0"/>
              <a:t>Built-in Security:</a:t>
            </a:r>
            <a:r>
              <a:rPr lang="en-US" dirty="0"/>
              <a:t> WS-Security extension is a standard for enterprise-grade security.</a:t>
            </a:r>
          </a:p>
          <a:p>
            <a:r>
              <a:rPr lang="en-US" b="1" dirty="0"/>
              <a:t>Limitations:</a:t>
            </a:r>
            <a:endParaRPr lang="en-US" dirty="0"/>
          </a:p>
          <a:p>
            <a:pPr lvl="1"/>
            <a:r>
              <a:rPr lang="en-US" b="1" dirty="0"/>
              <a:t>Verbose:</a:t>
            </a:r>
            <a:r>
              <a:rPr lang="en-US" dirty="0"/>
              <a:t> XML is heavy. Request payloads are massive compared to JSON.</a:t>
            </a:r>
          </a:p>
          <a:p>
            <a:pPr lvl="1"/>
            <a:r>
              <a:rPr lang="en-US" b="1" dirty="0"/>
              <a:t>Slow:</a:t>
            </a:r>
            <a:r>
              <a:rPr lang="en-US" dirty="0"/>
              <a:t> Parsing XML is computationally more expensive than JSON.</a:t>
            </a:r>
          </a:p>
          <a:p>
            <a:pPr lvl="1"/>
            <a:r>
              <a:rPr lang="en-US" b="1" dirty="0"/>
              <a:t>Hard to Dev:</a:t>
            </a:r>
            <a:r>
              <a:rPr lang="en-US" dirty="0"/>
              <a:t> Debugging giant XML files is painful.</a:t>
            </a:r>
          </a:p>
          <a:p>
            <a:r>
              <a:rPr lang="en-US" b="1" dirty="0"/>
              <a:t>Use Cases:</a:t>
            </a:r>
            <a:r>
              <a:rPr lang="en-US" dirty="0"/>
              <a:t> Banking systems, Payment Gateways (older ones), Telecommunications, connecting to legacy Mainframes.</a:t>
            </a:r>
          </a:p>
          <a:p>
            <a:r>
              <a:rPr lang="en-US" b="1" dirty="0"/>
              <a:t>Python Libraries:</a:t>
            </a:r>
            <a:r>
              <a:rPr lang="en-US" dirty="0"/>
              <a:t> </a:t>
            </a:r>
            <a:r>
              <a:rPr lang="en-US" dirty="0" err="1"/>
              <a:t>Zeep</a:t>
            </a:r>
            <a:r>
              <a:rPr lang="en-US" dirty="0"/>
              <a:t> (the standard for consuming SOAP in Python).</a:t>
            </a:r>
          </a:p>
          <a:p>
            <a:endParaRPr lang="en-IN" dirty="0"/>
          </a:p>
        </p:txBody>
      </p:sp>
    </p:spTree>
    <p:extLst>
      <p:ext uri="{BB962C8B-B14F-4D97-AF65-F5344CB8AC3E}">
        <p14:creationId xmlns:p14="http://schemas.microsoft.com/office/powerpoint/2010/main" val="2026662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FDFA5-14A0-7613-8E00-CD986B51B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2220C-0BD9-7DF5-833E-96E677CB2184}"/>
              </a:ext>
            </a:extLst>
          </p:cNvPr>
          <p:cNvSpPr>
            <a:spLocks noGrp="1"/>
          </p:cNvSpPr>
          <p:nvPr>
            <p:ph type="title"/>
          </p:nvPr>
        </p:nvSpPr>
        <p:spPr/>
        <p:txBody>
          <a:bodyPr/>
          <a:lstStyle/>
          <a:p>
            <a:r>
              <a:rPr lang="en-IN" b="1" dirty="0"/>
              <a:t>API Protocols</a:t>
            </a:r>
            <a:endParaRPr lang="en-IN" dirty="0"/>
          </a:p>
        </p:txBody>
      </p:sp>
      <p:sp>
        <p:nvSpPr>
          <p:cNvPr id="3" name="Content Placeholder 2">
            <a:extLst>
              <a:ext uri="{FF2B5EF4-FFF2-40B4-BE49-F238E27FC236}">
                <a16:creationId xmlns:a16="http://schemas.microsoft.com/office/drawing/2014/main" id="{A5A65A3A-D132-0EBA-F266-1214281AACE0}"/>
              </a:ext>
            </a:extLst>
          </p:cNvPr>
          <p:cNvSpPr>
            <a:spLocks noGrp="1"/>
          </p:cNvSpPr>
          <p:nvPr>
            <p:ph idx="1"/>
          </p:nvPr>
        </p:nvSpPr>
        <p:spPr>
          <a:xfrm>
            <a:off x="1154954" y="2603500"/>
            <a:ext cx="10438332" cy="3867280"/>
          </a:xfrm>
        </p:spPr>
        <p:txBody>
          <a:bodyPr/>
          <a:lstStyle/>
          <a:p>
            <a:r>
              <a:rPr lang="en-US" b="1" dirty="0" err="1"/>
              <a:t>GraphQL</a:t>
            </a:r>
            <a:endParaRPr lang="en-US" b="1" dirty="0"/>
          </a:p>
          <a:p>
            <a:r>
              <a:rPr lang="en-US" b="1" dirty="0"/>
              <a:t>The Challenger.</a:t>
            </a:r>
            <a:r>
              <a:rPr lang="en-US" dirty="0"/>
              <a:t> Developed by Facebook.</a:t>
            </a:r>
          </a:p>
          <a:p>
            <a:r>
              <a:rPr lang="en-US" b="1" dirty="0"/>
              <a:t>Philosophy:</a:t>
            </a:r>
            <a:r>
              <a:rPr lang="en-US" dirty="0"/>
              <a:t> REST fetches too much data (over-fetching) or too little (under-fetching). </a:t>
            </a:r>
            <a:r>
              <a:rPr lang="en-US" dirty="0" err="1"/>
              <a:t>GraphQL</a:t>
            </a:r>
            <a:r>
              <a:rPr lang="en-US" dirty="0"/>
              <a:t> lets the client ask for exactly what it needs.</a:t>
            </a:r>
          </a:p>
          <a:p>
            <a:r>
              <a:rPr lang="en-US" b="1" dirty="0"/>
              <a:t>Structure:</a:t>
            </a:r>
            <a:r>
              <a:rPr lang="en-US" dirty="0"/>
              <a:t> Single endpoint (usually /</a:t>
            </a:r>
            <a:r>
              <a:rPr lang="en-US" dirty="0" err="1"/>
              <a:t>graphql</a:t>
            </a:r>
            <a:r>
              <a:rPr lang="en-US" dirty="0"/>
              <a:t>). You send a query describing the data shape.</a:t>
            </a:r>
          </a:p>
          <a:p>
            <a:r>
              <a:rPr lang="en-US" b="1" dirty="0"/>
              <a:t>Python Tool:</a:t>
            </a:r>
            <a:r>
              <a:rPr lang="en-US" dirty="0"/>
              <a:t> Strawberry, Graphene.</a:t>
            </a:r>
          </a:p>
          <a:p>
            <a:endParaRPr lang="en-IN" dirty="0"/>
          </a:p>
        </p:txBody>
      </p:sp>
    </p:spTree>
    <p:extLst>
      <p:ext uri="{BB962C8B-B14F-4D97-AF65-F5344CB8AC3E}">
        <p14:creationId xmlns:p14="http://schemas.microsoft.com/office/powerpoint/2010/main" val="3613279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17D2E-E3A3-CE41-64E3-E31F2B67D8B4}"/>
              </a:ext>
            </a:extLst>
          </p:cNvPr>
          <p:cNvSpPr>
            <a:spLocks noGrp="1"/>
          </p:cNvSpPr>
          <p:nvPr>
            <p:ph type="title"/>
          </p:nvPr>
        </p:nvSpPr>
        <p:spPr/>
        <p:txBody>
          <a:bodyPr/>
          <a:lstStyle/>
          <a:p>
            <a:r>
              <a:rPr lang="en-IN" b="1" dirty="0"/>
              <a:t>API Protocols</a:t>
            </a:r>
            <a:endParaRPr lang="en-IN" dirty="0"/>
          </a:p>
        </p:txBody>
      </p:sp>
      <p:sp>
        <p:nvSpPr>
          <p:cNvPr id="3" name="Content Placeholder 2">
            <a:extLst>
              <a:ext uri="{FF2B5EF4-FFF2-40B4-BE49-F238E27FC236}">
                <a16:creationId xmlns:a16="http://schemas.microsoft.com/office/drawing/2014/main" id="{01A5C49F-6B5C-4B44-AC1D-0FEB3127B56A}"/>
              </a:ext>
            </a:extLst>
          </p:cNvPr>
          <p:cNvSpPr>
            <a:spLocks noGrp="1"/>
          </p:cNvSpPr>
          <p:nvPr>
            <p:ph idx="1"/>
          </p:nvPr>
        </p:nvSpPr>
        <p:spPr>
          <a:xfrm>
            <a:off x="1154954" y="2603500"/>
            <a:ext cx="10792895" cy="4063222"/>
          </a:xfrm>
        </p:spPr>
        <p:txBody>
          <a:bodyPr>
            <a:normAutofit fontScale="70000" lnSpcReduction="20000"/>
          </a:bodyPr>
          <a:lstStyle/>
          <a:p>
            <a:r>
              <a:rPr lang="en-US" b="1" dirty="0" err="1"/>
              <a:t>GraphQL</a:t>
            </a:r>
            <a:endParaRPr lang="en-US" b="1" dirty="0"/>
          </a:p>
          <a:p>
            <a:r>
              <a:rPr lang="en-US" b="1" dirty="0"/>
              <a:t>Status:</a:t>
            </a:r>
            <a:r>
              <a:rPr lang="en-US" dirty="0"/>
              <a:t> The Flexible Modern Alternative.</a:t>
            </a:r>
            <a:br>
              <a:rPr lang="en-US" dirty="0"/>
            </a:br>
            <a:r>
              <a:rPr lang="en-US" b="1" dirty="0"/>
              <a:t>Underlying Protocol:</a:t>
            </a:r>
            <a:r>
              <a:rPr lang="en-US" dirty="0"/>
              <a:t> HTTP (usually POST).</a:t>
            </a:r>
          </a:p>
          <a:p>
            <a:r>
              <a:rPr lang="en-US" dirty="0"/>
              <a:t>Developed by Facebook, </a:t>
            </a:r>
            <a:r>
              <a:rPr lang="en-US" dirty="0" err="1"/>
              <a:t>GraphQL</a:t>
            </a:r>
            <a:r>
              <a:rPr lang="en-US" dirty="0"/>
              <a:t> is a query language for APIs. Instead of having multiple endpoints (/users, /posts), you have </a:t>
            </a:r>
            <a:r>
              <a:rPr lang="en-US" b="1" dirty="0"/>
              <a:t>one</a:t>
            </a:r>
            <a:r>
              <a:rPr lang="en-US" dirty="0"/>
              <a:t> endpoint (/</a:t>
            </a:r>
            <a:r>
              <a:rPr lang="en-US" dirty="0" err="1"/>
              <a:t>graphql</a:t>
            </a:r>
            <a:r>
              <a:rPr lang="en-US" dirty="0"/>
              <a:t>) and you query it like a database.</a:t>
            </a:r>
          </a:p>
          <a:p>
            <a:r>
              <a:rPr lang="en-US" b="1" dirty="0"/>
              <a:t>Features:</a:t>
            </a:r>
            <a:endParaRPr lang="en-US" dirty="0"/>
          </a:p>
          <a:p>
            <a:pPr lvl="1"/>
            <a:r>
              <a:rPr lang="en-US" b="1" dirty="0"/>
              <a:t>Client-Driven:</a:t>
            </a:r>
            <a:r>
              <a:rPr lang="en-US" dirty="0"/>
              <a:t> The client decides exactly what data fields it wants.</a:t>
            </a:r>
          </a:p>
          <a:p>
            <a:pPr lvl="1"/>
            <a:r>
              <a:rPr lang="en-US" b="1" dirty="0"/>
              <a:t>Strongly Typed:</a:t>
            </a:r>
            <a:r>
              <a:rPr lang="en-US" dirty="0"/>
              <a:t> It has a Schema Definition Language (SDL) that acts as a contract.</a:t>
            </a:r>
          </a:p>
          <a:p>
            <a:pPr lvl="1"/>
            <a:r>
              <a:rPr lang="en-US" b="1" dirty="0"/>
              <a:t>Single Network Request:</a:t>
            </a:r>
            <a:r>
              <a:rPr lang="en-US" dirty="0"/>
              <a:t> You can fetch a User and their Posts in one request.</a:t>
            </a:r>
          </a:p>
          <a:p>
            <a:r>
              <a:rPr lang="en-US" b="1" dirty="0"/>
              <a:t>Limitations:</a:t>
            </a:r>
            <a:endParaRPr lang="en-US" dirty="0"/>
          </a:p>
          <a:p>
            <a:pPr lvl="1"/>
            <a:r>
              <a:rPr lang="en-US" b="1" dirty="0"/>
              <a:t>No HTTP Caching:</a:t>
            </a:r>
            <a:r>
              <a:rPr lang="en-US" dirty="0"/>
              <a:t> Since every request is a POST to the same URL, you can't use standard HTTP caching; you have to build application-level caching.</a:t>
            </a:r>
          </a:p>
          <a:p>
            <a:pPr lvl="1"/>
            <a:r>
              <a:rPr lang="en-US" b="1" dirty="0"/>
              <a:t>Complexity:</a:t>
            </a:r>
            <a:r>
              <a:rPr lang="en-US" dirty="0"/>
              <a:t> It shifts complexity from the Frontend to the Backend (writing Resolvers).</a:t>
            </a:r>
          </a:p>
          <a:p>
            <a:pPr lvl="1"/>
            <a:r>
              <a:rPr lang="en-US" b="1" dirty="0"/>
              <a:t>Performance:</a:t>
            </a:r>
            <a:r>
              <a:rPr lang="en-US" dirty="0"/>
              <a:t> A malicious user can write a deeply nested query (recursive) that crashes your server.</a:t>
            </a:r>
          </a:p>
          <a:p>
            <a:r>
              <a:rPr lang="en-US" b="1" dirty="0"/>
              <a:t>Use Cases:</a:t>
            </a:r>
            <a:r>
              <a:rPr lang="en-US" dirty="0"/>
              <a:t> Mobile apps (to save battery/data), Frontends with complex data requirements (Facebook/Instagram).</a:t>
            </a:r>
          </a:p>
          <a:p>
            <a:r>
              <a:rPr lang="en-US" b="1" dirty="0"/>
              <a:t>Python Libraries:</a:t>
            </a:r>
            <a:r>
              <a:rPr lang="en-US" dirty="0"/>
              <a:t> Strawberry (Recommended), Graphene, Ariadne.</a:t>
            </a:r>
          </a:p>
          <a:p>
            <a:endParaRPr lang="en-IN" dirty="0"/>
          </a:p>
        </p:txBody>
      </p:sp>
    </p:spTree>
    <p:extLst>
      <p:ext uri="{BB962C8B-B14F-4D97-AF65-F5344CB8AC3E}">
        <p14:creationId xmlns:p14="http://schemas.microsoft.com/office/powerpoint/2010/main" val="3444716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C5BD5-ADCF-7486-A0F1-A81ECB288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44CB48-6188-2555-E3C8-49BC56418C67}"/>
              </a:ext>
            </a:extLst>
          </p:cNvPr>
          <p:cNvSpPr>
            <a:spLocks noGrp="1"/>
          </p:cNvSpPr>
          <p:nvPr>
            <p:ph type="title"/>
          </p:nvPr>
        </p:nvSpPr>
        <p:spPr/>
        <p:txBody>
          <a:bodyPr/>
          <a:lstStyle/>
          <a:p>
            <a:r>
              <a:rPr lang="en-IN" b="1" dirty="0"/>
              <a:t>API Protocols</a:t>
            </a:r>
            <a:endParaRPr lang="en-IN" dirty="0"/>
          </a:p>
        </p:txBody>
      </p:sp>
      <p:sp>
        <p:nvSpPr>
          <p:cNvPr id="3" name="Content Placeholder 2">
            <a:extLst>
              <a:ext uri="{FF2B5EF4-FFF2-40B4-BE49-F238E27FC236}">
                <a16:creationId xmlns:a16="http://schemas.microsoft.com/office/drawing/2014/main" id="{8D434A61-F127-63D0-3036-319859ADDB08}"/>
              </a:ext>
            </a:extLst>
          </p:cNvPr>
          <p:cNvSpPr>
            <a:spLocks noGrp="1"/>
          </p:cNvSpPr>
          <p:nvPr>
            <p:ph idx="1"/>
          </p:nvPr>
        </p:nvSpPr>
        <p:spPr>
          <a:xfrm>
            <a:off x="1154954" y="2603500"/>
            <a:ext cx="10438332" cy="3867280"/>
          </a:xfrm>
        </p:spPr>
        <p:txBody>
          <a:bodyPr/>
          <a:lstStyle/>
          <a:p>
            <a:r>
              <a:rPr lang="en-US" b="1" dirty="0" err="1"/>
              <a:t>WebSockets</a:t>
            </a:r>
            <a:endParaRPr lang="en-US" b="1" dirty="0"/>
          </a:p>
          <a:p>
            <a:r>
              <a:rPr lang="en-US" b="1" dirty="0"/>
              <a:t>The Real-Time Stream.</a:t>
            </a:r>
            <a:endParaRPr lang="en-US" dirty="0"/>
          </a:p>
          <a:p>
            <a:r>
              <a:rPr lang="en-US" b="1" dirty="0"/>
              <a:t>Philosophy:</a:t>
            </a:r>
            <a:r>
              <a:rPr lang="en-US" dirty="0"/>
              <a:t> HTTP is "Request -&gt; Response -&gt; Close Connection." </a:t>
            </a:r>
            <a:r>
              <a:rPr lang="en-US" dirty="0" err="1"/>
              <a:t>WebSockets</a:t>
            </a:r>
            <a:r>
              <a:rPr lang="en-US" dirty="0"/>
              <a:t> keep the TCP connection </a:t>
            </a:r>
            <a:r>
              <a:rPr lang="en-US" b="1" dirty="0"/>
              <a:t>open</a:t>
            </a:r>
            <a:r>
              <a:rPr lang="en-US" dirty="0"/>
              <a:t>.</a:t>
            </a:r>
          </a:p>
          <a:p>
            <a:r>
              <a:rPr lang="en-US" b="1" dirty="0"/>
              <a:t>Use Case:</a:t>
            </a:r>
            <a:r>
              <a:rPr lang="en-US" dirty="0"/>
              <a:t> Chat apps, Live stock tickers, Multiplayer games.</a:t>
            </a:r>
          </a:p>
          <a:p>
            <a:r>
              <a:rPr lang="en-US" b="1" dirty="0"/>
              <a:t>Python Tool:</a:t>
            </a:r>
            <a:r>
              <a:rPr lang="en-US" dirty="0"/>
              <a:t> Django Channels, Socket.IO.</a:t>
            </a:r>
          </a:p>
          <a:p>
            <a:endParaRPr lang="en-IN" dirty="0"/>
          </a:p>
        </p:txBody>
      </p:sp>
    </p:spTree>
    <p:extLst>
      <p:ext uri="{BB962C8B-B14F-4D97-AF65-F5344CB8AC3E}">
        <p14:creationId xmlns:p14="http://schemas.microsoft.com/office/powerpoint/2010/main" val="1008348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03EBA-4899-C921-16E2-5F53A5171B69}"/>
              </a:ext>
            </a:extLst>
          </p:cNvPr>
          <p:cNvSpPr>
            <a:spLocks noGrp="1"/>
          </p:cNvSpPr>
          <p:nvPr>
            <p:ph type="title"/>
          </p:nvPr>
        </p:nvSpPr>
        <p:spPr/>
        <p:txBody>
          <a:bodyPr/>
          <a:lstStyle/>
          <a:p>
            <a:r>
              <a:rPr lang="en-IN" b="1" dirty="0"/>
              <a:t>API Protocols</a:t>
            </a:r>
            <a:endParaRPr lang="en-IN" dirty="0"/>
          </a:p>
        </p:txBody>
      </p:sp>
      <p:sp>
        <p:nvSpPr>
          <p:cNvPr id="3" name="Content Placeholder 2">
            <a:extLst>
              <a:ext uri="{FF2B5EF4-FFF2-40B4-BE49-F238E27FC236}">
                <a16:creationId xmlns:a16="http://schemas.microsoft.com/office/drawing/2014/main" id="{86D1AB76-0DA7-6717-C0EF-1193B0AA0346}"/>
              </a:ext>
            </a:extLst>
          </p:cNvPr>
          <p:cNvSpPr>
            <a:spLocks noGrp="1"/>
          </p:cNvSpPr>
          <p:nvPr>
            <p:ph idx="1"/>
          </p:nvPr>
        </p:nvSpPr>
        <p:spPr>
          <a:xfrm>
            <a:off x="1154954" y="2603499"/>
            <a:ext cx="10456993" cy="3913933"/>
          </a:xfrm>
        </p:spPr>
        <p:txBody>
          <a:bodyPr>
            <a:normAutofit fontScale="85000" lnSpcReduction="20000"/>
          </a:bodyPr>
          <a:lstStyle/>
          <a:p>
            <a:r>
              <a:rPr lang="en-US" b="1" dirty="0" err="1"/>
              <a:t>WebSockets</a:t>
            </a:r>
            <a:endParaRPr lang="en-US" b="1" dirty="0"/>
          </a:p>
          <a:p>
            <a:r>
              <a:rPr lang="en-US" b="1" dirty="0"/>
              <a:t>Status:</a:t>
            </a:r>
            <a:r>
              <a:rPr lang="en-US" dirty="0"/>
              <a:t> The Real-Time Standard.</a:t>
            </a:r>
            <a:br>
              <a:rPr lang="en-US" dirty="0"/>
            </a:br>
            <a:r>
              <a:rPr lang="en-US" b="1" dirty="0"/>
              <a:t>Underlying Protocol:</a:t>
            </a:r>
            <a:r>
              <a:rPr lang="en-US" dirty="0"/>
              <a:t> TCP (upgraded from HTTP).</a:t>
            </a:r>
          </a:p>
          <a:p>
            <a:r>
              <a:rPr lang="en-US" dirty="0"/>
              <a:t>Standard HTTP is "Request -&gt; Response -&gt; Close". </a:t>
            </a:r>
            <a:r>
              <a:rPr lang="en-US" dirty="0" err="1"/>
              <a:t>WebSockets</a:t>
            </a:r>
            <a:r>
              <a:rPr lang="en-US" dirty="0"/>
              <a:t> create a </a:t>
            </a:r>
            <a:r>
              <a:rPr lang="en-US" b="1" dirty="0"/>
              <a:t>persistent, full-duplex</a:t>
            </a:r>
            <a:r>
              <a:rPr lang="en-US" dirty="0"/>
              <a:t> connection.</a:t>
            </a:r>
          </a:p>
          <a:p>
            <a:r>
              <a:rPr lang="en-US" b="1" dirty="0"/>
              <a:t>Features:</a:t>
            </a:r>
            <a:endParaRPr lang="en-US" dirty="0"/>
          </a:p>
          <a:p>
            <a:pPr lvl="1"/>
            <a:r>
              <a:rPr lang="en-US" b="1" dirty="0"/>
              <a:t>Real-time:</a:t>
            </a:r>
            <a:r>
              <a:rPr lang="en-US" dirty="0"/>
              <a:t> The server can push data to the client without the client asking.</a:t>
            </a:r>
          </a:p>
          <a:p>
            <a:pPr lvl="1"/>
            <a:r>
              <a:rPr lang="en-US" b="1" dirty="0"/>
              <a:t>Low Overhead:</a:t>
            </a:r>
            <a:r>
              <a:rPr lang="en-US" dirty="0"/>
              <a:t> After the initial handshake, data frames are very light (no headers sent every time).</a:t>
            </a:r>
          </a:p>
          <a:p>
            <a:r>
              <a:rPr lang="en-US" b="1" dirty="0"/>
              <a:t>Limitations:</a:t>
            </a:r>
            <a:endParaRPr lang="en-US" dirty="0"/>
          </a:p>
          <a:p>
            <a:pPr lvl="1"/>
            <a:r>
              <a:rPr lang="en-US" b="1" dirty="0"/>
              <a:t>Stateful:</a:t>
            </a:r>
            <a:r>
              <a:rPr lang="en-US" dirty="0"/>
              <a:t> The server must keep the connection open in memory. This makes scaling hard (100k users = 100k open connections).</a:t>
            </a:r>
          </a:p>
          <a:p>
            <a:pPr lvl="1"/>
            <a:r>
              <a:rPr lang="en-US" b="1" dirty="0"/>
              <a:t>Firewall issues:</a:t>
            </a:r>
            <a:r>
              <a:rPr lang="en-US" dirty="0"/>
              <a:t> Some corporate firewalls block non-standard ports or long-lived connections.</a:t>
            </a:r>
          </a:p>
          <a:p>
            <a:r>
              <a:rPr lang="en-US" b="1" dirty="0"/>
              <a:t>Use Cases:</a:t>
            </a:r>
            <a:r>
              <a:rPr lang="en-US" dirty="0"/>
              <a:t> Chat apps (WhatsApp/Slack), Stock trading dashboards, Multiplayer games.</a:t>
            </a:r>
          </a:p>
          <a:p>
            <a:r>
              <a:rPr lang="en-US" b="1" dirty="0"/>
              <a:t>Python Libraries:</a:t>
            </a:r>
            <a:r>
              <a:rPr lang="en-US" dirty="0"/>
              <a:t> </a:t>
            </a:r>
            <a:r>
              <a:rPr lang="en-US" dirty="0" err="1"/>
              <a:t>websockets</a:t>
            </a:r>
            <a:r>
              <a:rPr lang="en-US" dirty="0"/>
              <a:t> (for raw usage), Django Channels, Socket.IO.</a:t>
            </a:r>
          </a:p>
          <a:p>
            <a:endParaRPr lang="en-IN" dirty="0"/>
          </a:p>
        </p:txBody>
      </p:sp>
    </p:spTree>
    <p:extLst>
      <p:ext uri="{BB962C8B-B14F-4D97-AF65-F5344CB8AC3E}">
        <p14:creationId xmlns:p14="http://schemas.microsoft.com/office/powerpoint/2010/main" val="938093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D9B88-E1B6-CC77-D3B9-BCA3F0692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E90E0-FED4-AA28-03B8-888D1F70C3D9}"/>
              </a:ext>
            </a:extLst>
          </p:cNvPr>
          <p:cNvSpPr>
            <a:spLocks noGrp="1"/>
          </p:cNvSpPr>
          <p:nvPr>
            <p:ph type="title"/>
          </p:nvPr>
        </p:nvSpPr>
        <p:spPr/>
        <p:txBody>
          <a:bodyPr/>
          <a:lstStyle/>
          <a:p>
            <a:r>
              <a:rPr lang="en-IN" b="1" dirty="0"/>
              <a:t>API Protocols</a:t>
            </a:r>
            <a:endParaRPr lang="en-IN" dirty="0"/>
          </a:p>
        </p:txBody>
      </p:sp>
      <p:sp>
        <p:nvSpPr>
          <p:cNvPr id="3" name="Content Placeholder 2">
            <a:extLst>
              <a:ext uri="{FF2B5EF4-FFF2-40B4-BE49-F238E27FC236}">
                <a16:creationId xmlns:a16="http://schemas.microsoft.com/office/drawing/2014/main" id="{804FF6A7-E790-9E70-2030-B8E36E55176F}"/>
              </a:ext>
            </a:extLst>
          </p:cNvPr>
          <p:cNvSpPr>
            <a:spLocks noGrp="1"/>
          </p:cNvSpPr>
          <p:nvPr>
            <p:ph idx="1"/>
          </p:nvPr>
        </p:nvSpPr>
        <p:spPr>
          <a:xfrm>
            <a:off x="1154954" y="2603500"/>
            <a:ext cx="10438332" cy="3867280"/>
          </a:xfrm>
        </p:spPr>
        <p:txBody>
          <a:bodyPr/>
          <a:lstStyle/>
          <a:p>
            <a:r>
              <a:rPr lang="en-US" b="1" dirty="0" err="1"/>
              <a:t>gRPC</a:t>
            </a:r>
            <a:r>
              <a:rPr lang="en-US" b="1" dirty="0"/>
              <a:t> (Remote Procedure Call)</a:t>
            </a:r>
          </a:p>
          <a:p>
            <a:r>
              <a:rPr lang="en-US" b="1" dirty="0"/>
              <a:t>The High-Performance.</a:t>
            </a:r>
            <a:r>
              <a:rPr lang="en-US" dirty="0"/>
              <a:t> Developed by Google.</a:t>
            </a:r>
          </a:p>
          <a:p>
            <a:r>
              <a:rPr lang="en-US" b="1" dirty="0"/>
              <a:t>Philosophy:</a:t>
            </a:r>
            <a:r>
              <a:rPr lang="en-US" dirty="0"/>
              <a:t> Uses Protocol Buffers (binary data) instead of JSON (text). It is much faster and lighter.</a:t>
            </a:r>
          </a:p>
          <a:p>
            <a:r>
              <a:rPr lang="en-US" b="1" dirty="0"/>
              <a:t>Use Case:</a:t>
            </a:r>
            <a:r>
              <a:rPr lang="en-US" dirty="0"/>
              <a:t> Internal communication between microservices where milliseconds matter.</a:t>
            </a:r>
          </a:p>
          <a:p>
            <a:r>
              <a:rPr lang="en-US" b="1" dirty="0"/>
              <a:t>Python Tool:</a:t>
            </a:r>
            <a:r>
              <a:rPr lang="en-US" dirty="0"/>
              <a:t> </a:t>
            </a:r>
            <a:r>
              <a:rPr lang="en-US" dirty="0" err="1"/>
              <a:t>grpcio</a:t>
            </a:r>
            <a:r>
              <a:rPr lang="en-US" dirty="0"/>
              <a:t>.</a:t>
            </a:r>
          </a:p>
          <a:p>
            <a:endParaRPr lang="en-IN" dirty="0"/>
          </a:p>
        </p:txBody>
      </p:sp>
    </p:spTree>
    <p:extLst>
      <p:ext uri="{BB962C8B-B14F-4D97-AF65-F5344CB8AC3E}">
        <p14:creationId xmlns:p14="http://schemas.microsoft.com/office/powerpoint/2010/main" val="2792338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D23DF-B7A0-CA5C-016C-7756BC3F0201}"/>
              </a:ext>
            </a:extLst>
          </p:cNvPr>
          <p:cNvSpPr>
            <a:spLocks noGrp="1"/>
          </p:cNvSpPr>
          <p:nvPr>
            <p:ph type="title"/>
          </p:nvPr>
        </p:nvSpPr>
        <p:spPr/>
        <p:txBody>
          <a:bodyPr/>
          <a:lstStyle/>
          <a:p>
            <a:r>
              <a:rPr lang="en-IN" b="1" dirty="0"/>
              <a:t>API Protocols</a:t>
            </a:r>
            <a:endParaRPr lang="en-IN" dirty="0"/>
          </a:p>
        </p:txBody>
      </p:sp>
      <p:sp>
        <p:nvSpPr>
          <p:cNvPr id="3" name="Content Placeholder 2">
            <a:extLst>
              <a:ext uri="{FF2B5EF4-FFF2-40B4-BE49-F238E27FC236}">
                <a16:creationId xmlns:a16="http://schemas.microsoft.com/office/drawing/2014/main" id="{189898AC-FC49-294F-6C73-EE20AF2247C4}"/>
              </a:ext>
            </a:extLst>
          </p:cNvPr>
          <p:cNvSpPr>
            <a:spLocks noGrp="1"/>
          </p:cNvSpPr>
          <p:nvPr>
            <p:ph idx="1"/>
          </p:nvPr>
        </p:nvSpPr>
        <p:spPr>
          <a:xfrm>
            <a:off x="1154954" y="2603499"/>
            <a:ext cx="10596952" cy="3979247"/>
          </a:xfrm>
        </p:spPr>
        <p:txBody>
          <a:bodyPr>
            <a:normAutofit fontScale="70000" lnSpcReduction="20000"/>
          </a:bodyPr>
          <a:lstStyle/>
          <a:p>
            <a:r>
              <a:rPr lang="en-US" b="1" dirty="0" err="1"/>
              <a:t>gRPC</a:t>
            </a:r>
            <a:r>
              <a:rPr lang="en-US" b="1" dirty="0"/>
              <a:t> (Google Remote Procedure Call)</a:t>
            </a:r>
          </a:p>
          <a:p>
            <a:r>
              <a:rPr lang="en-US" b="1" dirty="0"/>
              <a:t>Status:</a:t>
            </a:r>
            <a:r>
              <a:rPr lang="en-US" dirty="0"/>
              <a:t> The High-Performance Internal Standard.</a:t>
            </a:r>
            <a:br>
              <a:rPr lang="en-US" dirty="0"/>
            </a:br>
            <a:r>
              <a:rPr lang="en-US" b="1" dirty="0"/>
              <a:t>Underlying Protocol:</a:t>
            </a:r>
            <a:r>
              <a:rPr lang="en-US" dirty="0"/>
              <a:t> HTTP/2.</a:t>
            </a:r>
          </a:p>
          <a:p>
            <a:r>
              <a:rPr lang="en-US" dirty="0" err="1"/>
              <a:t>gRPC</a:t>
            </a:r>
            <a:r>
              <a:rPr lang="en-US" dirty="0"/>
              <a:t> is about speed. Instead of sending text (JSON/XML), it sends </a:t>
            </a:r>
            <a:r>
              <a:rPr lang="en-US" b="1" dirty="0"/>
              <a:t>Binary Data</a:t>
            </a:r>
            <a:r>
              <a:rPr lang="en-US" dirty="0"/>
              <a:t> using </a:t>
            </a:r>
            <a:r>
              <a:rPr lang="en-US" b="1" dirty="0"/>
              <a:t>Protocol Buffers (</a:t>
            </a:r>
            <a:r>
              <a:rPr lang="en-US" b="1" dirty="0" err="1"/>
              <a:t>Protobuf</a:t>
            </a:r>
            <a:r>
              <a:rPr lang="en-US" b="1" dirty="0"/>
              <a:t>)</a:t>
            </a:r>
            <a:r>
              <a:rPr lang="en-US" dirty="0"/>
              <a:t>.</a:t>
            </a:r>
          </a:p>
          <a:p>
            <a:r>
              <a:rPr lang="en-US" b="1" dirty="0"/>
              <a:t>Features:</a:t>
            </a:r>
            <a:endParaRPr lang="en-US" dirty="0"/>
          </a:p>
          <a:p>
            <a:pPr lvl="1"/>
            <a:r>
              <a:rPr lang="en-US" b="1" dirty="0"/>
              <a:t>Binary Packing:</a:t>
            </a:r>
            <a:r>
              <a:rPr lang="en-US" dirty="0"/>
              <a:t> Payload is much smaller than JSON.</a:t>
            </a:r>
          </a:p>
          <a:p>
            <a:pPr lvl="1"/>
            <a:r>
              <a:rPr lang="en-US" b="1" dirty="0"/>
              <a:t>Multiplexing:</a:t>
            </a:r>
            <a:r>
              <a:rPr lang="en-US" dirty="0"/>
              <a:t> HTTP/2 allows multiple requests over a single TCP connection simultaneously.</a:t>
            </a:r>
          </a:p>
          <a:p>
            <a:pPr lvl="1"/>
            <a:r>
              <a:rPr lang="en-US" b="1" dirty="0"/>
              <a:t>Code Generation:</a:t>
            </a:r>
            <a:r>
              <a:rPr lang="en-US" dirty="0"/>
              <a:t> You write a .proto file, and </a:t>
            </a:r>
            <a:r>
              <a:rPr lang="en-US" dirty="0" err="1"/>
              <a:t>gRPC</a:t>
            </a:r>
            <a:r>
              <a:rPr lang="en-US" dirty="0"/>
              <a:t> generates the Python client and server code for you automatically.</a:t>
            </a:r>
          </a:p>
          <a:p>
            <a:pPr lvl="1"/>
            <a:r>
              <a:rPr lang="en-US" b="1" dirty="0"/>
              <a:t>Streaming:</a:t>
            </a:r>
            <a:r>
              <a:rPr lang="en-US" dirty="0"/>
              <a:t> Supports bi-directional streaming (Client and Server talking at the same time).</a:t>
            </a:r>
          </a:p>
          <a:p>
            <a:r>
              <a:rPr lang="en-US" b="1" dirty="0"/>
              <a:t>Limitations:</a:t>
            </a:r>
            <a:endParaRPr lang="en-US" dirty="0"/>
          </a:p>
          <a:p>
            <a:pPr lvl="1"/>
            <a:r>
              <a:rPr lang="en-US" b="1" dirty="0"/>
              <a:t>Not Human Readable:</a:t>
            </a:r>
            <a:r>
              <a:rPr lang="en-US" dirty="0"/>
              <a:t> You can't just open the network tab and read the response; it's binary.</a:t>
            </a:r>
          </a:p>
          <a:p>
            <a:pPr lvl="1"/>
            <a:r>
              <a:rPr lang="en-US" b="1" dirty="0"/>
              <a:t>Browser Support:</a:t>
            </a:r>
            <a:r>
              <a:rPr lang="en-US" dirty="0"/>
              <a:t> Browsers don't support </a:t>
            </a:r>
            <a:r>
              <a:rPr lang="en-US" dirty="0" err="1"/>
              <a:t>gRPC</a:t>
            </a:r>
            <a:r>
              <a:rPr lang="en-US" dirty="0"/>
              <a:t> natively yet; you need a proxy (</a:t>
            </a:r>
            <a:r>
              <a:rPr lang="en-US" dirty="0" err="1"/>
              <a:t>gRPC</a:t>
            </a:r>
            <a:r>
              <a:rPr lang="en-US" dirty="0"/>
              <a:t>-Web).</a:t>
            </a:r>
          </a:p>
          <a:p>
            <a:r>
              <a:rPr lang="en-US" b="1" dirty="0"/>
              <a:t>Use Cases:</a:t>
            </a:r>
            <a:r>
              <a:rPr lang="en-US" dirty="0"/>
              <a:t> Microservices communication (Service A talking to Service B), IoT devices, Real-time video/audio streaming.</a:t>
            </a:r>
          </a:p>
          <a:p>
            <a:r>
              <a:rPr lang="en-US" b="1" dirty="0"/>
              <a:t>Python Libraries:</a:t>
            </a:r>
            <a:r>
              <a:rPr lang="en-US" dirty="0"/>
              <a:t> </a:t>
            </a:r>
            <a:r>
              <a:rPr lang="en-US" dirty="0" err="1"/>
              <a:t>grpcio</a:t>
            </a:r>
            <a:r>
              <a:rPr lang="en-US" dirty="0"/>
              <a:t>.</a:t>
            </a:r>
          </a:p>
          <a:p>
            <a:endParaRPr lang="en-IN" dirty="0"/>
          </a:p>
        </p:txBody>
      </p:sp>
    </p:spTree>
    <p:extLst>
      <p:ext uri="{BB962C8B-B14F-4D97-AF65-F5344CB8AC3E}">
        <p14:creationId xmlns:p14="http://schemas.microsoft.com/office/powerpoint/2010/main" val="579103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74D51-D901-53F4-4BEA-FB54EC8D9DFC}"/>
              </a:ext>
            </a:extLst>
          </p:cNvPr>
          <p:cNvSpPr>
            <a:spLocks noGrp="1"/>
          </p:cNvSpPr>
          <p:nvPr>
            <p:ph type="title"/>
          </p:nvPr>
        </p:nvSpPr>
        <p:spPr/>
        <p:txBody>
          <a:bodyPr/>
          <a:lstStyle/>
          <a:p>
            <a:r>
              <a:rPr lang="en-IN" b="1" dirty="0"/>
              <a:t>API Protocols</a:t>
            </a:r>
            <a:endParaRPr lang="en-IN" dirty="0"/>
          </a:p>
        </p:txBody>
      </p:sp>
      <p:sp>
        <p:nvSpPr>
          <p:cNvPr id="3" name="Content Placeholder 2">
            <a:extLst>
              <a:ext uri="{FF2B5EF4-FFF2-40B4-BE49-F238E27FC236}">
                <a16:creationId xmlns:a16="http://schemas.microsoft.com/office/drawing/2014/main" id="{AFC50A76-43E0-90B9-60F3-225FF6E60454}"/>
              </a:ext>
            </a:extLst>
          </p:cNvPr>
          <p:cNvSpPr>
            <a:spLocks noGrp="1"/>
          </p:cNvSpPr>
          <p:nvPr>
            <p:ph idx="1"/>
          </p:nvPr>
        </p:nvSpPr>
        <p:spPr>
          <a:xfrm>
            <a:off x="1154954" y="2603500"/>
            <a:ext cx="10671597" cy="3946590"/>
          </a:xfrm>
        </p:spPr>
        <p:txBody>
          <a:bodyPr>
            <a:normAutofit fontScale="85000" lnSpcReduction="10000"/>
          </a:bodyPr>
          <a:lstStyle/>
          <a:p>
            <a:r>
              <a:rPr lang="en-US" b="1" dirty="0"/>
              <a:t> Webhooks (The "Reverse" API)</a:t>
            </a:r>
          </a:p>
          <a:p>
            <a:r>
              <a:rPr lang="en-US" b="1" dirty="0"/>
              <a:t>Status:</a:t>
            </a:r>
            <a:r>
              <a:rPr lang="en-US" dirty="0"/>
              <a:t> Event-Driven.</a:t>
            </a:r>
            <a:br>
              <a:rPr lang="en-US" dirty="0"/>
            </a:br>
            <a:r>
              <a:rPr lang="en-US" b="1" dirty="0"/>
              <a:t>Underlying Protocol:</a:t>
            </a:r>
            <a:r>
              <a:rPr lang="en-US" dirty="0"/>
              <a:t> HTTP.</a:t>
            </a:r>
          </a:p>
          <a:p>
            <a:r>
              <a:rPr lang="en-US" dirty="0"/>
              <a:t>This is not a protocol you </a:t>
            </a:r>
            <a:r>
              <a:rPr lang="en-US" i="1" dirty="0"/>
              <a:t>call</a:t>
            </a:r>
            <a:r>
              <a:rPr lang="en-US" dirty="0"/>
              <a:t>, but a protocol you </a:t>
            </a:r>
            <a:r>
              <a:rPr lang="en-US" i="1" dirty="0"/>
              <a:t>listen</a:t>
            </a:r>
            <a:r>
              <a:rPr lang="en-US" dirty="0"/>
              <a:t> to. Instead of you polling an API ("Do you have new data?"), the API calls you ("I have new data!").</a:t>
            </a:r>
          </a:p>
          <a:p>
            <a:r>
              <a:rPr lang="en-US" b="1" dirty="0"/>
              <a:t>Features:</a:t>
            </a:r>
            <a:endParaRPr lang="en-US" dirty="0"/>
          </a:p>
          <a:p>
            <a:pPr lvl="1"/>
            <a:r>
              <a:rPr lang="en-US" b="1" dirty="0"/>
              <a:t>Resource Efficient:</a:t>
            </a:r>
            <a:r>
              <a:rPr lang="en-US" dirty="0"/>
              <a:t> Eliminates the need for polling loops.</a:t>
            </a:r>
          </a:p>
          <a:p>
            <a:pPr lvl="1"/>
            <a:r>
              <a:rPr lang="en-US" b="1" dirty="0"/>
              <a:t>Real-time(</a:t>
            </a:r>
            <a:r>
              <a:rPr lang="en-US" b="1" dirty="0" err="1"/>
              <a:t>ish</a:t>
            </a:r>
            <a:r>
              <a:rPr lang="en-US" b="1" dirty="0"/>
              <a:t>):</a:t>
            </a:r>
            <a:r>
              <a:rPr lang="en-US" dirty="0"/>
              <a:t> You get data as soon as the event happens.</a:t>
            </a:r>
          </a:p>
          <a:p>
            <a:r>
              <a:rPr lang="en-US" b="1" dirty="0"/>
              <a:t>Limitations:</a:t>
            </a:r>
            <a:endParaRPr lang="en-US" dirty="0"/>
          </a:p>
          <a:p>
            <a:pPr lvl="1"/>
            <a:r>
              <a:rPr lang="en-US" b="1" dirty="0"/>
              <a:t>Public Access:</a:t>
            </a:r>
            <a:r>
              <a:rPr lang="en-US" dirty="0"/>
              <a:t> Your receiving script must be publicly accessible on the internet (or you need a tunnel like </a:t>
            </a:r>
            <a:r>
              <a:rPr lang="en-US" dirty="0" err="1"/>
              <a:t>ngrok</a:t>
            </a:r>
            <a:r>
              <a:rPr lang="en-US" dirty="0"/>
              <a:t> for dev).</a:t>
            </a:r>
          </a:p>
          <a:p>
            <a:pPr lvl="1"/>
            <a:r>
              <a:rPr lang="en-US" b="1" dirty="0"/>
              <a:t>Debugging:</a:t>
            </a:r>
            <a:r>
              <a:rPr lang="en-US" dirty="0"/>
              <a:t> If your server is down when the hook fires, you miss the data (unless the sender has a retry logic).</a:t>
            </a:r>
          </a:p>
          <a:p>
            <a:r>
              <a:rPr lang="en-US" b="1" dirty="0"/>
              <a:t>Use Cases:</a:t>
            </a:r>
            <a:r>
              <a:rPr lang="en-US" dirty="0"/>
              <a:t> Stripe payment confirmation, </a:t>
            </a:r>
            <a:r>
              <a:rPr lang="en-US" dirty="0" err="1"/>
              <a:t>Github</a:t>
            </a:r>
            <a:r>
              <a:rPr lang="en-US" dirty="0"/>
              <a:t> commit triggers, Slack bot notifications.</a:t>
            </a:r>
          </a:p>
          <a:p>
            <a:endParaRPr lang="en-IN" dirty="0"/>
          </a:p>
        </p:txBody>
      </p:sp>
    </p:spTree>
    <p:extLst>
      <p:ext uri="{BB962C8B-B14F-4D97-AF65-F5344CB8AC3E}">
        <p14:creationId xmlns:p14="http://schemas.microsoft.com/office/powerpoint/2010/main" val="3997401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04CCC-8CA3-B8CF-FDCA-55E23CD3DEED}"/>
              </a:ext>
            </a:extLst>
          </p:cNvPr>
          <p:cNvSpPr>
            <a:spLocks noGrp="1"/>
          </p:cNvSpPr>
          <p:nvPr>
            <p:ph type="title"/>
          </p:nvPr>
        </p:nvSpPr>
        <p:spPr/>
        <p:txBody>
          <a:bodyPr/>
          <a:lstStyle/>
          <a:p>
            <a:r>
              <a:rPr lang="en-IN" dirty="0"/>
              <a:t>Types of APIs</a:t>
            </a:r>
          </a:p>
        </p:txBody>
      </p:sp>
      <p:sp>
        <p:nvSpPr>
          <p:cNvPr id="3" name="Content Placeholder 2">
            <a:extLst>
              <a:ext uri="{FF2B5EF4-FFF2-40B4-BE49-F238E27FC236}">
                <a16:creationId xmlns:a16="http://schemas.microsoft.com/office/drawing/2014/main" id="{0CF8B8EB-932B-A97E-5D4D-AF88DA784FE9}"/>
              </a:ext>
            </a:extLst>
          </p:cNvPr>
          <p:cNvSpPr>
            <a:spLocks noGrp="1"/>
          </p:cNvSpPr>
          <p:nvPr>
            <p:ph idx="1"/>
          </p:nvPr>
        </p:nvSpPr>
        <p:spPr>
          <a:xfrm>
            <a:off x="1154954" y="2603500"/>
            <a:ext cx="10475654" cy="4025900"/>
          </a:xfrm>
        </p:spPr>
        <p:txBody>
          <a:bodyPr>
            <a:normAutofit lnSpcReduction="10000"/>
          </a:bodyPr>
          <a:lstStyle/>
          <a:p>
            <a:pPr fontAlgn="base"/>
            <a:r>
              <a:rPr lang="en-US" b="1" dirty="0"/>
              <a:t>Open APIs</a:t>
            </a:r>
          </a:p>
          <a:p>
            <a:pPr fontAlgn="base"/>
            <a:r>
              <a:rPr lang="en-US" dirty="0"/>
              <a:t>Also called public APIs which are available to any other users. </a:t>
            </a:r>
          </a:p>
          <a:p>
            <a:pPr fontAlgn="base"/>
            <a:r>
              <a:rPr lang="en-US" b="1" dirty="0"/>
              <a:t>Open APIs</a:t>
            </a:r>
            <a:r>
              <a:rPr lang="en-US" dirty="0"/>
              <a:t> help external users to access data and services. </a:t>
            </a:r>
          </a:p>
          <a:p>
            <a:pPr fontAlgn="base"/>
            <a:r>
              <a:rPr lang="en-US" dirty="0"/>
              <a:t>Open-source application programming interface that we access with HTTP protocols. </a:t>
            </a:r>
          </a:p>
          <a:p>
            <a:pPr fontAlgn="base"/>
            <a:r>
              <a:rPr lang="en-US" dirty="0"/>
              <a:t>These types of APIs are available to the public by companies, allowing external users to access specific functionalities or data. </a:t>
            </a:r>
          </a:p>
          <a:p>
            <a:pPr fontAlgn="base"/>
            <a:r>
              <a:rPr lang="en-US" dirty="0"/>
              <a:t>Very popular type of API in modern API development, which involves consistency, reusability, and easy integration of services and data from different platforms. </a:t>
            </a:r>
          </a:p>
          <a:p>
            <a:pPr fontAlgn="base"/>
            <a:r>
              <a:rPr lang="en-US" dirty="0"/>
              <a:t>Has a developer-friendly environment but the developers who create these Open APIs have to be well aware of the documentation to the efficient usability of API.</a:t>
            </a:r>
          </a:p>
          <a:p>
            <a:pPr fontAlgn="base"/>
            <a:r>
              <a:rPr lang="en-US" dirty="0"/>
              <a:t>For example, developers can use the Twitter API to display tweets or allow users to post directly from their app.</a:t>
            </a:r>
          </a:p>
          <a:p>
            <a:endParaRPr lang="en-IN" dirty="0"/>
          </a:p>
        </p:txBody>
      </p:sp>
    </p:spTree>
    <p:extLst>
      <p:ext uri="{BB962C8B-B14F-4D97-AF65-F5344CB8AC3E}">
        <p14:creationId xmlns:p14="http://schemas.microsoft.com/office/powerpoint/2010/main" val="3041340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2B338-CEE9-12E9-6D2B-DC0539FDDE12}"/>
              </a:ext>
            </a:extLst>
          </p:cNvPr>
          <p:cNvSpPr>
            <a:spLocks noGrp="1"/>
          </p:cNvSpPr>
          <p:nvPr>
            <p:ph type="title"/>
          </p:nvPr>
        </p:nvSpPr>
        <p:spPr/>
        <p:txBody>
          <a:bodyPr/>
          <a:lstStyle/>
          <a:p>
            <a:r>
              <a:rPr lang="en-IN" dirty="0"/>
              <a:t>Types of APIs</a:t>
            </a:r>
          </a:p>
        </p:txBody>
      </p:sp>
      <p:sp>
        <p:nvSpPr>
          <p:cNvPr id="3" name="Content Placeholder 2">
            <a:extLst>
              <a:ext uri="{FF2B5EF4-FFF2-40B4-BE49-F238E27FC236}">
                <a16:creationId xmlns:a16="http://schemas.microsoft.com/office/drawing/2014/main" id="{BEB5CB08-6A12-07F7-E10C-ABEC97D28380}"/>
              </a:ext>
            </a:extLst>
          </p:cNvPr>
          <p:cNvSpPr>
            <a:spLocks noGrp="1"/>
          </p:cNvSpPr>
          <p:nvPr>
            <p:ph idx="1"/>
          </p:nvPr>
        </p:nvSpPr>
        <p:spPr>
          <a:xfrm>
            <a:off x="1154954" y="2603500"/>
            <a:ext cx="10051111" cy="3974582"/>
          </a:xfrm>
        </p:spPr>
        <p:txBody>
          <a:bodyPr>
            <a:normAutofit lnSpcReduction="10000"/>
          </a:bodyPr>
          <a:lstStyle/>
          <a:p>
            <a:pPr fontAlgn="base"/>
            <a:r>
              <a:rPr lang="en-US" b="1" dirty="0"/>
              <a:t>Internal APIs</a:t>
            </a:r>
          </a:p>
          <a:p>
            <a:pPr fontAlgn="base"/>
            <a:r>
              <a:rPr lang="en-US" b="1" dirty="0"/>
              <a:t>It is also known as private API, only an internal system exposes this type of API</a:t>
            </a:r>
            <a:r>
              <a:rPr lang="en-US" dirty="0"/>
              <a:t>. </a:t>
            </a:r>
          </a:p>
          <a:p>
            <a:pPr fontAlgn="base"/>
            <a:r>
              <a:rPr lang="en-US" dirty="0"/>
              <a:t>Designed for the internal use of the company rather than the external users. </a:t>
            </a:r>
          </a:p>
          <a:p>
            <a:pPr fontAlgn="base"/>
            <a:r>
              <a:rPr lang="en-US" dirty="0"/>
              <a:t>As Private APIs are used for internal use, data formats can be negotiated, depending on the use cases. </a:t>
            </a:r>
          </a:p>
          <a:p>
            <a:pPr fontAlgn="base"/>
            <a:r>
              <a:rPr lang="en-US" dirty="0"/>
              <a:t>Can also be created for better collaboration of data and services among the different teams. </a:t>
            </a:r>
          </a:p>
          <a:p>
            <a:pPr fontAlgn="base"/>
            <a:r>
              <a:rPr lang="en-US" dirty="0"/>
              <a:t>Has a very controlled environment within the organization so the utilization of this API is more effective and promotes collaboration, and reusability, and ultimately leads to a more productive development process.</a:t>
            </a:r>
          </a:p>
          <a:p>
            <a:pPr fontAlgn="base"/>
            <a:r>
              <a:rPr lang="en-US" dirty="0"/>
              <a:t>For example, an online store might use an internal API to link its website with its inventory management system.</a:t>
            </a:r>
          </a:p>
          <a:p>
            <a:endParaRPr lang="en-IN" dirty="0"/>
          </a:p>
        </p:txBody>
      </p:sp>
    </p:spTree>
    <p:extLst>
      <p:ext uri="{BB962C8B-B14F-4D97-AF65-F5344CB8AC3E}">
        <p14:creationId xmlns:p14="http://schemas.microsoft.com/office/powerpoint/2010/main" val="4035954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F8A33-72E5-9323-D556-3C6D39A54D53}"/>
              </a:ext>
            </a:extLst>
          </p:cNvPr>
          <p:cNvSpPr>
            <a:spLocks noGrp="1"/>
          </p:cNvSpPr>
          <p:nvPr>
            <p:ph type="title"/>
          </p:nvPr>
        </p:nvSpPr>
        <p:spPr/>
        <p:txBody>
          <a:bodyPr/>
          <a:lstStyle/>
          <a:p>
            <a:r>
              <a:rPr lang="en-IN" dirty="0"/>
              <a:t>Types of APIs</a:t>
            </a:r>
          </a:p>
        </p:txBody>
      </p:sp>
      <p:sp>
        <p:nvSpPr>
          <p:cNvPr id="3" name="Content Placeholder 2">
            <a:extLst>
              <a:ext uri="{FF2B5EF4-FFF2-40B4-BE49-F238E27FC236}">
                <a16:creationId xmlns:a16="http://schemas.microsoft.com/office/drawing/2014/main" id="{48CF66F1-5038-313B-69B2-C12CBA6B9AA8}"/>
              </a:ext>
            </a:extLst>
          </p:cNvPr>
          <p:cNvSpPr>
            <a:spLocks noGrp="1"/>
          </p:cNvSpPr>
          <p:nvPr>
            <p:ph idx="1"/>
          </p:nvPr>
        </p:nvSpPr>
        <p:spPr>
          <a:xfrm>
            <a:off x="1154954" y="2603499"/>
            <a:ext cx="10498981" cy="3937259"/>
          </a:xfrm>
        </p:spPr>
        <p:txBody>
          <a:bodyPr/>
          <a:lstStyle/>
          <a:p>
            <a:pPr fontAlgn="base"/>
            <a:r>
              <a:rPr lang="en-US" b="1" dirty="0"/>
              <a:t>Composite APIs</a:t>
            </a:r>
          </a:p>
          <a:p>
            <a:pPr fontAlgn="base"/>
            <a:r>
              <a:rPr lang="en-US" b="1" dirty="0"/>
              <a:t>It is a type of API that combines different data and services</a:t>
            </a:r>
            <a:r>
              <a:rPr lang="en-US" dirty="0"/>
              <a:t>.</a:t>
            </a:r>
          </a:p>
          <a:p>
            <a:pPr fontAlgn="base"/>
            <a:r>
              <a:rPr lang="en-US" dirty="0"/>
              <a:t>Main reason to use Composites APIs is to improve the performance and speed up the execution process and improve the performance of the listeners in the web interfaces.</a:t>
            </a:r>
          </a:p>
          <a:p>
            <a:pPr fontAlgn="base"/>
            <a:r>
              <a:rPr lang="en-US" dirty="0"/>
              <a:t> Sometimes, interacting with some websites contains a very complex and time-consuming process, so to solve this problem, we use Composite API. </a:t>
            </a:r>
          </a:p>
          <a:p>
            <a:pPr fontAlgn="base"/>
            <a:r>
              <a:rPr lang="en-US" dirty="0"/>
              <a:t>Allows developers to access a set of related functionalities through a single API endpoint which simplifies the complex interactions and provide a great user experience.</a:t>
            </a:r>
          </a:p>
          <a:p>
            <a:pPr fontAlgn="base"/>
            <a:r>
              <a:rPr lang="en-US" dirty="0"/>
              <a:t>For example, a food delivery app might use a composite API to place an order, update the delivery status, and send a confirmation message in a single request.</a:t>
            </a:r>
          </a:p>
          <a:p>
            <a:endParaRPr lang="en-IN" dirty="0"/>
          </a:p>
        </p:txBody>
      </p:sp>
    </p:spTree>
    <p:extLst>
      <p:ext uri="{BB962C8B-B14F-4D97-AF65-F5344CB8AC3E}">
        <p14:creationId xmlns:p14="http://schemas.microsoft.com/office/powerpoint/2010/main" val="4026824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09C5C-1731-5465-B6D0-E4F95D171B99}"/>
              </a:ext>
            </a:extLst>
          </p:cNvPr>
          <p:cNvSpPr>
            <a:spLocks noGrp="1"/>
          </p:cNvSpPr>
          <p:nvPr>
            <p:ph type="title"/>
          </p:nvPr>
        </p:nvSpPr>
        <p:spPr/>
        <p:txBody>
          <a:bodyPr/>
          <a:lstStyle/>
          <a:p>
            <a:r>
              <a:rPr lang="en-IN" dirty="0"/>
              <a:t>Types of APIs</a:t>
            </a:r>
          </a:p>
        </p:txBody>
      </p:sp>
      <p:sp>
        <p:nvSpPr>
          <p:cNvPr id="3" name="Content Placeholder 2">
            <a:extLst>
              <a:ext uri="{FF2B5EF4-FFF2-40B4-BE49-F238E27FC236}">
                <a16:creationId xmlns:a16="http://schemas.microsoft.com/office/drawing/2014/main" id="{AB654E1E-4470-C5AE-D871-7C203748DC13}"/>
              </a:ext>
            </a:extLst>
          </p:cNvPr>
          <p:cNvSpPr>
            <a:spLocks noGrp="1"/>
          </p:cNvSpPr>
          <p:nvPr>
            <p:ph idx="1"/>
          </p:nvPr>
        </p:nvSpPr>
        <p:spPr>
          <a:xfrm>
            <a:off x="1154954" y="2603499"/>
            <a:ext cx="10708919" cy="3979247"/>
          </a:xfrm>
        </p:spPr>
        <p:txBody>
          <a:bodyPr>
            <a:normAutofit lnSpcReduction="10000"/>
          </a:bodyPr>
          <a:lstStyle/>
          <a:p>
            <a:pPr fontAlgn="base"/>
            <a:r>
              <a:rPr lang="en-US" b="1" dirty="0"/>
              <a:t>Partner APIs</a:t>
            </a:r>
          </a:p>
          <a:p>
            <a:pPr fontAlgn="base"/>
            <a:r>
              <a:rPr lang="en-US" b="1" dirty="0"/>
              <a:t>It is a type of API in which a developer needs specific rights or licenses in order to access</a:t>
            </a:r>
            <a:r>
              <a:rPr lang="en-US" dirty="0"/>
              <a:t>. </a:t>
            </a:r>
          </a:p>
          <a:p>
            <a:pPr fontAlgn="base"/>
            <a:r>
              <a:rPr lang="en-US" dirty="0"/>
              <a:t>Partner APIs are not available to the public.</a:t>
            </a:r>
          </a:p>
          <a:p>
            <a:pPr fontAlgn="base"/>
            <a:r>
              <a:rPr lang="en-US" dirty="0"/>
              <a:t>APIs are provided by third-party companies that allow external developers to access their services and integrate them into their applications. </a:t>
            </a:r>
          </a:p>
          <a:p>
            <a:pPr fontAlgn="base"/>
            <a:r>
              <a:rPr lang="en-US" dirty="0"/>
              <a:t>Very secure and controlled way for external systems to collaborate with the company and access the capabilities of our system.</a:t>
            </a:r>
          </a:p>
          <a:p>
            <a:pPr fontAlgn="base"/>
            <a:r>
              <a:rPr lang="en-US" dirty="0"/>
              <a:t> One of the best examples of Partner API is Amazon API which allows online businesses to connect with Amazon.com by providing various functionalities like inventory management, shipping options, and analytics of their business.</a:t>
            </a:r>
          </a:p>
          <a:p>
            <a:pPr fontAlgn="base"/>
            <a:r>
              <a:rPr lang="en-US" dirty="0"/>
              <a:t>For example, an online store might use an internal API to link its website with its inventory management system.</a:t>
            </a:r>
          </a:p>
          <a:p>
            <a:endParaRPr lang="en-IN" dirty="0"/>
          </a:p>
        </p:txBody>
      </p:sp>
    </p:spTree>
    <p:extLst>
      <p:ext uri="{BB962C8B-B14F-4D97-AF65-F5344CB8AC3E}">
        <p14:creationId xmlns:p14="http://schemas.microsoft.com/office/powerpoint/2010/main" val="153582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60DE7-62AE-9523-27BB-96D784B4C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BD328F-4CA6-7F6B-DCE6-DA5B5628A0D7}"/>
              </a:ext>
            </a:extLst>
          </p:cNvPr>
          <p:cNvSpPr>
            <a:spLocks noGrp="1"/>
          </p:cNvSpPr>
          <p:nvPr>
            <p:ph type="title"/>
          </p:nvPr>
        </p:nvSpPr>
        <p:spPr/>
        <p:txBody>
          <a:bodyPr/>
          <a:lstStyle/>
          <a:p>
            <a:r>
              <a:rPr lang="en-US" b="1" dirty="0"/>
              <a:t>Types of APIs</a:t>
            </a:r>
            <a:endParaRPr lang="en-IN" dirty="0"/>
          </a:p>
        </p:txBody>
      </p:sp>
      <p:sp>
        <p:nvSpPr>
          <p:cNvPr id="3" name="Content Placeholder 2">
            <a:extLst>
              <a:ext uri="{FF2B5EF4-FFF2-40B4-BE49-F238E27FC236}">
                <a16:creationId xmlns:a16="http://schemas.microsoft.com/office/drawing/2014/main" id="{34DF6189-835D-6E32-DB19-57E8C397428C}"/>
              </a:ext>
            </a:extLst>
          </p:cNvPr>
          <p:cNvSpPr>
            <a:spLocks noGrp="1"/>
          </p:cNvSpPr>
          <p:nvPr>
            <p:ph idx="1"/>
          </p:nvPr>
        </p:nvSpPr>
        <p:spPr>
          <a:xfrm>
            <a:off x="1154954" y="2603500"/>
            <a:ext cx="10438332" cy="3867280"/>
          </a:xfrm>
        </p:spPr>
        <p:txBody>
          <a:bodyPr/>
          <a:lstStyle/>
          <a:p>
            <a:pPr marL="0" indent="0">
              <a:buNone/>
            </a:pPr>
            <a:r>
              <a:rPr lang="en-US" b="1" dirty="0"/>
              <a:t>Web APIs (RESTful and SOAP)</a:t>
            </a:r>
            <a:endParaRPr lang="en-US" dirty="0"/>
          </a:p>
          <a:p>
            <a:r>
              <a:rPr lang="en-US" dirty="0"/>
              <a:t>Web APIs, commonly based on Representational State Transfer (REST) or Simple Object Access Protocol (SOAP), allow communication over the web. RESTful APIs, in particular, have gained popularity for their simplicity and scalability.</a:t>
            </a:r>
          </a:p>
          <a:p>
            <a:pPr marL="0" indent="0">
              <a:buNone/>
            </a:pPr>
            <a:r>
              <a:rPr lang="en-US" b="1" dirty="0"/>
              <a:t>Library-based APIs</a:t>
            </a:r>
            <a:endParaRPr lang="en-US" dirty="0"/>
          </a:p>
          <a:p>
            <a:r>
              <a:rPr lang="en-US" dirty="0"/>
              <a:t>Libraries in programming languages often come with APIs that define how external code can interact with the functions and classes provided by the library.</a:t>
            </a:r>
          </a:p>
          <a:p>
            <a:r>
              <a:rPr lang="en-US" dirty="0"/>
              <a:t> Developers use these APIs to integrate pre-built functionalities into their applications.</a:t>
            </a:r>
          </a:p>
          <a:p>
            <a:endParaRPr lang="en-IN" dirty="0"/>
          </a:p>
        </p:txBody>
      </p:sp>
    </p:spTree>
    <p:extLst>
      <p:ext uri="{BB962C8B-B14F-4D97-AF65-F5344CB8AC3E}">
        <p14:creationId xmlns:p14="http://schemas.microsoft.com/office/powerpoint/2010/main" val="710124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A9C18-CBFB-699E-EEE2-F7018E828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02BC2-636F-18C6-115D-8384A6988B43}"/>
              </a:ext>
            </a:extLst>
          </p:cNvPr>
          <p:cNvSpPr>
            <a:spLocks noGrp="1"/>
          </p:cNvSpPr>
          <p:nvPr>
            <p:ph type="title"/>
          </p:nvPr>
        </p:nvSpPr>
        <p:spPr/>
        <p:txBody>
          <a:bodyPr/>
          <a:lstStyle/>
          <a:p>
            <a:r>
              <a:rPr lang="en-US" b="1" dirty="0"/>
              <a:t>Types of APIs</a:t>
            </a:r>
            <a:endParaRPr lang="en-IN" dirty="0"/>
          </a:p>
        </p:txBody>
      </p:sp>
      <p:sp>
        <p:nvSpPr>
          <p:cNvPr id="3" name="Content Placeholder 2">
            <a:extLst>
              <a:ext uri="{FF2B5EF4-FFF2-40B4-BE49-F238E27FC236}">
                <a16:creationId xmlns:a16="http://schemas.microsoft.com/office/drawing/2014/main" id="{9086C77F-0BCD-8FD8-23AE-ABA46301EAED}"/>
              </a:ext>
            </a:extLst>
          </p:cNvPr>
          <p:cNvSpPr>
            <a:spLocks noGrp="1"/>
          </p:cNvSpPr>
          <p:nvPr>
            <p:ph idx="1"/>
          </p:nvPr>
        </p:nvSpPr>
        <p:spPr>
          <a:xfrm>
            <a:off x="1154954" y="2603500"/>
            <a:ext cx="10438332" cy="3867280"/>
          </a:xfrm>
        </p:spPr>
        <p:txBody>
          <a:bodyPr/>
          <a:lstStyle/>
          <a:p>
            <a:pPr marL="0" indent="0">
              <a:buNone/>
            </a:pPr>
            <a:r>
              <a:rPr lang="en-US" b="1" dirty="0"/>
              <a:t>Operating System APIs</a:t>
            </a:r>
            <a:endParaRPr lang="en-US" dirty="0"/>
          </a:p>
          <a:p>
            <a:r>
              <a:rPr lang="en-US" dirty="0"/>
              <a:t>These APIs provide a set of functions and procedures that applications can use to interact with the underlying operating system. </a:t>
            </a:r>
          </a:p>
          <a:p>
            <a:r>
              <a:rPr lang="en-US" dirty="0"/>
              <a:t>Enable applications to perform tasks such as file operations, memory management, and process control.</a:t>
            </a:r>
          </a:p>
          <a:p>
            <a:pPr marL="0" indent="0">
              <a:buNone/>
            </a:pPr>
            <a:r>
              <a:rPr lang="en-US" b="1" dirty="0"/>
              <a:t>Hardware APIs</a:t>
            </a:r>
            <a:endParaRPr lang="en-US" dirty="0"/>
          </a:p>
          <a:p>
            <a:r>
              <a:rPr lang="en-US" dirty="0"/>
              <a:t>Facilitate communication between software and hardware components, allowing applications to interact with devices such as printers, cameras, and sensors.</a:t>
            </a:r>
          </a:p>
          <a:p>
            <a:endParaRPr lang="en-IN" dirty="0"/>
          </a:p>
        </p:txBody>
      </p:sp>
    </p:spTree>
    <p:extLst>
      <p:ext uri="{BB962C8B-B14F-4D97-AF65-F5344CB8AC3E}">
        <p14:creationId xmlns:p14="http://schemas.microsoft.com/office/powerpoint/2010/main" val="10260459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D1B0-8769-145E-647B-5F24B8BBFD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B33BA-DD12-E5BB-BC87-6FD4B6422398}"/>
              </a:ext>
            </a:extLst>
          </p:cNvPr>
          <p:cNvSpPr>
            <a:spLocks noGrp="1"/>
          </p:cNvSpPr>
          <p:nvPr>
            <p:ph type="title"/>
          </p:nvPr>
        </p:nvSpPr>
        <p:spPr/>
        <p:txBody>
          <a:bodyPr/>
          <a:lstStyle/>
          <a:p>
            <a:r>
              <a:rPr lang="en-US" b="1" dirty="0"/>
              <a:t>Impact of APIs</a:t>
            </a:r>
            <a:endParaRPr lang="en-US" dirty="0"/>
          </a:p>
        </p:txBody>
      </p:sp>
      <p:sp>
        <p:nvSpPr>
          <p:cNvPr id="3" name="Content Placeholder 2">
            <a:extLst>
              <a:ext uri="{FF2B5EF4-FFF2-40B4-BE49-F238E27FC236}">
                <a16:creationId xmlns:a16="http://schemas.microsoft.com/office/drawing/2014/main" id="{BED63BFD-F01F-2F02-82A0-C6CB57E88FBB}"/>
              </a:ext>
            </a:extLst>
          </p:cNvPr>
          <p:cNvSpPr>
            <a:spLocks noGrp="1"/>
          </p:cNvSpPr>
          <p:nvPr>
            <p:ph idx="1"/>
          </p:nvPr>
        </p:nvSpPr>
        <p:spPr>
          <a:xfrm>
            <a:off x="1154954" y="2603500"/>
            <a:ext cx="10438332" cy="3867280"/>
          </a:xfrm>
        </p:spPr>
        <p:txBody>
          <a:bodyPr>
            <a:normAutofit lnSpcReduction="10000"/>
          </a:bodyPr>
          <a:lstStyle/>
          <a:p>
            <a:pPr marL="0" indent="0">
              <a:buNone/>
            </a:pPr>
            <a:r>
              <a:rPr lang="en-US" b="1" dirty="0"/>
              <a:t>Innovation</a:t>
            </a:r>
            <a:endParaRPr lang="en-US" dirty="0"/>
          </a:p>
          <a:p>
            <a:r>
              <a:rPr lang="en-US" dirty="0"/>
              <a:t>APIs empower developers to build on top of existing platforms, fostering innovation by encouraging the creation of new applications and services that leverage the capabilities of established systems.</a:t>
            </a:r>
          </a:p>
          <a:p>
            <a:pPr marL="0" indent="0">
              <a:buNone/>
            </a:pPr>
            <a:r>
              <a:rPr lang="en-US" b="1" dirty="0"/>
              <a:t>Rapid development</a:t>
            </a:r>
            <a:endParaRPr lang="en-US" dirty="0"/>
          </a:p>
          <a:p>
            <a:r>
              <a:rPr lang="en-US" dirty="0"/>
              <a:t>By </a:t>
            </a:r>
            <a:r>
              <a:rPr lang="en-US" dirty="0" err="1"/>
              <a:t>utilising</a:t>
            </a:r>
            <a:r>
              <a:rPr lang="en-US" dirty="0"/>
              <a:t> APIs, developers can accelerate the development process, as they can leverage pre-built functionalities and focus on building unique aspects of their applications.</a:t>
            </a:r>
          </a:p>
          <a:p>
            <a:pPr marL="0" indent="0">
              <a:buNone/>
            </a:pPr>
            <a:r>
              <a:rPr lang="en-US" b="1" dirty="0"/>
              <a:t>Ecosystem Expansion</a:t>
            </a:r>
            <a:endParaRPr lang="en-US" dirty="0"/>
          </a:p>
          <a:p>
            <a:r>
              <a:rPr lang="en-US" dirty="0"/>
              <a:t>APIs contribute to the growth of ecosystems as different software products can seamlessly integrate, creating a network effect where the value of each component increases as more applications join the ecosystem.</a:t>
            </a:r>
          </a:p>
          <a:p>
            <a:endParaRPr lang="en-IN" dirty="0"/>
          </a:p>
        </p:txBody>
      </p:sp>
    </p:spTree>
    <p:extLst>
      <p:ext uri="{BB962C8B-B14F-4D97-AF65-F5344CB8AC3E}">
        <p14:creationId xmlns:p14="http://schemas.microsoft.com/office/powerpoint/2010/main" val="3683245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8178D-A5E6-FF04-B782-8F05FD68D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B9555-37A9-A5C3-36C4-7C0AF8B991C8}"/>
              </a:ext>
            </a:extLst>
          </p:cNvPr>
          <p:cNvSpPr>
            <a:spLocks noGrp="1"/>
          </p:cNvSpPr>
          <p:nvPr>
            <p:ph type="title"/>
          </p:nvPr>
        </p:nvSpPr>
        <p:spPr/>
        <p:txBody>
          <a:bodyPr/>
          <a:lstStyle/>
          <a:p>
            <a:r>
              <a:rPr lang="en-US" b="1" dirty="0"/>
              <a:t>Impact of APIs</a:t>
            </a:r>
            <a:endParaRPr lang="en-IN" dirty="0"/>
          </a:p>
        </p:txBody>
      </p:sp>
      <p:sp>
        <p:nvSpPr>
          <p:cNvPr id="3" name="Content Placeholder 2">
            <a:extLst>
              <a:ext uri="{FF2B5EF4-FFF2-40B4-BE49-F238E27FC236}">
                <a16:creationId xmlns:a16="http://schemas.microsoft.com/office/drawing/2014/main" id="{C1768AC1-419A-2C40-ED19-7E550E3E7BD6}"/>
              </a:ext>
            </a:extLst>
          </p:cNvPr>
          <p:cNvSpPr>
            <a:spLocks noGrp="1"/>
          </p:cNvSpPr>
          <p:nvPr>
            <p:ph idx="1"/>
          </p:nvPr>
        </p:nvSpPr>
        <p:spPr>
          <a:xfrm>
            <a:off x="1154954" y="2603500"/>
            <a:ext cx="10438332" cy="3867280"/>
          </a:xfrm>
        </p:spPr>
        <p:txBody>
          <a:bodyPr>
            <a:normAutofit fontScale="85000" lnSpcReduction="20000"/>
          </a:bodyPr>
          <a:lstStyle/>
          <a:p>
            <a:pPr marL="0" indent="0">
              <a:buNone/>
            </a:pPr>
            <a:r>
              <a:rPr lang="en-US" b="1" dirty="0"/>
              <a:t>Business Agility</a:t>
            </a:r>
            <a:endParaRPr lang="en-US" dirty="0"/>
          </a:p>
          <a:p>
            <a:r>
              <a:rPr lang="en-US" dirty="0"/>
              <a:t>APIs enable businesses to adapt and evolve rapidly by facilitating the integration of new technologies and services.</a:t>
            </a:r>
          </a:p>
          <a:p>
            <a:r>
              <a:rPr lang="en-US" dirty="0"/>
              <a:t> This agility is crucial in the fast-paced digital landscape, where staying competitive requires swift responses to market changes.</a:t>
            </a:r>
          </a:p>
          <a:p>
            <a:pPr marL="0" indent="0">
              <a:buNone/>
            </a:pPr>
            <a:r>
              <a:rPr lang="en-US" b="1" dirty="0"/>
              <a:t>Cost Efficiency</a:t>
            </a:r>
            <a:endParaRPr lang="en-US" dirty="0"/>
          </a:p>
          <a:p>
            <a:r>
              <a:rPr lang="en-US" dirty="0"/>
              <a:t>APIs contribute to cost efficiency by allowing </a:t>
            </a:r>
            <a:r>
              <a:rPr lang="en-US" dirty="0" err="1"/>
              <a:t>organisations</a:t>
            </a:r>
            <a:r>
              <a:rPr lang="en-US" dirty="0"/>
              <a:t> to leverage existing functionalities and services, reducing the need to reinvent the wheel for every project.</a:t>
            </a:r>
          </a:p>
          <a:p>
            <a:r>
              <a:rPr lang="en-US" dirty="0"/>
              <a:t>Results in significant time and resource savings.</a:t>
            </a:r>
          </a:p>
          <a:p>
            <a:pPr marL="0" indent="0">
              <a:buNone/>
            </a:pPr>
            <a:r>
              <a:rPr lang="en-US" b="1" dirty="0"/>
              <a:t>User Experience Enhancement</a:t>
            </a:r>
            <a:endParaRPr lang="en-US" dirty="0"/>
          </a:p>
          <a:p>
            <a:r>
              <a:rPr lang="en-US" dirty="0"/>
              <a:t>APIs enable the creation of more feature-rich and connected applications, enhancing the overall user experience.</a:t>
            </a:r>
          </a:p>
          <a:p>
            <a:r>
              <a:rPr lang="en-US" dirty="0"/>
              <a:t>Integrating with third-party services and platforms through APIs allows developers to provide users with a broader range of functionalities.</a:t>
            </a:r>
          </a:p>
          <a:p>
            <a:endParaRPr lang="en-IN" dirty="0"/>
          </a:p>
        </p:txBody>
      </p:sp>
    </p:spTree>
    <p:extLst>
      <p:ext uri="{BB962C8B-B14F-4D97-AF65-F5344CB8AC3E}">
        <p14:creationId xmlns:p14="http://schemas.microsoft.com/office/powerpoint/2010/main" val="32786967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06F40-1327-5686-B57B-36B55A9D7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330A9-AF91-2150-3C16-E47A72755619}"/>
              </a:ext>
            </a:extLst>
          </p:cNvPr>
          <p:cNvSpPr>
            <a:spLocks noGrp="1"/>
          </p:cNvSpPr>
          <p:nvPr>
            <p:ph type="title"/>
          </p:nvPr>
        </p:nvSpPr>
        <p:spPr/>
        <p:txBody>
          <a:bodyPr/>
          <a:lstStyle/>
          <a:p>
            <a:r>
              <a:rPr lang="en-US" b="1" dirty="0"/>
              <a:t>Challenges and Considerations</a:t>
            </a:r>
            <a:endParaRPr lang="en-IN" dirty="0"/>
          </a:p>
        </p:txBody>
      </p:sp>
      <p:sp>
        <p:nvSpPr>
          <p:cNvPr id="3" name="Content Placeholder 2">
            <a:extLst>
              <a:ext uri="{FF2B5EF4-FFF2-40B4-BE49-F238E27FC236}">
                <a16:creationId xmlns:a16="http://schemas.microsoft.com/office/drawing/2014/main" id="{D0CE577B-237E-3522-3D36-6A5B3716F8AD}"/>
              </a:ext>
            </a:extLst>
          </p:cNvPr>
          <p:cNvSpPr>
            <a:spLocks noGrp="1"/>
          </p:cNvSpPr>
          <p:nvPr>
            <p:ph idx="1"/>
          </p:nvPr>
        </p:nvSpPr>
        <p:spPr>
          <a:xfrm>
            <a:off x="1154954" y="2603500"/>
            <a:ext cx="10438332" cy="3867280"/>
          </a:xfrm>
        </p:spPr>
        <p:txBody>
          <a:bodyPr>
            <a:normAutofit lnSpcReduction="10000"/>
          </a:bodyPr>
          <a:lstStyle/>
          <a:p>
            <a:r>
              <a:rPr lang="en-US" dirty="0"/>
              <a:t>While APIs offer numerous advantages, their implementation comes with challenges and considerations that developers and </a:t>
            </a:r>
            <a:r>
              <a:rPr lang="en-US" dirty="0" err="1"/>
              <a:t>organisations</a:t>
            </a:r>
            <a:r>
              <a:rPr lang="en-US" dirty="0"/>
              <a:t> must address.</a:t>
            </a:r>
          </a:p>
          <a:p>
            <a:pPr marL="0" indent="0">
              <a:buNone/>
            </a:pPr>
            <a:r>
              <a:rPr lang="en-US" b="1" dirty="0"/>
              <a:t>Security Concerns</a:t>
            </a:r>
            <a:endParaRPr lang="en-US" dirty="0"/>
          </a:p>
          <a:p>
            <a:r>
              <a:rPr lang="en-US" dirty="0"/>
              <a:t>APIs can be vulnerable to security threats, such as </a:t>
            </a:r>
            <a:r>
              <a:rPr lang="en-US" dirty="0" err="1"/>
              <a:t>unauthorised</a:t>
            </a:r>
            <a:r>
              <a:rPr lang="en-US" dirty="0"/>
              <a:t> access, data breaches, and injection attacks. </a:t>
            </a:r>
          </a:p>
          <a:p>
            <a:r>
              <a:rPr lang="en-US" dirty="0"/>
              <a:t>Implementing robust security measures, including authentication and encryption, is crucial to mitigate these risks.</a:t>
            </a:r>
          </a:p>
          <a:p>
            <a:pPr marL="0" indent="0">
              <a:buNone/>
            </a:pPr>
            <a:r>
              <a:rPr lang="en-US" b="1" dirty="0"/>
              <a:t>Versioning and Compatibility</a:t>
            </a:r>
            <a:endParaRPr lang="en-US" dirty="0"/>
          </a:p>
          <a:p>
            <a:r>
              <a:rPr lang="en-US" dirty="0"/>
              <a:t>As APIs evolve, maintaining backward compatibility becomes crucial to ensure that existing applications relying on the API continue to function seamlessly. </a:t>
            </a:r>
          </a:p>
          <a:p>
            <a:r>
              <a:rPr lang="en-US" dirty="0"/>
              <a:t>Proper versioning practices help manage changes without disrupting existing integrations.</a:t>
            </a:r>
          </a:p>
          <a:p>
            <a:endParaRPr lang="en-IN" dirty="0"/>
          </a:p>
        </p:txBody>
      </p:sp>
    </p:spTree>
    <p:extLst>
      <p:ext uri="{BB962C8B-B14F-4D97-AF65-F5344CB8AC3E}">
        <p14:creationId xmlns:p14="http://schemas.microsoft.com/office/powerpoint/2010/main" val="1712495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6DA81-2BDB-16FC-C599-9D2591F47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E1612-B7C7-4400-B6C2-22AB69592AD0}"/>
              </a:ext>
            </a:extLst>
          </p:cNvPr>
          <p:cNvSpPr>
            <a:spLocks noGrp="1"/>
          </p:cNvSpPr>
          <p:nvPr>
            <p:ph type="title"/>
          </p:nvPr>
        </p:nvSpPr>
        <p:spPr/>
        <p:txBody>
          <a:bodyPr/>
          <a:lstStyle/>
          <a:p>
            <a:r>
              <a:rPr lang="en-US" b="1" dirty="0"/>
              <a:t>Challenges and Considerations</a:t>
            </a:r>
            <a:endParaRPr lang="en-IN" dirty="0"/>
          </a:p>
        </p:txBody>
      </p:sp>
      <p:sp>
        <p:nvSpPr>
          <p:cNvPr id="3" name="Content Placeholder 2">
            <a:extLst>
              <a:ext uri="{FF2B5EF4-FFF2-40B4-BE49-F238E27FC236}">
                <a16:creationId xmlns:a16="http://schemas.microsoft.com/office/drawing/2014/main" id="{0D202B03-D75D-F127-B94D-C32AC20C25FF}"/>
              </a:ext>
            </a:extLst>
          </p:cNvPr>
          <p:cNvSpPr>
            <a:spLocks noGrp="1"/>
          </p:cNvSpPr>
          <p:nvPr>
            <p:ph idx="1"/>
          </p:nvPr>
        </p:nvSpPr>
        <p:spPr>
          <a:xfrm>
            <a:off x="1154954" y="2603500"/>
            <a:ext cx="10438332" cy="3867280"/>
          </a:xfrm>
        </p:spPr>
        <p:txBody>
          <a:bodyPr>
            <a:normAutofit fontScale="92500" lnSpcReduction="20000"/>
          </a:bodyPr>
          <a:lstStyle/>
          <a:p>
            <a:pPr marL="0" indent="0">
              <a:buNone/>
            </a:pPr>
            <a:r>
              <a:rPr lang="en-US" b="1" dirty="0"/>
              <a:t>Documentation</a:t>
            </a:r>
            <a:endParaRPr lang="en-US" dirty="0"/>
          </a:p>
          <a:p>
            <a:r>
              <a:rPr lang="en-US" dirty="0"/>
              <a:t>Comprehensive and up-to-date documentation is essential for developers to understand how to use an API effectively.</a:t>
            </a:r>
          </a:p>
          <a:p>
            <a:r>
              <a:rPr lang="en-US" dirty="0"/>
              <a:t> Well-documented APIs streamline the integration process and contribute to a positive developer experience.</a:t>
            </a:r>
          </a:p>
          <a:p>
            <a:r>
              <a:rPr lang="en-US" b="1" dirty="0"/>
              <a:t>Rate Limiting and Throttling</a:t>
            </a:r>
            <a:endParaRPr lang="en-US" dirty="0"/>
          </a:p>
          <a:p>
            <a:r>
              <a:rPr lang="en-US" dirty="0"/>
              <a:t>To prevent abuse and ensure fair usage, APIs often implement rate limiting and throttling mechanisms.</a:t>
            </a:r>
          </a:p>
          <a:p>
            <a:r>
              <a:rPr lang="en-US" dirty="0"/>
              <a:t> Developers need to be aware of these limitations and design their applications accordingly.</a:t>
            </a:r>
          </a:p>
          <a:p>
            <a:pPr marL="0" indent="0">
              <a:buNone/>
            </a:pPr>
            <a:r>
              <a:rPr lang="en-US" b="1" dirty="0"/>
              <a:t>Dependency Management</a:t>
            </a:r>
            <a:endParaRPr lang="en-US" dirty="0"/>
          </a:p>
          <a:p>
            <a:r>
              <a:rPr lang="en-US" dirty="0"/>
              <a:t>Relying on external APIs introduces dependencies that need to be carefully managed.</a:t>
            </a:r>
          </a:p>
          <a:p>
            <a:r>
              <a:rPr lang="en-US" dirty="0"/>
              <a:t> Changes to the API, service disruptions, or discontinuation can impact the functionality of dependent applications.</a:t>
            </a:r>
          </a:p>
          <a:p>
            <a:endParaRPr lang="en-IN" dirty="0"/>
          </a:p>
        </p:txBody>
      </p:sp>
    </p:spTree>
    <p:extLst>
      <p:ext uri="{BB962C8B-B14F-4D97-AF65-F5344CB8AC3E}">
        <p14:creationId xmlns:p14="http://schemas.microsoft.com/office/powerpoint/2010/main" val="5364515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08FA0-4D10-A6C4-7CD4-9793C6EE02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7319-B55A-C29C-43AF-D70256F62B62}"/>
              </a:ext>
            </a:extLst>
          </p:cNvPr>
          <p:cNvSpPr>
            <a:spLocks noGrp="1"/>
          </p:cNvSpPr>
          <p:nvPr>
            <p:ph type="title"/>
          </p:nvPr>
        </p:nvSpPr>
        <p:spPr/>
        <p:txBody>
          <a:bodyPr/>
          <a:lstStyle/>
          <a:p>
            <a:r>
              <a:rPr lang="en-US" b="1" dirty="0"/>
              <a:t>New Trends in API Development</a:t>
            </a:r>
            <a:endParaRPr lang="en-IN" dirty="0"/>
          </a:p>
        </p:txBody>
      </p:sp>
      <p:sp>
        <p:nvSpPr>
          <p:cNvPr id="3" name="Content Placeholder 2">
            <a:extLst>
              <a:ext uri="{FF2B5EF4-FFF2-40B4-BE49-F238E27FC236}">
                <a16:creationId xmlns:a16="http://schemas.microsoft.com/office/drawing/2014/main" id="{9F5DD4F7-2CCD-D399-99C3-703374756892}"/>
              </a:ext>
            </a:extLst>
          </p:cNvPr>
          <p:cNvSpPr>
            <a:spLocks noGrp="1"/>
          </p:cNvSpPr>
          <p:nvPr>
            <p:ph idx="1"/>
          </p:nvPr>
        </p:nvSpPr>
        <p:spPr>
          <a:xfrm>
            <a:off x="1154954" y="2603500"/>
            <a:ext cx="10438332" cy="3867280"/>
          </a:xfrm>
        </p:spPr>
        <p:txBody>
          <a:bodyPr/>
          <a:lstStyle/>
          <a:p>
            <a:r>
              <a:rPr lang="en-US" dirty="0"/>
              <a:t>As technology continues to advance, several trends are shaping the future of API development.</a:t>
            </a:r>
          </a:p>
          <a:p>
            <a:pPr marL="0" indent="0">
              <a:buNone/>
            </a:pPr>
            <a:r>
              <a:rPr lang="en-US" b="1" dirty="0" err="1"/>
              <a:t>GraphQL</a:t>
            </a:r>
            <a:endParaRPr lang="en-US" dirty="0"/>
          </a:p>
          <a:p>
            <a:r>
              <a:rPr lang="en-US" dirty="0"/>
              <a:t>A query language for APIs, it is gaining popularity for its ability to allow clients to request only the specific data they need. </a:t>
            </a:r>
          </a:p>
          <a:p>
            <a:r>
              <a:rPr lang="en-US" dirty="0"/>
              <a:t>Can lead to more efficient and flexible interactions between clients and servers.</a:t>
            </a:r>
          </a:p>
          <a:p>
            <a:pPr marL="0" indent="0">
              <a:buNone/>
            </a:pPr>
            <a:r>
              <a:rPr lang="en-US" b="1" dirty="0"/>
              <a:t>Serverless Architectures</a:t>
            </a:r>
            <a:endParaRPr lang="en-US" dirty="0"/>
          </a:p>
          <a:p>
            <a:r>
              <a:rPr lang="en-US" dirty="0"/>
              <a:t>Serverless computing, where developers focus on writing code without managing server infrastructure, is influencing API development. </a:t>
            </a:r>
          </a:p>
          <a:p>
            <a:r>
              <a:rPr lang="en-US" dirty="0"/>
              <a:t>Serverless architectures can be more cost-effective and scalable.</a:t>
            </a:r>
          </a:p>
          <a:p>
            <a:endParaRPr lang="en-IN" dirty="0"/>
          </a:p>
        </p:txBody>
      </p:sp>
    </p:spTree>
    <p:extLst>
      <p:ext uri="{BB962C8B-B14F-4D97-AF65-F5344CB8AC3E}">
        <p14:creationId xmlns:p14="http://schemas.microsoft.com/office/powerpoint/2010/main" val="63621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CF458-6446-F808-3B9E-62EEC6276E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68DBF1-6DF4-F10E-D85B-243D5207FFEA}"/>
              </a:ext>
            </a:extLst>
          </p:cNvPr>
          <p:cNvSpPr>
            <a:spLocks noGrp="1"/>
          </p:cNvSpPr>
          <p:nvPr>
            <p:ph type="title"/>
          </p:nvPr>
        </p:nvSpPr>
        <p:spPr/>
        <p:txBody>
          <a:bodyPr/>
          <a:lstStyle/>
          <a:p>
            <a:r>
              <a:rPr lang="en-US" b="1" dirty="0"/>
              <a:t>New Trends in API Development</a:t>
            </a:r>
            <a:endParaRPr lang="en-IN" dirty="0"/>
          </a:p>
        </p:txBody>
      </p:sp>
      <p:sp>
        <p:nvSpPr>
          <p:cNvPr id="3" name="Content Placeholder 2">
            <a:extLst>
              <a:ext uri="{FF2B5EF4-FFF2-40B4-BE49-F238E27FC236}">
                <a16:creationId xmlns:a16="http://schemas.microsoft.com/office/drawing/2014/main" id="{877BAE5D-BA83-DD2F-3A97-E287E49A3580}"/>
              </a:ext>
            </a:extLst>
          </p:cNvPr>
          <p:cNvSpPr>
            <a:spLocks noGrp="1"/>
          </p:cNvSpPr>
          <p:nvPr>
            <p:ph idx="1"/>
          </p:nvPr>
        </p:nvSpPr>
        <p:spPr>
          <a:xfrm>
            <a:off x="1154954" y="2603500"/>
            <a:ext cx="10438332" cy="3867280"/>
          </a:xfrm>
        </p:spPr>
        <p:txBody>
          <a:bodyPr>
            <a:normAutofit fontScale="92500" lnSpcReduction="20000"/>
          </a:bodyPr>
          <a:lstStyle/>
          <a:p>
            <a:pPr marL="0" indent="0">
              <a:buNone/>
            </a:pPr>
            <a:r>
              <a:rPr lang="en-US" b="1" dirty="0"/>
              <a:t>API Gateways</a:t>
            </a:r>
            <a:endParaRPr lang="en-US" dirty="0"/>
          </a:p>
          <a:p>
            <a:r>
              <a:rPr lang="en-US" dirty="0"/>
              <a:t>API gateways are becoming more sophisticated, offering features like traffic management, security, and analytics. </a:t>
            </a:r>
          </a:p>
          <a:p>
            <a:r>
              <a:rPr lang="en-US" dirty="0"/>
              <a:t>Act as </a:t>
            </a:r>
            <a:r>
              <a:rPr lang="en-US" dirty="0" err="1"/>
              <a:t>centralised</a:t>
            </a:r>
            <a:r>
              <a:rPr lang="en-US" dirty="0"/>
              <a:t> points for managing and securing API interactions.</a:t>
            </a:r>
          </a:p>
          <a:p>
            <a:pPr marL="0" indent="0">
              <a:buNone/>
            </a:pPr>
            <a:r>
              <a:rPr lang="en-US" b="1" dirty="0"/>
              <a:t>Event-driven APIs</a:t>
            </a:r>
            <a:endParaRPr lang="en-US" dirty="0"/>
          </a:p>
          <a:p>
            <a:r>
              <a:rPr lang="en-US" dirty="0"/>
              <a:t>Event-driven architectures are gaining traction, allowing applications to respond to events in real time. </a:t>
            </a:r>
          </a:p>
          <a:p>
            <a:r>
              <a:rPr lang="en-US" dirty="0"/>
              <a:t>APIs play a crucial role in facilitating communication between event producers and consumers.</a:t>
            </a:r>
          </a:p>
          <a:p>
            <a:pPr marL="0" indent="0">
              <a:buNone/>
            </a:pPr>
            <a:r>
              <a:rPr lang="en-US" b="1" dirty="0"/>
              <a:t>Hypermedia APIs</a:t>
            </a:r>
            <a:endParaRPr lang="en-US" dirty="0"/>
          </a:p>
          <a:p>
            <a:r>
              <a:rPr lang="en-US" dirty="0"/>
              <a:t>Hypermedia APIs include hypermedia links in responses, providing clients with information on how to navigate the API dynamically. </a:t>
            </a:r>
          </a:p>
          <a:p>
            <a:r>
              <a:rPr lang="en-US" dirty="0"/>
              <a:t>Can enhance the discoverability and usability of APIs.</a:t>
            </a:r>
          </a:p>
          <a:p>
            <a:endParaRPr lang="en-IN" dirty="0"/>
          </a:p>
        </p:txBody>
      </p:sp>
    </p:spTree>
    <p:extLst>
      <p:ext uri="{BB962C8B-B14F-4D97-AF65-F5344CB8AC3E}">
        <p14:creationId xmlns:p14="http://schemas.microsoft.com/office/powerpoint/2010/main" val="31559733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B9560-E85D-66C2-C07C-B0EE4A738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0CC04-61BD-3FB5-A190-214DA49DCDDD}"/>
              </a:ext>
            </a:extLst>
          </p:cNvPr>
          <p:cNvSpPr>
            <a:spLocks noGrp="1"/>
          </p:cNvSpPr>
          <p:nvPr>
            <p:ph type="title"/>
          </p:nvPr>
        </p:nvSpPr>
        <p:spPr/>
        <p:txBody>
          <a:bodyPr/>
          <a:lstStyle/>
          <a:p>
            <a:r>
              <a:rPr lang="en-US" b="1" dirty="0"/>
              <a:t>How Application Programming Interfaces (APIs) Work?</a:t>
            </a:r>
            <a:endParaRPr lang="en-IN" dirty="0"/>
          </a:p>
        </p:txBody>
      </p:sp>
      <p:sp>
        <p:nvSpPr>
          <p:cNvPr id="3" name="Content Placeholder 2">
            <a:extLst>
              <a:ext uri="{FF2B5EF4-FFF2-40B4-BE49-F238E27FC236}">
                <a16:creationId xmlns:a16="http://schemas.microsoft.com/office/drawing/2014/main" id="{0B89437C-1DDD-9438-72C2-11D35566E3D3}"/>
              </a:ext>
            </a:extLst>
          </p:cNvPr>
          <p:cNvSpPr>
            <a:spLocks noGrp="1"/>
          </p:cNvSpPr>
          <p:nvPr>
            <p:ph idx="1"/>
          </p:nvPr>
        </p:nvSpPr>
        <p:spPr>
          <a:xfrm>
            <a:off x="1154954" y="2603500"/>
            <a:ext cx="10438332" cy="3867280"/>
          </a:xfrm>
        </p:spPr>
        <p:txBody>
          <a:bodyPr>
            <a:normAutofit fontScale="92500" lnSpcReduction="20000"/>
          </a:bodyPr>
          <a:lstStyle/>
          <a:p>
            <a:r>
              <a:rPr lang="en-US" dirty="0"/>
              <a:t>APIs follow a request-and-response system. </a:t>
            </a:r>
          </a:p>
          <a:p>
            <a:r>
              <a:rPr lang="en-US" dirty="0"/>
              <a:t>One software sends a request, and the API delivers a response from another service. </a:t>
            </a:r>
          </a:p>
          <a:p>
            <a:r>
              <a:rPr lang="en-US" dirty="0"/>
              <a:t>This communication follows a set structure so both sides understand each other.</a:t>
            </a:r>
          </a:p>
          <a:p>
            <a:r>
              <a:rPr lang="en-US" b="1" dirty="0"/>
              <a:t>Client:</a:t>
            </a:r>
            <a:r>
              <a:rPr lang="en-US" dirty="0"/>
              <a:t> The app or website that needs data or functionality. For example, a travel app wants to get flight prices.</a:t>
            </a:r>
          </a:p>
          <a:p>
            <a:r>
              <a:rPr lang="en-US" b="1" dirty="0"/>
              <a:t>API Request: </a:t>
            </a:r>
            <a:r>
              <a:rPr lang="en-US" dirty="0"/>
              <a:t>The app sends a message to the API asking for specific information or action. For example, it can ask for available flights between New York and London on a selected date.</a:t>
            </a:r>
          </a:p>
          <a:p>
            <a:r>
              <a:rPr lang="en-US" b="1" dirty="0"/>
              <a:t>Server</a:t>
            </a:r>
            <a:r>
              <a:rPr lang="en-US" dirty="0"/>
              <a:t>: The API receives the request, processes it, and connects with the service or database.</a:t>
            </a:r>
          </a:p>
          <a:p>
            <a:r>
              <a:rPr lang="en-US" b="1" dirty="0"/>
              <a:t>API Response:</a:t>
            </a:r>
            <a:r>
              <a:rPr lang="en-US" dirty="0"/>
              <a:t> The server sends back the needed data in a format the app can understand, like JSON or XML. In the flight example, the response would be a list of available flights and prices.</a:t>
            </a:r>
          </a:p>
          <a:p>
            <a:r>
              <a:rPr lang="en-US" b="1" dirty="0"/>
              <a:t>APIs also include rules on what data can be shared, who can access it, and how secure the communication is. This keeps systems safe while allowing them to work together smoothly.</a:t>
            </a:r>
          </a:p>
          <a:p>
            <a:endParaRPr lang="en-IN" dirty="0"/>
          </a:p>
        </p:txBody>
      </p:sp>
    </p:spTree>
    <p:extLst>
      <p:ext uri="{BB962C8B-B14F-4D97-AF65-F5344CB8AC3E}">
        <p14:creationId xmlns:p14="http://schemas.microsoft.com/office/powerpoint/2010/main" val="28472361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EC36A-E1B3-1C82-19E0-04D6B9533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F644D-4275-5011-737F-ED1BA5AE8DB1}"/>
              </a:ext>
            </a:extLst>
          </p:cNvPr>
          <p:cNvSpPr>
            <a:spLocks noGrp="1"/>
          </p:cNvSpPr>
          <p:nvPr>
            <p:ph type="title"/>
          </p:nvPr>
        </p:nvSpPr>
        <p:spPr/>
        <p:txBody>
          <a:bodyPr/>
          <a:lstStyle/>
          <a:p>
            <a:r>
              <a:rPr lang="en-US" b="1" dirty="0"/>
              <a:t>Applications of APIs in the real world</a:t>
            </a:r>
            <a:endParaRPr lang="en-IN" dirty="0"/>
          </a:p>
        </p:txBody>
      </p:sp>
      <p:sp>
        <p:nvSpPr>
          <p:cNvPr id="3" name="Content Placeholder 2">
            <a:extLst>
              <a:ext uri="{FF2B5EF4-FFF2-40B4-BE49-F238E27FC236}">
                <a16:creationId xmlns:a16="http://schemas.microsoft.com/office/drawing/2014/main" id="{D0193105-63A3-32AB-BF3B-0E70FB32CBA2}"/>
              </a:ext>
            </a:extLst>
          </p:cNvPr>
          <p:cNvSpPr>
            <a:spLocks noGrp="1"/>
          </p:cNvSpPr>
          <p:nvPr>
            <p:ph idx="1"/>
          </p:nvPr>
        </p:nvSpPr>
        <p:spPr>
          <a:xfrm>
            <a:off x="1154954" y="2603500"/>
            <a:ext cx="10438332" cy="3867280"/>
          </a:xfrm>
        </p:spPr>
        <p:txBody>
          <a:bodyPr/>
          <a:lstStyle/>
          <a:p>
            <a:pPr fontAlgn="base"/>
            <a:r>
              <a:rPr lang="en-US" dirty="0"/>
              <a:t>APIs allow different software and application to integrate seamlessly for providing a better experience to users. </a:t>
            </a:r>
          </a:p>
          <a:p>
            <a:pPr fontAlgn="base"/>
            <a:r>
              <a:rPr lang="en-US" dirty="0"/>
              <a:t>API is such a powerful concept after using which software can unlock the possibilities of innovation and productivity. </a:t>
            </a:r>
          </a:p>
          <a:p>
            <a:pPr fontAlgn="base"/>
            <a:r>
              <a:rPr lang="en-US" dirty="0"/>
              <a:t>There is a very high chance that whatever online application we use today, has API integration in it. </a:t>
            </a:r>
            <a:endParaRPr lang="en-IN" dirty="0"/>
          </a:p>
        </p:txBody>
      </p:sp>
    </p:spTree>
    <p:extLst>
      <p:ext uri="{BB962C8B-B14F-4D97-AF65-F5344CB8AC3E}">
        <p14:creationId xmlns:p14="http://schemas.microsoft.com/office/powerpoint/2010/main" val="2653024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02818-B48E-477E-7E5D-04E7BD3CE9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5A0D0-3D95-286F-6E27-8FF4BD2DAD2F}"/>
              </a:ext>
            </a:extLst>
          </p:cNvPr>
          <p:cNvSpPr>
            <a:spLocks noGrp="1"/>
          </p:cNvSpPr>
          <p:nvPr>
            <p:ph type="title"/>
          </p:nvPr>
        </p:nvSpPr>
        <p:spPr/>
        <p:txBody>
          <a:bodyPr/>
          <a:lstStyle/>
          <a:p>
            <a:r>
              <a:rPr lang="en-US" b="1" dirty="0"/>
              <a:t>Applications of APIs in the real world</a:t>
            </a:r>
            <a:endParaRPr lang="en-IN" dirty="0"/>
          </a:p>
        </p:txBody>
      </p:sp>
      <p:sp>
        <p:nvSpPr>
          <p:cNvPr id="3" name="Content Placeholder 2">
            <a:extLst>
              <a:ext uri="{FF2B5EF4-FFF2-40B4-BE49-F238E27FC236}">
                <a16:creationId xmlns:a16="http://schemas.microsoft.com/office/drawing/2014/main" id="{8ACEF02C-4F35-B348-95CA-1B4F6624C459}"/>
              </a:ext>
            </a:extLst>
          </p:cNvPr>
          <p:cNvSpPr>
            <a:spLocks noGrp="1"/>
          </p:cNvSpPr>
          <p:nvPr>
            <p:ph idx="1"/>
          </p:nvPr>
        </p:nvSpPr>
        <p:spPr>
          <a:xfrm>
            <a:off x="1154954" y="2603500"/>
            <a:ext cx="10438332" cy="3867280"/>
          </a:xfrm>
        </p:spPr>
        <p:txBody>
          <a:bodyPr/>
          <a:lstStyle/>
          <a:p>
            <a:pPr fontAlgn="base"/>
            <a:r>
              <a:rPr lang="en-US" b="1" dirty="0"/>
              <a:t>Weather Snippets</a:t>
            </a:r>
          </a:p>
          <a:p>
            <a:pPr fontAlgn="base"/>
            <a:r>
              <a:rPr lang="en-US" dirty="0"/>
              <a:t>In weather snippets, APIs are generally used to access a large set of datasets to access the information of weather forecasts which is very helpful information in day-to-day life.</a:t>
            </a:r>
          </a:p>
          <a:p>
            <a:pPr fontAlgn="base"/>
            <a:r>
              <a:rPr lang="en-US" dirty="0"/>
              <a:t> Not all companies have money to send their satellite into space to collect the data, so they use the API of large companies and organizations like </a:t>
            </a:r>
            <a:r>
              <a:rPr lang="en-US" b="1" dirty="0"/>
              <a:t>ISRO</a:t>
            </a:r>
            <a:r>
              <a:rPr lang="en-US" dirty="0"/>
              <a:t> and </a:t>
            </a:r>
            <a:r>
              <a:rPr lang="en-US" b="1" dirty="0"/>
              <a:t>NASA</a:t>
            </a:r>
            <a:r>
              <a:rPr lang="en-US" dirty="0"/>
              <a:t> to collect data and on top of that these companies predict data and provide their report to the users. </a:t>
            </a:r>
          </a:p>
          <a:p>
            <a:pPr fontAlgn="base"/>
            <a:r>
              <a:rPr lang="en-US" dirty="0"/>
              <a:t>One of the very important applications of API, which is very popular and useful to the common people as well.</a:t>
            </a:r>
          </a:p>
          <a:p>
            <a:endParaRPr lang="en-IN" dirty="0"/>
          </a:p>
        </p:txBody>
      </p:sp>
    </p:spTree>
    <p:extLst>
      <p:ext uri="{BB962C8B-B14F-4D97-AF65-F5344CB8AC3E}">
        <p14:creationId xmlns:p14="http://schemas.microsoft.com/office/powerpoint/2010/main" val="806038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B7719-AF6E-E6E0-7302-5E69462BB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9D072-D74C-4D9B-6E25-21995F873F15}"/>
              </a:ext>
            </a:extLst>
          </p:cNvPr>
          <p:cNvSpPr>
            <a:spLocks noGrp="1"/>
          </p:cNvSpPr>
          <p:nvPr>
            <p:ph type="title"/>
          </p:nvPr>
        </p:nvSpPr>
        <p:spPr/>
        <p:txBody>
          <a:bodyPr/>
          <a:lstStyle/>
          <a:p>
            <a:r>
              <a:rPr lang="en-US" b="1" dirty="0"/>
              <a:t>Applications of APIs in the real world</a:t>
            </a:r>
            <a:endParaRPr lang="en-IN" dirty="0"/>
          </a:p>
        </p:txBody>
      </p:sp>
      <p:sp>
        <p:nvSpPr>
          <p:cNvPr id="3" name="Content Placeholder 2">
            <a:extLst>
              <a:ext uri="{FF2B5EF4-FFF2-40B4-BE49-F238E27FC236}">
                <a16:creationId xmlns:a16="http://schemas.microsoft.com/office/drawing/2014/main" id="{E3C24E02-1A1B-E166-1142-317902A37A09}"/>
              </a:ext>
            </a:extLst>
          </p:cNvPr>
          <p:cNvSpPr>
            <a:spLocks noGrp="1"/>
          </p:cNvSpPr>
          <p:nvPr>
            <p:ph idx="1"/>
          </p:nvPr>
        </p:nvSpPr>
        <p:spPr>
          <a:xfrm>
            <a:off x="1154954" y="2603500"/>
            <a:ext cx="10438332" cy="3867280"/>
          </a:xfrm>
        </p:spPr>
        <p:txBody>
          <a:bodyPr/>
          <a:lstStyle/>
          <a:p>
            <a:pPr fontAlgn="base"/>
            <a:r>
              <a:rPr lang="en-US" b="1" dirty="0"/>
              <a:t>Login</a:t>
            </a:r>
          </a:p>
          <a:p>
            <a:pPr fontAlgn="base"/>
            <a:r>
              <a:rPr lang="en-US" dirty="0"/>
              <a:t>In this functionality, APIs are widely used to log in via </a:t>
            </a:r>
            <a:r>
              <a:rPr lang="en-US" b="1" dirty="0"/>
              <a:t>Google</a:t>
            </a:r>
            <a:r>
              <a:rPr lang="en-US" dirty="0"/>
              <a:t>, </a:t>
            </a:r>
            <a:r>
              <a:rPr lang="en-US" b="1" dirty="0"/>
              <a:t>Linked</a:t>
            </a:r>
            <a:r>
              <a:rPr lang="en-US" dirty="0"/>
              <a:t> </a:t>
            </a:r>
            <a:r>
              <a:rPr lang="en-US" b="1" dirty="0"/>
              <a:t>In</a:t>
            </a:r>
            <a:r>
              <a:rPr lang="en-US" dirty="0"/>
              <a:t>, </a:t>
            </a:r>
            <a:r>
              <a:rPr lang="en-US" b="1" dirty="0"/>
              <a:t>Git</a:t>
            </a:r>
            <a:r>
              <a:rPr lang="en-US" dirty="0"/>
              <a:t> </a:t>
            </a:r>
            <a:r>
              <a:rPr lang="en-US" b="1" dirty="0"/>
              <a:t>Hub</a:t>
            </a:r>
            <a:r>
              <a:rPr lang="en-US" dirty="0"/>
              <a:t>, and </a:t>
            </a:r>
            <a:r>
              <a:rPr lang="en-US" b="1" dirty="0"/>
              <a:t>Twitter</a:t>
            </a:r>
            <a:r>
              <a:rPr lang="en-US" dirty="0"/>
              <a:t> and allow users to access the log-in portal by using the API interface. </a:t>
            </a:r>
          </a:p>
          <a:p>
            <a:pPr fontAlgn="base"/>
            <a:r>
              <a:rPr lang="en-US" dirty="0"/>
              <a:t>See to prevent the cost of the database, many companies use authentication of large companies, like Google authentication, because it is a win-win situation for both the user and the company. </a:t>
            </a:r>
          </a:p>
          <a:p>
            <a:pPr fontAlgn="base"/>
            <a:r>
              <a:rPr lang="en-US" dirty="0"/>
              <a:t>A user can have access to the information hassle-free, while companies get the required data of the user. </a:t>
            </a:r>
          </a:p>
          <a:p>
            <a:pPr fontAlgn="base"/>
            <a:r>
              <a:rPr lang="en-US" dirty="0"/>
              <a:t>And all these things can be done by the APIs because large companies like Google provide the required endpoint to use their system and data.</a:t>
            </a:r>
          </a:p>
          <a:p>
            <a:endParaRPr lang="en-IN" dirty="0"/>
          </a:p>
        </p:txBody>
      </p:sp>
    </p:spTree>
    <p:extLst>
      <p:ext uri="{BB962C8B-B14F-4D97-AF65-F5344CB8AC3E}">
        <p14:creationId xmlns:p14="http://schemas.microsoft.com/office/powerpoint/2010/main" val="25610603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6DFCF-8B29-DC9F-6846-C584037E6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8C5AC-D06F-506B-BA88-F8C597EA74A3}"/>
              </a:ext>
            </a:extLst>
          </p:cNvPr>
          <p:cNvSpPr>
            <a:spLocks noGrp="1"/>
          </p:cNvSpPr>
          <p:nvPr>
            <p:ph type="title"/>
          </p:nvPr>
        </p:nvSpPr>
        <p:spPr/>
        <p:txBody>
          <a:bodyPr/>
          <a:lstStyle/>
          <a:p>
            <a:r>
              <a:rPr lang="en-US" b="1" dirty="0"/>
              <a:t>Applications of APIs in the real world</a:t>
            </a:r>
            <a:endParaRPr lang="en-IN" dirty="0"/>
          </a:p>
        </p:txBody>
      </p:sp>
      <p:sp>
        <p:nvSpPr>
          <p:cNvPr id="3" name="Content Placeholder 2">
            <a:extLst>
              <a:ext uri="{FF2B5EF4-FFF2-40B4-BE49-F238E27FC236}">
                <a16:creationId xmlns:a16="http://schemas.microsoft.com/office/drawing/2014/main" id="{194E199A-6C13-551E-94ED-81A33F9894BB}"/>
              </a:ext>
            </a:extLst>
          </p:cNvPr>
          <p:cNvSpPr>
            <a:spLocks noGrp="1"/>
          </p:cNvSpPr>
          <p:nvPr>
            <p:ph idx="1"/>
          </p:nvPr>
        </p:nvSpPr>
        <p:spPr>
          <a:xfrm>
            <a:off x="1154954" y="2603500"/>
            <a:ext cx="10438332" cy="3867280"/>
          </a:xfrm>
        </p:spPr>
        <p:txBody>
          <a:bodyPr/>
          <a:lstStyle/>
          <a:p>
            <a:pPr fontAlgn="base"/>
            <a:r>
              <a:rPr lang="en-US" b="1" dirty="0"/>
              <a:t>Entertainment</a:t>
            </a:r>
          </a:p>
          <a:p>
            <a:pPr fontAlgn="base"/>
            <a:r>
              <a:rPr lang="en-US" dirty="0"/>
              <a:t>In this field, </a:t>
            </a:r>
            <a:r>
              <a:rPr lang="en-US" b="1" dirty="0"/>
              <a:t>APIs are used to access and provide a huge set of databases to access movies, web series, comedies, etc</a:t>
            </a:r>
            <a:r>
              <a:rPr lang="en-US" dirty="0"/>
              <a:t>.</a:t>
            </a:r>
          </a:p>
          <a:p>
            <a:pPr fontAlgn="base"/>
            <a:r>
              <a:rPr lang="en-US" dirty="0"/>
              <a:t> The use of </a:t>
            </a:r>
            <a:r>
              <a:rPr lang="en-US" dirty="0" err="1"/>
              <a:t>Youtube</a:t>
            </a:r>
            <a:r>
              <a:rPr lang="en-US" dirty="0"/>
              <a:t> in different blog websites is a very common example of it, you have seen that almost every website has linked </a:t>
            </a:r>
            <a:r>
              <a:rPr lang="en-US" dirty="0" err="1"/>
              <a:t>youtube</a:t>
            </a:r>
            <a:r>
              <a:rPr lang="en-US" dirty="0"/>
              <a:t> videos, this can happen with the help of API because </a:t>
            </a:r>
            <a:r>
              <a:rPr lang="en-US" dirty="0" err="1"/>
              <a:t>Youtube</a:t>
            </a:r>
            <a:r>
              <a:rPr lang="en-US" dirty="0"/>
              <a:t> has endpoints that developers can use to integrate the video into their website it will lead them to </a:t>
            </a:r>
            <a:r>
              <a:rPr lang="en-US" i="1" dirty="0"/>
              <a:t>cost reduction and better optimization</a:t>
            </a:r>
            <a:r>
              <a:rPr lang="en-US" dirty="0"/>
              <a:t> of the database as well.</a:t>
            </a:r>
          </a:p>
          <a:p>
            <a:endParaRPr lang="en-IN" dirty="0"/>
          </a:p>
        </p:txBody>
      </p:sp>
    </p:spTree>
    <p:extLst>
      <p:ext uri="{BB962C8B-B14F-4D97-AF65-F5344CB8AC3E}">
        <p14:creationId xmlns:p14="http://schemas.microsoft.com/office/powerpoint/2010/main" val="2143827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F46E3-51FA-FF06-A7D8-7BA297885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E9D2E-6316-56CE-EF92-1C637F37B37C}"/>
              </a:ext>
            </a:extLst>
          </p:cNvPr>
          <p:cNvSpPr>
            <a:spLocks noGrp="1"/>
          </p:cNvSpPr>
          <p:nvPr>
            <p:ph type="title"/>
          </p:nvPr>
        </p:nvSpPr>
        <p:spPr/>
        <p:txBody>
          <a:bodyPr/>
          <a:lstStyle/>
          <a:p>
            <a:r>
              <a:rPr lang="en-US" b="1" dirty="0"/>
              <a:t>Applications of APIs in the real world</a:t>
            </a:r>
            <a:endParaRPr lang="en-IN" dirty="0"/>
          </a:p>
        </p:txBody>
      </p:sp>
      <p:sp>
        <p:nvSpPr>
          <p:cNvPr id="3" name="Content Placeholder 2">
            <a:extLst>
              <a:ext uri="{FF2B5EF4-FFF2-40B4-BE49-F238E27FC236}">
                <a16:creationId xmlns:a16="http://schemas.microsoft.com/office/drawing/2014/main" id="{D408673E-3E67-7447-A64E-325D4AAC182B}"/>
              </a:ext>
            </a:extLst>
          </p:cNvPr>
          <p:cNvSpPr>
            <a:spLocks noGrp="1"/>
          </p:cNvSpPr>
          <p:nvPr>
            <p:ph idx="1"/>
          </p:nvPr>
        </p:nvSpPr>
        <p:spPr>
          <a:xfrm>
            <a:off x="1154954" y="2603500"/>
            <a:ext cx="10438332" cy="3867280"/>
          </a:xfrm>
        </p:spPr>
        <p:txBody>
          <a:bodyPr/>
          <a:lstStyle/>
          <a:p>
            <a:pPr fontAlgn="base"/>
            <a:r>
              <a:rPr lang="en-US" b="1" dirty="0"/>
              <a:t>E-commerce Website</a:t>
            </a:r>
          </a:p>
          <a:p>
            <a:pPr fontAlgn="base"/>
            <a:r>
              <a:rPr lang="en-US" dirty="0"/>
              <a:t>In this, APIs provide functionality like if you have purchased something, and now you want to pay so, API provides an interface where you can pay using different bank debit cards, </a:t>
            </a:r>
            <a:r>
              <a:rPr lang="en-US" b="1" u="sng" dirty="0">
                <a:hlinkClick r:id="rId2"/>
              </a:rPr>
              <a:t>UPI</a:t>
            </a:r>
            <a:r>
              <a:rPr lang="en-US" dirty="0"/>
              <a:t>(Unified Payments Interface), credit cards, wallet, etc. </a:t>
            </a:r>
          </a:p>
          <a:p>
            <a:pPr fontAlgn="base"/>
            <a:r>
              <a:rPr lang="en-US" dirty="0"/>
              <a:t>Payment integration has solved a lot of problems in the modern day and UPI is a classic example of it.</a:t>
            </a:r>
          </a:p>
          <a:p>
            <a:pPr fontAlgn="base"/>
            <a:r>
              <a:rPr lang="en-US" dirty="0"/>
              <a:t>Can purchase everything in seconds with some clicks. </a:t>
            </a:r>
          </a:p>
          <a:p>
            <a:pPr fontAlgn="base"/>
            <a:r>
              <a:rPr lang="en-US" dirty="0"/>
              <a:t>It's all thanks to the API. </a:t>
            </a:r>
          </a:p>
          <a:p>
            <a:pPr fontAlgn="base"/>
            <a:r>
              <a:rPr lang="en-US" dirty="0"/>
              <a:t>Companies use the payment app integration to their websites with the help of their API endpoints and in return, they give them a monthly fee or some percentage share, but it leads to a better customer experience.</a:t>
            </a:r>
          </a:p>
          <a:p>
            <a:endParaRPr lang="en-IN" dirty="0"/>
          </a:p>
        </p:txBody>
      </p:sp>
    </p:spTree>
    <p:extLst>
      <p:ext uri="{BB962C8B-B14F-4D97-AF65-F5344CB8AC3E}">
        <p14:creationId xmlns:p14="http://schemas.microsoft.com/office/powerpoint/2010/main" val="40139862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6EB70-89E2-E052-08C1-65DC244553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A9E33-EFD5-6953-F6D0-38075E2782E8}"/>
              </a:ext>
            </a:extLst>
          </p:cNvPr>
          <p:cNvSpPr>
            <a:spLocks noGrp="1"/>
          </p:cNvSpPr>
          <p:nvPr>
            <p:ph type="title"/>
          </p:nvPr>
        </p:nvSpPr>
        <p:spPr/>
        <p:txBody>
          <a:bodyPr/>
          <a:lstStyle/>
          <a:p>
            <a:r>
              <a:rPr lang="en-US" b="1" dirty="0"/>
              <a:t>Applications of APIs in the real world</a:t>
            </a:r>
            <a:endParaRPr lang="en-IN" dirty="0"/>
          </a:p>
        </p:txBody>
      </p:sp>
      <p:sp>
        <p:nvSpPr>
          <p:cNvPr id="3" name="Content Placeholder 2">
            <a:extLst>
              <a:ext uri="{FF2B5EF4-FFF2-40B4-BE49-F238E27FC236}">
                <a16:creationId xmlns:a16="http://schemas.microsoft.com/office/drawing/2014/main" id="{F1AB7DCC-385C-35F9-86E9-CE53B3683F8A}"/>
              </a:ext>
            </a:extLst>
          </p:cNvPr>
          <p:cNvSpPr>
            <a:spLocks noGrp="1"/>
          </p:cNvSpPr>
          <p:nvPr>
            <p:ph idx="1"/>
          </p:nvPr>
        </p:nvSpPr>
        <p:spPr>
          <a:xfrm>
            <a:off x="1154954" y="2603500"/>
            <a:ext cx="10438332" cy="3867280"/>
          </a:xfrm>
        </p:spPr>
        <p:txBody>
          <a:bodyPr/>
          <a:lstStyle/>
          <a:p>
            <a:pPr fontAlgn="base"/>
            <a:r>
              <a:rPr lang="en-US" b="1" dirty="0"/>
              <a:t>Gaming</a:t>
            </a:r>
          </a:p>
          <a:p>
            <a:pPr fontAlgn="base"/>
            <a:r>
              <a:rPr lang="en-US" dirty="0"/>
              <a:t>In gaming, it provides an interface where you can access the information of the game, and you can connect to different users and play with different-different users at the same time. </a:t>
            </a:r>
          </a:p>
          <a:p>
            <a:pPr fontAlgn="base"/>
            <a:r>
              <a:rPr lang="en-US" dirty="0"/>
              <a:t>There are many features of gaming that you have used seamlessly but they are integrated into games with the help of API and it is one of the </a:t>
            </a:r>
            <a:r>
              <a:rPr lang="en-US" b="1" dirty="0"/>
              <a:t>best applications of API</a:t>
            </a:r>
            <a:r>
              <a:rPr lang="en-US" dirty="0"/>
              <a:t> you can share your achievements on social media with the help of Social Media APIs, also Payment APIs, for in-app purchase. </a:t>
            </a:r>
          </a:p>
          <a:p>
            <a:pPr fontAlgn="base"/>
            <a:r>
              <a:rPr lang="en-US" dirty="0"/>
              <a:t>Similarly, there are multiple APIs involved in Games like </a:t>
            </a:r>
            <a:r>
              <a:rPr lang="en-US" dirty="0" err="1"/>
              <a:t>AUdio</a:t>
            </a:r>
            <a:r>
              <a:rPr lang="en-US" dirty="0"/>
              <a:t> API, and Graphics API, to make the experience very smooth.</a:t>
            </a:r>
          </a:p>
          <a:p>
            <a:endParaRPr lang="en-IN" dirty="0"/>
          </a:p>
        </p:txBody>
      </p:sp>
    </p:spTree>
    <p:extLst>
      <p:ext uri="{BB962C8B-B14F-4D97-AF65-F5344CB8AC3E}">
        <p14:creationId xmlns:p14="http://schemas.microsoft.com/office/powerpoint/2010/main" val="6945206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B1271-8287-E6F8-B462-955AD880B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1451B-24B7-B151-E433-77A7895ED734}"/>
              </a:ext>
            </a:extLst>
          </p:cNvPr>
          <p:cNvSpPr>
            <a:spLocks noGrp="1"/>
          </p:cNvSpPr>
          <p:nvPr>
            <p:ph type="title"/>
          </p:nvPr>
        </p:nvSpPr>
        <p:spPr/>
        <p:txBody>
          <a:bodyPr/>
          <a:lstStyle/>
          <a:p>
            <a:r>
              <a:rPr lang="en-IN" b="1" dirty="0"/>
              <a:t>Social Media API Examples</a:t>
            </a:r>
            <a:endParaRPr lang="en-IN" dirty="0"/>
          </a:p>
        </p:txBody>
      </p:sp>
      <p:sp>
        <p:nvSpPr>
          <p:cNvPr id="3" name="Content Placeholder 2">
            <a:extLst>
              <a:ext uri="{FF2B5EF4-FFF2-40B4-BE49-F238E27FC236}">
                <a16:creationId xmlns:a16="http://schemas.microsoft.com/office/drawing/2014/main" id="{38EBC815-A6DA-9DF4-12D3-44BFE19B6A1B}"/>
              </a:ext>
            </a:extLst>
          </p:cNvPr>
          <p:cNvSpPr>
            <a:spLocks noGrp="1"/>
          </p:cNvSpPr>
          <p:nvPr>
            <p:ph idx="1"/>
          </p:nvPr>
        </p:nvSpPr>
        <p:spPr>
          <a:xfrm>
            <a:off x="1154954" y="2603500"/>
            <a:ext cx="10438332" cy="3867280"/>
          </a:xfrm>
        </p:spPr>
        <p:txBody>
          <a:bodyPr/>
          <a:lstStyle/>
          <a:p>
            <a:r>
              <a:rPr lang="en-US" b="1" dirty="0"/>
              <a:t>Twitter API</a:t>
            </a:r>
            <a:endParaRPr lang="en-US" dirty="0"/>
          </a:p>
          <a:p>
            <a:r>
              <a:rPr lang="en-US" dirty="0"/>
              <a:t>Twitter API lets developers access Twitter’s platform data and features like tweets, user profiles, and trends. </a:t>
            </a:r>
          </a:p>
          <a:p>
            <a:r>
              <a:rPr lang="en-US" dirty="0"/>
              <a:t>Offers multiple APIs: </a:t>
            </a:r>
            <a:r>
              <a:rPr lang="en-US" u="sng" dirty="0"/>
              <a:t>REST API</a:t>
            </a:r>
            <a:r>
              <a:rPr lang="en-US" dirty="0"/>
              <a:t> to read and post tweets, Streaming API for live tweet updates, and Ads API to manage Twitter ads.</a:t>
            </a:r>
          </a:p>
          <a:p>
            <a:r>
              <a:rPr lang="en-US" dirty="0"/>
              <a:t>Latest Twitter API v2 adds more powerful data access and filtering options. </a:t>
            </a:r>
          </a:p>
          <a:p>
            <a:r>
              <a:rPr lang="en-US" dirty="0"/>
              <a:t>Need a Twitter developer account and app credentials to use these APIs.</a:t>
            </a:r>
          </a:p>
          <a:p>
            <a:r>
              <a:rPr lang="en-US" dirty="0"/>
              <a:t> This lets apps integrate Twitter’s data and functionality directly.</a:t>
            </a:r>
          </a:p>
          <a:p>
            <a:endParaRPr lang="en-IN" dirty="0"/>
          </a:p>
        </p:txBody>
      </p:sp>
    </p:spTree>
    <p:extLst>
      <p:ext uri="{BB962C8B-B14F-4D97-AF65-F5344CB8AC3E}">
        <p14:creationId xmlns:p14="http://schemas.microsoft.com/office/powerpoint/2010/main" val="12351710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67FD6-1528-2BD1-F0A1-B6215DED2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E4F8C5-E769-79E6-F87B-AD6F76752306}"/>
              </a:ext>
            </a:extLst>
          </p:cNvPr>
          <p:cNvSpPr>
            <a:spLocks noGrp="1"/>
          </p:cNvSpPr>
          <p:nvPr>
            <p:ph type="title"/>
          </p:nvPr>
        </p:nvSpPr>
        <p:spPr/>
        <p:txBody>
          <a:bodyPr/>
          <a:lstStyle/>
          <a:p>
            <a:r>
              <a:rPr lang="en-IN" b="1" dirty="0"/>
              <a:t>Social Media API Examples</a:t>
            </a:r>
            <a:endParaRPr lang="en-IN" dirty="0"/>
          </a:p>
        </p:txBody>
      </p:sp>
      <p:sp>
        <p:nvSpPr>
          <p:cNvPr id="3" name="Content Placeholder 2">
            <a:extLst>
              <a:ext uri="{FF2B5EF4-FFF2-40B4-BE49-F238E27FC236}">
                <a16:creationId xmlns:a16="http://schemas.microsoft.com/office/drawing/2014/main" id="{DAB954FB-0273-5C52-09D4-9EB6F5DA2841}"/>
              </a:ext>
            </a:extLst>
          </p:cNvPr>
          <p:cNvSpPr>
            <a:spLocks noGrp="1"/>
          </p:cNvSpPr>
          <p:nvPr>
            <p:ph idx="1"/>
          </p:nvPr>
        </p:nvSpPr>
        <p:spPr>
          <a:xfrm>
            <a:off x="1154954" y="2603500"/>
            <a:ext cx="10438332" cy="3867280"/>
          </a:xfrm>
        </p:spPr>
        <p:txBody>
          <a:bodyPr/>
          <a:lstStyle/>
          <a:p>
            <a:r>
              <a:rPr lang="en-US" b="1" dirty="0"/>
              <a:t>Instagram API</a:t>
            </a:r>
            <a:endParaRPr lang="en-US" dirty="0"/>
          </a:p>
          <a:p>
            <a:r>
              <a:rPr lang="en-US" dirty="0"/>
              <a:t>The Instagram API lets apps access Instagram data like photos, videos, and profiles with user permission. </a:t>
            </a:r>
          </a:p>
          <a:p>
            <a:r>
              <a:rPr lang="en-US" dirty="0"/>
              <a:t>Has two APIs: the Graph API and the Basic Display API.</a:t>
            </a:r>
          </a:p>
          <a:p>
            <a:r>
              <a:rPr lang="en-US" dirty="0"/>
              <a:t>Graph API lets business and creator accounts manage content, moderate comments, and access insights. </a:t>
            </a:r>
          </a:p>
          <a:p>
            <a:r>
              <a:rPr lang="en-US" dirty="0"/>
              <a:t>Basic Display API allows personal accounts to share basic profile info and media.</a:t>
            </a:r>
          </a:p>
          <a:p>
            <a:r>
              <a:rPr lang="en-US" dirty="0"/>
              <a:t> However, both APIs require users to log in and grant permission, and developers must register on Facebook’s Developer Portal to securely access them.</a:t>
            </a:r>
          </a:p>
          <a:p>
            <a:endParaRPr lang="en-IN" dirty="0"/>
          </a:p>
        </p:txBody>
      </p:sp>
    </p:spTree>
    <p:extLst>
      <p:ext uri="{BB962C8B-B14F-4D97-AF65-F5344CB8AC3E}">
        <p14:creationId xmlns:p14="http://schemas.microsoft.com/office/powerpoint/2010/main" val="3394492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05FA7-40C8-13CF-1446-47F9F2345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A7F36-DDF3-6470-DD5D-F500755CE662}"/>
              </a:ext>
            </a:extLst>
          </p:cNvPr>
          <p:cNvSpPr>
            <a:spLocks noGrp="1"/>
          </p:cNvSpPr>
          <p:nvPr>
            <p:ph type="title"/>
          </p:nvPr>
        </p:nvSpPr>
        <p:spPr/>
        <p:txBody>
          <a:bodyPr/>
          <a:lstStyle/>
          <a:p>
            <a:r>
              <a:rPr lang="en-IN" b="1" dirty="0"/>
              <a:t>Social Media API Examples</a:t>
            </a:r>
            <a:endParaRPr lang="en-IN" dirty="0"/>
          </a:p>
        </p:txBody>
      </p:sp>
      <p:sp>
        <p:nvSpPr>
          <p:cNvPr id="3" name="Content Placeholder 2">
            <a:extLst>
              <a:ext uri="{FF2B5EF4-FFF2-40B4-BE49-F238E27FC236}">
                <a16:creationId xmlns:a16="http://schemas.microsoft.com/office/drawing/2014/main" id="{80380170-0309-0860-3D67-30A0FD96F2BE}"/>
              </a:ext>
            </a:extLst>
          </p:cNvPr>
          <p:cNvSpPr>
            <a:spLocks noGrp="1"/>
          </p:cNvSpPr>
          <p:nvPr>
            <p:ph idx="1"/>
          </p:nvPr>
        </p:nvSpPr>
        <p:spPr>
          <a:xfrm>
            <a:off x="1154954" y="2603500"/>
            <a:ext cx="10438332" cy="3867280"/>
          </a:xfrm>
        </p:spPr>
        <p:txBody>
          <a:bodyPr/>
          <a:lstStyle/>
          <a:p>
            <a:r>
              <a:rPr lang="en-US" b="1" dirty="0"/>
              <a:t>Facebook API</a:t>
            </a:r>
            <a:endParaRPr lang="en-US" dirty="0"/>
          </a:p>
          <a:p>
            <a:r>
              <a:rPr lang="en-US" dirty="0"/>
              <a:t>Facebook API lets apps access Facebook data like posts, photos, and user profiles with permission. </a:t>
            </a:r>
          </a:p>
          <a:p>
            <a:r>
              <a:rPr lang="en-US" dirty="0"/>
              <a:t>Offers several APIs, including the Graph API to read and manage content, the Marketing API for ads management, and the Messenger API to build chatbots.</a:t>
            </a:r>
          </a:p>
          <a:p>
            <a:r>
              <a:rPr lang="en-US" dirty="0"/>
              <a:t>To use these APIs, developers need to register their apps on Facebook’s Developer Portal and obtain user consent for data access. </a:t>
            </a:r>
          </a:p>
          <a:p>
            <a:r>
              <a:rPr lang="en-US" dirty="0"/>
              <a:t>Process ensures secure integration, allowing apps to safely interact with Facebook’s features and user information.</a:t>
            </a:r>
          </a:p>
          <a:p>
            <a:endParaRPr lang="en-IN" dirty="0"/>
          </a:p>
        </p:txBody>
      </p:sp>
    </p:spTree>
    <p:extLst>
      <p:ext uri="{BB962C8B-B14F-4D97-AF65-F5344CB8AC3E}">
        <p14:creationId xmlns:p14="http://schemas.microsoft.com/office/powerpoint/2010/main" val="2795165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E7814-FC24-1344-6090-F85DCBCC5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0B868A-B602-7161-1407-7B446FC4094B}"/>
              </a:ext>
            </a:extLst>
          </p:cNvPr>
          <p:cNvSpPr>
            <a:spLocks noGrp="1"/>
          </p:cNvSpPr>
          <p:nvPr>
            <p:ph type="title"/>
          </p:nvPr>
        </p:nvSpPr>
        <p:spPr/>
        <p:txBody>
          <a:bodyPr/>
          <a:lstStyle/>
          <a:p>
            <a:r>
              <a:rPr lang="en-US" b="1" dirty="0"/>
              <a:t>E-commerce and Payments API Examples</a:t>
            </a:r>
            <a:endParaRPr lang="en-IN" dirty="0"/>
          </a:p>
        </p:txBody>
      </p:sp>
      <p:sp>
        <p:nvSpPr>
          <p:cNvPr id="3" name="Content Placeholder 2">
            <a:extLst>
              <a:ext uri="{FF2B5EF4-FFF2-40B4-BE49-F238E27FC236}">
                <a16:creationId xmlns:a16="http://schemas.microsoft.com/office/drawing/2014/main" id="{B437007D-BE88-B55A-A2A0-66A738E4295B}"/>
              </a:ext>
            </a:extLst>
          </p:cNvPr>
          <p:cNvSpPr>
            <a:spLocks noGrp="1"/>
          </p:cNvSpPr>
          <p:nvPr>
            <p:ph idx="1"/>
          </p:nvPr>
        </p:nvSpPr>
        <p:spPr>
          <a:xfrm>
            <a:off x="1154954" y="2603500"/>
            <a:ext cx="10438332" cy="3867280"/>
          </a:xfrm>
        </p:spPr>
        <p:txBody>
          <a:bodyPr/>
          <a:lstStyle/>
          <a:p>
            <a:r>
              <a:rPr lang="en-US" dirty="0"/>
              <a:t>E-commerce lets developers build apps that handle payments, manage storefronts, and streamline transactions while ensuring security and scalability.</a:t>
            </a:r>
          </a:p>
          <a:p>
            <a:pPr marL="0" indent="0">
              <a:buNone/>
            </a:pPr>
            <a:r>
              <a:rPr lang="en-US" b="1" dirty="0"/>
              <a:t> PayPal API</a:t>
            </a:r>
            <a:endParaRPr lang="en-US" dirty="0"/>
          </a:p>
          <a:p>
            <a:r>
              <a:rPr lang="en-US" dirty="0"/>
              <a:t>PayPal API enables apps to process payments, manage subscriptions, and issue refunds across multiple currencies and platforms.</a:t>
            </a:r>
          </a:p>
          <a:p>
            <a:r>
              <a:rPr lang="en-US" dirty="0"/>
              <a:t>Allows businesses to offer secure and trusted checkout experiences on both web and mobile.</a:t>
            </a:r>
          </a:p>
          <a:p>
            <a:r>
              <a:rPr lang="en-US" dirty="0"/>
              <a:t>Integration involves setting up API credentials and choosing whether to handle payment flows on the client, server, or both sides.</a:t>
            </a:r>
          </a:p>
          <a:p>
            <a:r>
              <a:rPr lang="en-US" dirty="0"/>
              <a:t> PayPal also provides a sandbox environment to simulate transactions and troubleshoot before launching live.</a:t>
            </a:r>
          </a:p>
          <a:p>
            <a:endParaRPr lang="en-IN" dirty="0"/>
          </a:p>
        </p:txBody>
      </p:sp>
    </p:spTree>
    <p:extLst>
      <p:ext uri="{BB962C8B-B14F-4D97-AF65-F5344CB8AC3E}">
        <p14:creationId xmlns:p14="http://schemas.microsoft.com/office/powerpoint/2010/main" val="38237581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89AE5-E2A7-1B3C-54F6-FC8819D8A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CE20F-635A-C6DC-D4A2-36A2B4D42E16}"/>
              </a:ext>
            </a:extLst>
          </p:cNvPr>
          <p:cNvSpPr>
            <a:spLocks noGrp="1"/>
          </p:cNvSpPr>
          <p:nvPr>
            <p:ph type="title"/>
          </p:nvPr>
        </p:nvSpPr>
        <p:spPr/>
        <p:txBody>
          <a:bodyPr/>
          <a:lstStyle/>
          <a:p>
            <a:r>
              <a:rPr lang="en-US" b="1" dirty="0"/>
              <a:t>E-commerce and Payments API Examples</a:t>
            </a:r>
            <a:endParaRPr lang="en-IN" dirty="0"/>
          </a:p>
        </p:txBody>
      </p:sp>
      <p:sp>
        <p:nvSpPr>
          <p:cNvPr id="3" name="Content Placeholder 2">
            <a:extLst>
              <a:ext uri="{FF2B5EF4-FFF2-40B4-BE49-F238E27FC236}">
                <a16:creationId xmlns:a16="http://schemas.microsoft.com/office/drawing/2014/main" id="{39F39A38-4C4B-FC50-78A2-6FCC4F8FA842}"/>
              </a:ext>
            </a:extLst>
          </p:cNvPr>
          <p:cNvSpPr>
            <a:spLocks noGrp="1"/>
          </p:cNvSpPr>
          <p:nvPr>
            <p:ph idx="1"/>
          </p:nvPr>
        </p:nvSpPr>
        <p:spPr>
          <a:xfrm>
            <a:off x="1154954" y="2603500"/>
            <a:ext cx="10438332" cy="3867280"/>
          </a:xfrm>
        </p:spPr>
        <p:txBody>
          <a:bodyPr/>
          <a:lstStyle/>
          <a:p>
            <a:r>
              <a:rPr lang="en-US" b="1" dirty="0"/>
              <a:t>Stripe API</a:t>
            </a:r>
            <a:endParaRPr lang="en-US" dirty="0"/>
          </a:p>
          <a:p>
            <a:r>
              <a:rPr lang="en-US" dirty="0"/>
              <a:t>Stripe API helps apps accept payments, manage subscriptions, and handle invoicing globally. </a:t>
            </a:r>
          </a:p>
          <a:p>
            <a:r>
              <a:rPr lang="en-US" dirty="0"/>
              <a:t>Supports cards, wallets, and bank transfers across many countries. </a:t>
            </a:r>
          </a:p>
          <a:p>
            <a:r>
              <a:rPr lang="en-US" dirty="0"/>
              <a:t>To integrate, developers should obtain secure API keys and decide which payment methods and features fit their needs. </a:t>
            </a:r>
          </a:p>
          <a:p>
            <a:r>
              <a:rPr lang="en-US" dirty="0"/>
              <a:t>Stripe also offers a test mode where you can simulate payments and workflows before going live to ensure everything runs smoothly.</a:t>
            </a:r>
          </a:p>
          <a:p>
            <a:endParaRPr lang="en-IN" dirty="0"/>
          </a:p>
        </p:txBody>
      </p:sp>
    </p:spTree>
    <p:extLst>
      <p:ext uri="{BB962C8B-B14F-4D97-AF65-F5344CB8AC3E}">
        <p14:creationId xmlns:p14="http://schemas.microsoft.com/office/powerpoint/2010/main" val="12386424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1B9DA-ECE9-E94A-A0C4-F72A74C4F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A4F87-CB6A-FD4D-0B40-C0B9919A0086}"/>
              </a:ext>
            </a:extLst>
          </p:cNvPr>
          <p:cNvSpPr>
            <a:spLocks noGrp="1"/>
          </p:cNvSpPr>
          <p:nvPr>
            <p:ph type="title"/>
          </p:nvPr>
        </p:nvSpPr>
        <p:spPr/>
        <p:txBody>
          <a:bodyPr/>
          <a:lstStyle/>
          <a:p>
            <a:r>
              <a:rPr lang="en-US" b="1" dirty="0"/>
              <a:t>E-commerce and Payments API Examples</a:t>
            </a:r>
            <a:endParaRPr lang="en-IN" dirty="0"/>
          </a:p>
        </p:txBody>
      </p:sp>
      <p:sp>
        <p:nvSpPr>
          <p:cNvPr id="3" name="Content Placeholder 2">
            <a:extLst>
              <a:ext uri="{FF2B5EF4-FFF2-40B4-BE49-F238E27FC236}">
                <a16:creationId xmlns:a16="http://schemas.microsoft.com/office/drawing/2014/main" id="{83EF1847-F0B9-FF1C-F02C-96BA7AD85188}"/>
              </a:ext>
            </a:extLst>
          </p:cNvPr>
          <p:cNvSpPr>
            <a:spLocks noGrp="1"/>
          </p:cNvSpPr>
          <p:nvPr>
            <p:ph idx="1"/>
          </p:nvPr>
        </p:nvSpPr>
        <p:spPr>
          <a:xfrm>
            <a:off x="1154954" y="2603500"/>
            <a:ext cx="10438332" cy="3867280"/>
          </a:xfrm>
        </p:spPr>
        <p:txBody>
          <a:bodyPr/>
          <a:lstStyle/>
          <a:p>
            <a:r>
              <a:rPr lang="en-US" b="1" dirty="0"/>
              <a:t>Shopify API</a:t>
            </a:r>
            <a:endParaRPr lang="en-US" dirty="0"/>
          </a:p>
          <a:p>
            <a:r>
              <a:rPr lang="en-US" dirty="0"/>
              <a:t>Shopify API lets apps work with store data like products, orders, and customers. </a:t>
            </a:r>
          </a:p>
          <a:p>
            <a:r>
              <a:rPr lang="en-US" dirty="0"/>
              <a:t>Can create custom storefronts and automate tasks using its REST or </a:t>
            </a:r>
            <a:r>
              <a:rPr lang="en-US" dirty="0" err="1"/>
              <a:t>GraphQL</a:t>
            </a:r>
            <a:r>
              <a:rPr lang="en-US" dirty="0"/>
              <a:t> endpoints.</a:t>
            </a:r>
          </a:p>
          <a:p>
            <a:r>
              <a:rPr lang="en-US" dirty="0"/>
              <a:t> To get started, you register your app on Shopify’s Partner Dashboard and use OAuth to connect to stores securely. </a:t>
            </a:r>
          </a:p>
          <a:p>
            <a:r>
              <a:rPr lang="en-US" dirty="0"/>
              <a:t>Shopify also provides tools to test your app and manage permissions before it’s live.</a:t>
            </a:r>
          </a:p>
          <a:p>
            <a:endParaRPr lang="en-IN" dirty="0"/>
          </a:p>
        </p:txBody>
      </p:sp>
    </p:spTree>
    <p:extLst>
      <p:ext uri="{BB962C8B-B14F-4D97-AF65-F5344CB8AC3E}">
        <p14:creationId xmlns:p14="http://schemas.microsoft.com/office/powerpoint/2010/main" val="1017954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C4111-DDAF-139E-0C95-2AD3E8110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16E91-F1A1-B522-3195-7C25E03ED970}"/>
              </a:ext>
            </a:extLst>
          </p:cNvPr>
          <p:cNvSpPr>
            <a:spLocks noGrp="1"/>
          </p:cNvSpPr>
          <p:nvPr>
            <p:ph type="title"/>
          </p:nvPr>
        </p:nvSpPr>
        <p:spPr/>
        <p:txBody>
          <a:bodyPr/>
          <a:lstStyle/>
          <a:p>
            <a:r>
              <a:rPr lang="en-US" b="1" dirty="0"/>
              <a:t>Mapping and Geolocation API Examples</a:t>
            </a:r>
            <a:endParaRPr lang="en-IN" dirty="0"/>
          </a:p>
        </p:txBody>
      </p:sp>
      <p:sp>
        <p:nvSpPr>
          <p:cNvPr id="3" name="Content Placeholder 2">
            <a:extLst>
              <a:ext uri="{FF2B5EF4-FFF2-40B4-BE49-F238E27FC236}">
                <a16:creationId xmlns:a16="http://schemas.microsoft.com/office/drawing/2014/main" id="{932CAB2D-8106-1154-5E54-921BC2FAA905}"/>
              </a:ext>
            </a:extLst>
          </p:cNvPr>
          <p:cNvSpPr>
            <a:spLocks noGrp="1"/>
          </p:cNvSpPr>
          <p:nvPr>
            <p:ph idx="1"/>
          </p:nvPr>
        </p:nvSpPr>
        <p:spPr>
          <a:xfrm>
            <a:off x="1154954" y="2603500"/>
            <a:ext cx="10438332" cy="3867280"/>
          </a:xfrm>
        </p:spPr>
        <p:txBody>
          <a:bodyPr>
            <a:normAutofit lnSpcReduction="10000"/>
          </a:bodyPr>
          <a:lstStyle/>
          <a:p>
            <a:r>
              <a:rPr lang="en-US" dirty="0"/>
              <a:t>Mapping and geolocation APIs power location-based features in apps.</a:t>
            </a:r>
          </a:p>
          <a:p>
            <a:r>
              <a:rPr lang="en-US" dirty="0"/>
              <a:t>Help users navigate, explore places, and visualize geographic data. </a:t>
            </a:r>
          </a:p>
          <a:p>
            <a:r>
              <a:rPr lang="en-US" dirty="0"/>
              <a:t>Crucial for delivery services, travel apps, real estate platforms, and any app that needs to show or track locations accurately.</a:t>
            </a:r>
          </a:p>
          <a:p>
            <a:pPr marL="0" indent="0">
              <a:buNone/>
            </a:pPr>
            <a:r>
              <a:rPr lang="en-US" b="1" dirty="0"/>
              <a:t>Google Maps API</a:t>
            </a:r>
            <a:endParaRPr lang="en-US" dirty="0"/>
          </a:p>
          <a:p>
            <a:r>
              <a:rPr lang="en-US" dirty="0"/>
              <a:t>Google Maps API offers detailed maps, real-time traffic updates, and reliable route planning. It helps apps give users step-by-step navigation whether they’re driving, walking, or cycling.</a:t>
            </a:r>
          </a:p>
          <a:p>
            <a:r>
              <a:rPr lang="en-US" dirty="0"/>
              <a:t>The API can calculate the fastest routes, avoid traffic jams, and even suggest alternative paths. </a:t>
            </a:r>
          </a:p>
          <a:p>
            <a:r>
              <a:rPr lang="en-US" dirty="0"/>
              <a:t>Also integrates with places data so users can search for businesses, landmarks, or points of interest directly within the app.</a:t>
            </a:r>
          </a:p>
          <a:p>
            <a:endParaRPr lang="en-IN" dirty="0"/>
          </a:p>
        </p:txBody>
      </p:sp>
    </p:spTree>
    <p:extLst>
      <p:ext uri="{BB962C8B-B14F-4D97-AF65-F5344CB8AC3E}">
        <p14:creationId xmlns:p14="http://schemas.microsoft.com/office/powerpoint/2010/main" val="2660099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6DFAC-2A68-E9D2-9CA3-B5063D009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CAD9F-A447-255B-1F4E-C4E932D346C6}"/>
              </a:ext>
            </a:extLst>
          </p:cNvPr>
          <p:cNvSpPr>
            <a:spLocks noGrp="1"/>
          </p:cNvSpPr>
          <p:nvPr>
            <p:ph type="title"/>
          </p:nvPr>
        </p:nvSpPr>
        <p:spPr/>
        <p:txBody>
          <a:bodyPr/>
          <a:lstStyle/>
          <a:p>
            <a:r>
              <a:rPr lang="en-US" b="1" dirty="0"/>
              <a:t>Mapping and Geolocation API Examples</a:t>
            </a:r>
            <a:endParaRPr lang="en-IN" dirty="0"/>
          </a:p>
        </p:txBody>
      </p:sp>
      <p:sp>
        <p:nvSpPr>
          <p:cNvPr id="3" name="Content Placeholder 2">
            <a:extLst>
              <a:ext uri="{FF2B5EF4-FFF2-40B4-BE49-F238E27FC236}">
                <a16:creationId xmlns:a16="http://schemas.microsoft.com/office/drawing/2014/main" id="{C8C1985B-A6B7-DE97-C349-BECB88DC77CE}"/>
              </a:ext>
            </a:extLst>
          </p:cNvPr>
          <p:cNvSpPr>
            <a:spLocks noGrp="1"/>
          </p:cNvSpPr>
          <p:nvPr>
            <p:ph idx="1"/>
          </p:nvPr>
        </p:nvSpPr>
        <p:spPr>
          <a:xfrm>
            <a:off x="1154954" y="2603500"/>
            <a:ext cx="10438332" cy="3867280"/>
          </a:xfrm>
        </p:spPr>
        <p:txBody>
          <a:bodyPr/>
          <a:lstStyle/>
          <a:p>
            <a:r>
              <a:rPr lang="en-US" b="1" dirty="0" err="1"/>
              <a:t>Mapbox</a:t>
            </a:r>
            <a:r>
              <a:rPr lang="en-US" b="1" dirty="0"/>
              <a:t> API</a:t>
            </a:r>
            <a:endParaRPr lang="en-US" dirty="0"/>
          </a:p>
          <a:p>
            <a:r>
              <a:rPr lang="en-US" dirty="0" err="1"/>
              <a:t>Mapbox</a:t>
            </a:r>
            <a:r>
              <a:rPr lang="en-US" dirty="0"/>
              <a:t> API stands out for its flexibility in design.</a:t>
            </a:r>
          </a:p>
          <a:p>
            <a:r>
              <a:rPr lang="en-US" dirty="0"/>
              <a:t>Allows developers to build maps that match their app’s unique look and feel. </a:t>
            </a:r>
          </a:p>
          <a:p>
            <a:r>
              <a:rPr lang="en-US" dirty="0"/>
              <a:t>Can customize everything from colors and fonts to the data shown on the map, like highlighting bike lanes or hiking trails.</a:t>
            </a:r>
          </a:p>
          <a:p>
            <a:r>
              <a:rPr lang="en-US" dirty="0"/>
              <a:t>API is great for apps that want a branded or highly tailored mapping experience while still providing accurate location services.</a:t>
            </a:r>
          </a:p>
          <a:p>
            <a:endParaRPr lang="en-IN" dirty="0"/>
          </a:p>
        </p:txBody>
      </p:sp>
    </p:spTree>
    <p:extLst>
      <p:ext uri="{BB962C8B-B14F-4D97-AF65-F5344CB8AC3E}">
        <p14:creationId xmlns:p14="http://schemas.microsoft.com/office/powerpoint/2010/main" val="1876192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313F3-9E9E-C0AA-B074-7CEB4C75D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E8B75-0D2A-380E-6A6E-188B788BFC56}"/>
              </a:ext>
            </a:extLst>
          </p:cNvPr>
          <p:cNvSpPr>
            <a:spLocks noGrp="1"/>
          </p:cNvSpPr>
          <p:nvPr>
            <p:ph type="title"/>
          </p:nvPr>
        </p:nvSpPr>
        <p:spPr/>
        <p:txBody>
          <a:bodyPr/>
          <a:lstStyle/>
          <a:p>
            <a:r>
              <a:rPr lang="en-US" b="1" dirty="0"/>
              <a:t>Mapping and Geolocation API Examples</a:t>
            </a:r>
            <a:endParaRPr lang="en-IN" dirty="0"/>
          </a:p>
        </p:txBody>
      </p:sp>
      <p:sp>
        <p:nvSpPr>
          <p:cNvPr id="3" name="Content Placeholder 2">
            <a:extLst>
              <a:ext uri="{FF2B5EF4-FFF2-40B4-BE49-F238E27FC236}">
                <a16:creationId xmlns:a16="http://schemas.microsoft.com/office/drawing/2014/main" id="{9009BA39-6FCC-DCC9-FAAB-0D8F904E1FDE}"/>
              </a:ext>
            </a:extLst>
          </p:cNvPr>
          <p:cNvSpPr>
            <a:spLocks noGrp="1"/>
          </p:cNvSpPr>
          <p:nvPr>
            <p:ph idx="1"/>
          </p:nvPr>
        </p:nvSpPr>
        <p:spPr>
          <a:xfrm>
            <a:off x="1154954" y="2603500"/>
            <a:ext cx="10438332" cy="3867280"/>
          </a:xfrm>
        </p:spPr>
        <p:txBody>
          <a:bodyPr/>
          <a:lstStyle/>
          <a:p>
            <a:r>
              <a:rPr lang="en-US" b="1" dirty="0"/>
              <a:t>OpenStreetMap API</a:t>
            </a:r>
            <a:endParaRPr lang="en-US" dirty="0"/>
          </a:p>
          <a:p>
            <a:r>
              <a:rPr lang="en-US" dirty="0"/>
              <a:t>OpenStreetMap API offers free and editable map data contributed by a worldwide community. </a:t>
            </a:r>
          </a:p>
          <a:p>
            <a:r>
              <a:rPr lang="en-US" dirty="0"/>
              <a:t>Unlike commercial services, it provides a flexible, open-source alternative where developers can access raw map data and even contribute updates.</a:t>
            </a:r>
          </a:p>
          <a:p>
            <a:r>
              <a:rPr lang="en-US" dirty="0"/>
              <a:t>Ideal for projects with limited budgets or those needing a highly customizable and community-driven mapping solution.</a:t>
            </a:r>
          </a:p>
          <a:p>
            <a:endParaRPr lang="en-IN" dirty="0"/>
          </a:p>
        </p:txBody>
      </p:sp>
    </p:spTree>
    <p:extLst>
      <p:ext uri="{BB962C8B-B14F-4D97-AF65-F5344CB8AC3E}">
        <p14:creationId xmlns:p14="http://schemas.microsoft.com/office/powerpoint/2010/main" val="27654752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D907F-D8D0-F8BF-BBBB-9FC77D7BF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F3B6B7-A5AA-98AF-D493-7894ED96A1E6}"/>
              </a:ext>
            </a:extLst>
          </p:cNvPr>
          <p:cNvSpPr>
            <a:spLocks noGrp="1"/>
          </p:cNvSpPr>
          <p:nvPr>
            <p:ph type="title"/>
          </p:nvPr>
        </p:nvSpPr>
        <p:spPr/>
        <p:txBody>
          <a:bodyPr/>
          <a:lstStyle/>
          <a:p>
            <a:r>
              <a:rPr lang="en-US" b="1" dirty="0"/>
              <a:t>Communication and Messaging API Examples</a:t>
            </a:r>
            <a:endParaRPr lang="en-IN" dirty="0"/>
          </a:p>
        </p:txBody>
      </p:sp>
      <p:sp>
        <p:nvSpPr>
          <p:cNvPr id="3" name="Content Placeholder 2">
            <a:extLst>
              <a:ext uri="{FF2B5EF4-FFF2-40B4-BE49-F238E27FC236}">
                <a16:creationId xmlns:a16="http://schemas.microsoft.com/office/drawing/2014/main" id="{E6FF7552-FC43-08B1-C1BE-6325ACC5EF78}"/>
              </a:ext>
            </a:extLst>
          </p:cNvPr>
          <p:cNvSpPr>
            <a:spLocks noGrp="1"/>
          </p:cNvSpPr>
          <p:nvPr>
            <p:ph idx="1"/>
          </p:nvPr>
        </p:nvSpPr>
        <p:spPr>
          <a:xfrm>
            <a:off x="1154954" y="2603500"/>
            <a:ext cx="10438332" cy="3867280"/>
          </a:xfrm>
        </p:spPr>
        <p:txBody>
          <a:bodyPr/>
          <a:lstStyle/>
          <a:p>
            <a:r>
              <a:rPr lang="en-US" dirty="0"/>
              <a:t>Communication APIs let apps connect users through messages, calls, and collaboration tools. </a:t>
            </a:r>
          </a:p>
          <a:p>
            <a:r>
              <a:rPr lang="en-US" dirty="0"/>
              <a:t>Simplify adding SMS alerts, voice verification, chatbots, and real-time messaging, making apps more interactive and responsive.</a:t>
            </a:r>
          </a:p>
          <a:p>
            <a:pPr marL="0" indent="0">
              <a:buNone/>
            </a:pPr>
            <a:r>
              <a:rPr lang="en-US" b="1" dirty="0"/>
              <a:t>Twilio API</a:t>
            </a:r>
            <a:endParaRPr lang="en-US" dirty="0"/>
          </a:p>
          <a:p>
            <a:r>
              <a:rPr lang="en-US" dirty="0"/>
              <a:t>Twilio API is a popular choice for sending SMS notifications, making phone calls, and verifying user identities through two-factor authentication. </a:t>
            </a:r>
          </a:p>
          <a:p>
            <a:r>
              <a:rPr lang="en-US" dirty="0"/>
              <a:t>Handles everything from simple text alerts to complex interactive voice responses. </a:t>
            </a:r>
          </a:p>
          <a:p>
            <a:r>
              <a:rPr lang="en-US" dirty="0"/>
              <a:t>Apps use Twilio to ensure messages reach users instantly, improving engagement and security.</a:t>
            </a:r>
          </a:p>
          <a:p>
            <a:endParaRPr lang="en-IN" dirty="0"/>
          </a:p>
        </p:txBody>
      </p:sp>
    </p:spTree>
    <p:extLst>
      <p:ext uri="{BB962C8B-B14F-4D97-AF65-F5344CB8AC3E}">
        <p14:creationId xmlns:p14="http://schemas.microsoft.com/office/powerpoint/2010/main" val="24195943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B476B-B142-9AE8-8FFB-7ABCBD253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AFB30-2548-739F-4012-173463D31738}"/>
              </a:ext>
            </a:extLst>
          </p:cNvPr>
          <p:cNvSpPr>
            <a:spLocks noGrp="1"/>
          </p:cNvSpPr>
          <p:nvPr>
            <p:ph type="title"/>
          </p:nvPr>
        </p:nvSpPr>
        <p:spPr/>
        <p:txBody>
          <a:bodyPr/>
          <a:lstStyle/>
          <a:p>
            <a:r>
              <a:rPr lang="en-US" b="1" dirty="0"/>
              <a:t>Communication and Messaging API Examples</a:t>
            </a:r>
            <a:endParaRPr lang="en-IN" dirty="0"/>
          </a:p>
        </p:txBody>
      </p:sp>
      <p:sp>
        <p:nvSpPr>
          <p:cNvPr id="3" name="Content Placeholder 2">
            <a:extLst>
              <a:ext uri="{FF2B5EF4-FFF2-40B4-BE49-F238E27FC236}">
                <a16:creationId xmlns:a16="http://schemas.microsoft.com/office/drawing/2014/main" id="{D29798DC-8B12-D081-DAB6-FF705B2020F3}"/>
              </a:ext>
            </a:extLst>
          </p:cNvPr>
          <p:cNvSpPr>
            <a:spLocks noGrp="1"/>
          </p:cNvSpPr>
          <p:nvPr>
            <p:ph idx="1"/>
          </p:nvPr>
        </p:nvSpPr>
        <p:spPr>
          <a:xfrm>
            <a:off x="1154954" y="2603500"/>
            <a:ext cx="10438332" cy="3867280"/>
          </a:xfrm>
        </p:spPr>
        <p:txBody>
          <a:bodyPr/>
          <a:lstStyle/>
          <a:p>
            <a:r>
              <a:rPr lang="en-US" b="1" dirty="0"/>
              <a:t>Discord API</a:t>
            </a:r>
            <a:endParaRPr lang="en-US" dirty="0"/>
          </a:p>
          <a:p>
            <a:r>
              <a:rPr lang="en-US" dirty="0"/>
              <a:t>Discord API enables apps to manage servers, channels, and user roles on the Discord platform. </a:t>
            </a:r>
          </a:p>
          <a:p>
            <a:r>
              <a:rPr lang="en-US" dirty="0"/>
              <a:t>Developers build bots that help moderate chats, organize events, or add fun features like games and polls. </a:t>
            </a:r>
          </a:p>
          <a:p>
            <a:r>
              <a:rPr lang="en-US" dirty="0"/>
              <a:t>Essential for creating active, well-managed communities with automated support.</a:t>
            </a:r>
          </a:p>
          <a:p>
            <a:endParaRPr lang="en-IN" dirty="0"/>
          </a:p>
        </p:txBody>
      </p:sp>
    </p:spTree>
    <p:extLst>
      <p:ext uri="{BB962C8B-B14F-4D97-AF65-F5344CB8AC3E}">
        <p14:creationId xmlns:p14="http://schemas.microsoft.com/office/powerpoint/2010/main" val="30396892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9BA36-6F7E-65FF-7226-F74D5E450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4B75B-A80E-E195-30FA-CC5BA519D8C1}"/>
              </a:ext>
            </a:extLst>
          </p:cNvPr>
          <p:cNvSpPr>
            <a:spLocks noGrp="1"/>
          </p:cNvSpPr>
          <p:nvPr>
            <p:ph type="title"/>
          </p:nvPr>
        </p:nvSpPr>
        <p:spPr/>
        <p:txBody>
          <a:bodyPr/>
          <a:lstStyle/>
          <a:p>
            <a:r>
              <a:rPr lang="en-US" b="1" dirty="0"/>
              <a:t>Communication and Messaging API Examples</a:t>
            </a:r>
            <a:endParaRPr lang="en-IN" dirty="0"/>
          </a:p>
        </p:txBody>
      </p:sp>
      <p:sp>
        <p:nvSpPr>
          <p:cNvPr id="3" name="Content Placeholder 2">
            <a:extLst>
              <a:ext uri="{FF2B5EF4-FFF2-40B4-BE49-F238E27FC236}">
                <a16:creationId xmlns:a16="http://schemas.microsoft.com/office/drawing/2014/main" id="{6D7A4A04-CDE2-6398-61A7-ED6ADE41C049}"/>
              </a:ext>
            </a:extLst>
          </p:cNvPr>
          <p:cNvSpPr>
            <a:spLocks noGrp="1"/>
          </p:cNvSpPr>
          <p:nvPr>
            <p:ph idx="1"/>
          </p:nvPr>
        </p:nvSpPr>
        <p:spPr>
          <a:xfrm>
            <a:off x="1154954" y="2603500"/>
            <a:ext cx="10438332" cy="3867280"/>
          </a:xfrm>
        </p:spPr>
        <p:txBody>
          <a:bodyPr/>
          <a:lstStyle/>
          <a:p>
            <a:r>
              <a:rPr lang="en-US" b="1" dirty="0"/>
              <a:t>Slack API</a:t>
            </a:r>
            <a:endParaRPr lang="en-US" dirty="0"/>
          </a:p>
          <a:p>
            <a:r>
              <a:rPr lang="en-US" dirty="0"/>
              <a:t>Slack API allows developers to build custom bots and integrations that automate tasks within Slack channels. </a:t>
            </a:r>
          </a:p>
          <a:p>
            <a:r>
              <a:rPr lang="en-US" dirty="0"/>
              <a:t>Bots can send reminders, respond to commands, or pull data from other tools. </a:t>
            </a:r>
          </a:p>
          <a:p>
            <a:r>
              <a:rPr lang="en-US" dirty="0"/>
              <a:t>Makes teamwork smoother by keeping conversations and workflows connected without switching apps.</a:t>
            </a:r>
          </a:p>
          <a:p>
            <a:endParaRPr lang="en-IN" dirty="0"/>
          </a:p>
        </p:txBody>
      </p:sp>
    </p:spTree>
    <p:extLst>
      <p:ext uri="{BB962C8B-B14F-4D97-AF65-F5344CB8AC3E}">
        <p14:creationId xmlns:p14="http://schemas.microsoft.com/office/powerpoint/2010/main" val="23645968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626A1-EDD1-C552-042B-E0E36A330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4D036C-A73F-E905-E338-149F69C9399A}"/>
              </a:ext>
            </a:extLst>
          </p:cNvPr>
          <p:cNvSpPr>
            <a:spLocks noGrp="1"/>
          </p:cNvSpPr>
          <p:nvPr>
            <p:ph type="title"/>
          </p:nvPr>
        </p:nvSpPr>
        <p:spPr/>
        <p:txBody>
          <a:bodyPr/>
          <a:lstStyle/>
          <a:p>
            <a:r>
              <a:rPr lang="en-US" b="1" dirty="0"/>
              <a:t>AI and Machine Learning API Examples</a:t>
            </a:r>
            <a:endParaRPr lang="en-IN" dirty="0"/>
          </a:p>
        </p:txBody>
      </p:sp>
      <p:sp>
        <p:nvSpPr>
          <p:cNvPr id="3" name="Content Placeholder 2">
            <a:extLst>
              <a:ext uri="{FF2B5EF4-FFF2-40B4-BE49-F238E27FC236}">
                <a16:creationId xmlns:a16="http://schemas.microsoft.com/office/drawing/2014/main" id="{8A1B59E8-84F3-BDB3-42FB-47809269D3DF}"/>
              </a:ext>
            </a:extLst>
          </p:cNvPr>
          <p:cNvSpPr>
            <a:spLocks noGrp="1"/>
          </p:cNvSpPr>
          <p:nvPr>
            <p:ph idx="1"/>
          </p:nvPr>
        </p:nvSpPr>
        <p:spPr>
          <a:xfrm>
            <a:off x="1154954" y="2603500"/>
            <a:ext cx="10438332" cy="3867280"/>
          </a:xfrm>
        </p:spPr>
        <p:txBody>
          <a:bodyPr>
            <a:normAutofit lnSpcReduction="10000"/>
          </a:bodyPr>
          <a:lstStyle/>
          <a:p>
            <a:r>
              <a:rPr lang="en-US" dirty="0"/>
              <a:t>Artificial intelligence (AI) and machine learning (ML) APIs give apps the power to understand and generate human language, recognize images, and analyze complex data. These tools enable smarter, more interactive user experiences.</a:t>
            </a:r>
          </a:p>
          <a:p>
            <a:pPr marL="0" indent="0">
              <a:buNone/>
            </a:pPr>
            <a:r>
              <a:rPr lang="en-US" b="1" dirty="0"/>
              <a:t>OpenAI API</a:t>
            </a:r>
            <a:endParaRPr lang="en-US" dirty="0"/>
          </a:p>
          <a:p>
            <a:r>
              <a:rPr lang="en-US" dirty="0"/>
              <a:t>The OpenAI API lets developers integrate powerful language models into their apps through simple REST calls. </a:t>
            </a:r>
          </a:p>
          <a:p>
            <a:r>
              <a:rPr lang="en-US" dirty="0"/>
              <a:t>App sends user text input (prompts) to the API and receives AI-generated responses like summaries, answers, or creative content.</a:t>
            </a:r>
          </a:p>
          <a:p>
            <a:r>
              <a:rPr lang="en-US" dirty="0"/>
              <a:t>This way, your customers interact with AI-powered features inside your app without using ChatGPT directly. </a:t>
            </a:r>
          </a:p>
          <a:p>
            <a:r>
              <a:rPr lang="en-US" dirty="0"/>
              <a:t>Authentication requires API keys, and the API scales to support projects of all sizes without developers managing the AI infrastructure.</a:t>
            </a:r>
          </a:p>
          <a:p>
            <a:endParaRPr lang="en-IN" dirty="0"/>
          </a:p>
        </p:txBody>
      </p:sp>
    </p:spTree>
    <p:extLst>
      <p:ext uri="{BB962C8B-B14F-4D97-AF65-F5344CB8AC3E}">
        <p14:creationId xmlns:p14="http://schemas.microsoft.com/office/powerpoint/2010/main" val="25007382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F44C0-EE07-101C-1E9E-E9CCE452C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5349F-22A0-43C6-21CA-1C0E81BAC7F2}"/>
              </a:ext>
            </a:extLst>
          </p:cNvPr>
          <p:cNvSpPr>
            <a:spLocks noGrp="1"/>
          </p:cNvSpPr>
          <p:nvPr>
            <p:ph type="title"/>
          </p:nvPr>
        </p:nvSpPr>
        <p:spPr/>
        <p:txBody>
          <a:bodyPr/>
          <a:lstStyle/>
          <a:p>
            <a:r>
              <a:rPr lang="en-US" b="1" dirty="0"/>
              <a:t>How to Build Your First API?</a:t>
            </a:r>
            <a:endParaRPr lang="en-IN" dirty="0"/>
          </a:p>
        </p:txBody>
      </p:sp>
      <p:sp>
        <p:nvSpPr>
          <p:cNvPr id="3" name="Content Placeholder 2">
            <a:extLst>
              <a:ext uri="{FF2B5EF4-FFF2-40B4-BE49-F238E27FC236}">
                <a16:creationId xmlns:a16="http://schemas.microsoft.com/office/drawing/2014/main" id="{5EBD7ACB-B611-81E0-CD5A-02E22CEF7E06}"/>
              </a:ext>
            </a:extLst>
          </p:cNvPr>
          <p:cNvSpPr>
            <a:spLocks noGrp="1"/>
          </p:cNvSpPr>
          <p:nvPr>
            <p:ph idx="1"/>
          </p:nvPr>
        </p:nvSpPr>
        <p:spPr>
          <a:xfrm>
            <a:off x="1154954" y="2603500"/>
            <a:ext cx="10438332" cy="3867280"/>
          </a:xfrm>
        </p:spPr>
        <p:txBody>
          <a:bodyPr>
            <a:normAutofit lnSpcReduction="10000"/>
          </a:bodyPr>
          <a:lstStyle/>
          <a:p>
            <a:r>
              <a:rPr lang="en-US" dirty="0"/>
              <a:t>Building your first API (Application Programming Interface) requires careful planning and design to ensure it serves its purpose well and is easy for developers to use. </a:t>
            </a:r>
          </a:p>
          <a:p>
            <a:r>
              <a:rPr lang="en-US" dirty="0"/>
              <a:t>Process involves several key steps, from planning what your API will do to securing it properly.</a:t>
            </a:r>
          </a:p>
          <a:p>
            <a:r>
              <a:rPr lang="en-US" b="1" dirty="0"/>
              <a:t>1. Planning Your API</a:t>
            </a:r>
            <a:endParaRPr lang="en-US" dirty="0"/>
          </a:p>
          <a:p>
            <a:r>
              <a:rPr lang="en-US" dirty="0"/>
              <a:t>Before writing code, define the purpose of your API and what it will do.</a:t>
            </a:r>
          </a:p>
          <a:p>
            <a:r>
              <a:rPr lang="en-US" dirty="0"/>
              <a:t> Identify the primary resources it will manage (e.g., users, products, orders) and the actions clients should perform (e.g., create, read, update, delete).</a:t>
            </a:r>
          </a:p>
          <a:p>
            <a:r>
              <a:rPr lang="en-US" dirty="0"/>
              <a:t> Sketch out how the API will interact with other services and what data it needs to handle. </a:t>
            </a:r>
          </a:p>
          <a:p>
            <a:r>
              <a:rPr lang="en-US" dirty="0"/>
              <a:t>Clear planning helps avoid significant changes during development.</a:t>
            </a:r>
          </a:p>
          <a:p>
            <a:endParaRPr lang="en-IN" dirty="0"/>
          </a:p>
        </p:txBody>
      </p:sp>
    </p:spTree>
    <p:extLst>
      <p:ext uri="{BB962C8B-B14F-4D97-AF65-F5344CB8AC3E}">
        <p14:creationId xmlns:p14="http://schemas.microsoft.com/office/powerpoint/2010/main" val="31950054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91595-CC33-6349-72CB-1AF6E085C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982634-29B8-D73E-A9C5-A9987007EFAB}"/>
              </a:ext>
            </a:extLst>
          </p:cNvPr>
          <p:cNvSpPr>
            <a:spLocks noGrp="1"/>
          </p:cNvSpPr>
          <p:nvPr>
            <p:ph type="title"/>
          </p:nvPr>
        </p:nvSpPr>
        <p:spPr/>
        <p:txBody>
          <a:bodyPr/>
          <a:lstStyle/>
          <a:p>
            <a:r>
              <a:rPr lang="en-US" b="1" dirty="0"/>
              <a:t>How to Build Your First API?</a:t>
            </a:r>
            <a:endParaRPr lang="en-IN" dirty="0"/>
          </a:p>
        </p:txBody>
      </p:sp>
      <p:sp>
        <p:nvSpPr>
          <p:cNvPr id="3" name="Content Placeholder 2">
            <a:extLst>
              <a:ext uri="{FF2B5EF4-FFF2-40B4-BE49-F238E27FC236}">
                <a16:creationId xmlns:a16="http://schemas.microsoft.com/office/drawing/2014/main" id="{6E743B0D-DE7B-A94A-C532-032177145528}"/>
              </a:ext>
            </a:extLst>
          </p:cNvPr>
          <p:cNvSpPr>
            <a:spLocks noGrp="1"/>
          </p:cNvSpPr>
          <p:nvPr>
            <p:ph idx="1"/>
          </p:nvPr>
        </p:nvSpPr>
        <p:spPr>
          <a:xfrm>
            <a:off x="1154954" y="2603500"/>
            <a:ext cx="10438332" cy="3867280"/>
          </a:xfrm>
        </p:spPr>
        <p:txBody>
          <a:bodyPr/>
          <a:lstStyle/>
          <a:p>
            <a:r>
              <a:rPr lang="en-US" b="1" dirty="0"/>
              <a:t>2. Setting Up Your Environment</a:t>
            </a:r>
            <a:endParaRPr lang="en-US" dirty="0"/>
          </a:p>
          <a:p>
            <a:r>
              <a:rPr lang="en-US" dirty="0"/>
              <a:t>Choosing the right programming language and framework is crucial to building an efficient API. Popular choices include:</a:t>
            </a:r>
          </a:p>
          <a:p>
            <a:r>
              <a:rPr lang="en-US" b="1" u="sng" dirty="0"/>
              <a:t>JavaScript</a:t>
            </a:r>
            <a:r>
              <a:rPr lang="en-US" b="1" dirty="0"/>
              <a:t> with </a:t>
            </a:r>
            <a:r>
              <a:rPr lang="en-US" b="1" u="sng" dirty="0"/>
              <a:t>Node.js</a:t>
            </a:r>
            <a:r>
              <a:rPr lang="en-US" b="1" dirty="0"/>
              <a:t> and Express</a:t>
            </a:r>
            <a:r>
              <a:rPr lang="en-US" dirty="0"/>
              <a:t>: It is widely used for its speed and flexibility and is suitable for most projects.</a:t>
            </a:r>
          </a:p>
          <a:p>
            <a:r>
              <a:rPr lang="en-US" b="1" dirty="0"/>
              <a:t>Python with Flask or Django</a:t>
            </a:r>
            <a:r>
              <a:rPr lang="en-US" dirty="0"/>
              <a:t>: Preferred for quick development and readability.</a:t>
            </a:r>
          </a:p>
          <a:p>
            <a:r>
              <a:rPr lang="en-US" b="1" dirty="0"/>
              <a:t>Java with Spring Boot</a:t>
            </a:r>
            <a:r>
              <a:rPr lang="en-US" dirty="0"/>
              <a:t>: Common in enterprise-level applications requiring robustness.</a:t>
            </a:r>
          </a:p>
          <a:p>
            <a:r>
              <a:rPr lang="en-US" b="1" dirty="0"/>
              <a:t>Ruby on Rails</a:t>
            </a:r>
            <a:r>
              <a:rPr lang="en-US" dirty="0"/>
              <a:t>: Known for fast development cycles and convention over configuration.</a:t>
            </a:r>
          </a:p>
          <a:p>
            <a:endParaRPr lang="en-IN" dirty="0"/>
          </a:p>
        </p:txBody>
      </p:sp>
    </p:spTree>
    <p:extLst>
      <p:ext uri="{BB962C8B-B14F-4D97-AF65-F5344CB8AC3E}">
        <p14:creationId xmlns:p14="http://schemas.microsoft.com/office/powerpoint/2010/main" val="23991844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63E52-CA55-0A02-ED7A-96817410F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1F4D8-F611-870E-34F2-3F7B83228BFA}"/>
              </a:ext>
            </a:extLst>
          </p:cNvPr>
          <p:cNvSpPr>
            <a:spLocks noGrp="1"/>
          </p:cNvSpPr>
          <p:nvPr>
            <p:ph type="title"/>
          </p:nvPr>
        </p:nvSpPr>
        <p:spPr/>
        <p:txBody>
          <a:bodyPr/>
          <a:lstStyle/>
          <a:p>
            <a:r>
              <a:rPr lang="en-US" b="1" dirty="0"/>
              <a:t>How to Build Your First API?</a:t>
            </a:r>
            <a:endParaRPr lang="en-IN" dirty="0"/>
          </a:p>
        </p:txBody>
      </p:sp>
      <p:sp>
        <p:nvSpPr>
          <p:cNvPr id="3" name="Content Placeholder 2">
            <a:extLst>
              <a:ext uri="{FF2B5EF4-FFF2-40B4-BE49-F238E27FC236}">
                <a16:creationId xmlns:a16="http://schemas.microsoft.com/office/drawing/2014/main" id="{13E2A463-3230-07B9-99CC-226A03362A82}"/>
              </a:ext>
            </a:extLst>
          </p:cNvPr>
          <p:cNvSpPr>
            <a:spLocks noGrp="1"/>
          </p:cNvSpPr>
          <p:nvPr>
            <p:ph idx="1"/>
          </p:nvPr>
        </p:nvSpPr>
        <p:spPr>
          <a:xfrm>
            <a:off x="1154954" y="2603500"/>
            <a:ext cx="10438332" cy="3867280"/>
          </a:xfrm>
        </p:spPr>
        <p:txBody>
          <a:bodyPr/>
          <a:lstStyle/>
          <a:p>
            <a:r>
              <a:rPr lang="en-IN" dirty="0"/>
              <a:t>After choosing your language and framework, set up your development environment with these steps:</a:t>
            </a:r>
          </a:p>
          <a:p>
            <a:r>
              <a:rPr lang="en-IN" b="1" dirty="0"/>
              <a:t>Install the runtime</a:t>
            </a:r>
            <a:r>
              <a:rPr lang="en-IN" dirty="0"/>
              <a:t> (for example, Node.js for JavaScript, </a:t>
            </a:r>
            <a:r>
              <a:rPr lang="en-IN" u="sng" dirty="0"/>
              <a:t>Python</a:t>
            </a:r>
            <a:r>
              <a:rPr lang="en-IN" dirty="0"/>
              <a:t> for Flask/Django, or Java JDK for Spring Boot).</a:t>
            </a:r>
          </a:p>
          <a:p>
            <a:r>
              <a:rPr lang="en-IN" b="1" dirty="0"/>
              <a:t>Set up a code editor or IDE</a:t>
            </a:r>
            <a:r>
              <a:rPr lang="en-IN" dirty="0"/>
              <a:t> such as VS Code, PyCharm, or IntelliJ IDEA, depending on your preference and language.</a:t>
            </a:r>
          </a:p>
          <a:p>
            <a:r>
              <a:rPr lang="en-IN" b="1" dirty="0"/>
              <a:t>Initialize your project</a:t>
            </a:r>
            <a:r>
              <a:rPr lang="en-IN" dirty="0"/>
              <a:t> by creating a new folder and running commands like </a:t>
            </a:r>
            <a:r>
              <a:rPr lang="en-IN" b="1" dirty="0" err="1"/>
              <a:t>npm</a:t>
            </a:r>
            <a:r>
              <a:rPr lang="en-IN" b="1" dirty="0"/>
              <a:t> </a:t>
            </a:r>
            <a:r>
              <a:rPr lang="en-IN" b="1" dirty="0" err="1"/>
              <a:t>init</a:t>
            </a:r>
            <a:r>
              <a:rPr lang="en-IN" b="1" dirty="0"/>
              <a:t> </a:t>
            </a:r>
            <a:r>
              <a:rPr lang="en-IN" dirty="0"/>
              <a:t>(Node.js), </a:t>
            </a:r>
            <a:r>
              <a:rPr lang="en-IN" b="1" dirty="0" err="1"/>
              <a:t>django</a:t>
            </a:r>
            <a:r>
              <a:rPr lang="en-IN" b="1" dirty="0"/>
              <a:t>-admin </a:t>
            </a:r>
            <a:r>
              <a:rPr lang="en-IN" b="1" dirty="0" err="1"/>
              <a:t>startproject</a:t>
            </a:r>
            <a:r>
              <a:rPr lang="en-IN" dirty="0"/>
              <a:t> (Django), or corresponding commands in your framework.</a:t>
            </a:r>
          </a:p>
          <a:p>
            <a:r>
              <a:rPr lang="en-IN" b="1" dirty="0"/>
              <a:t>Install required dependencies</a:t>
            </a:r>
            <a:r>
              <a:rPr lang="en-IN" dirty="0"/>
              <a:t> using package managers like </a:t>
            </a:r>
            <a:r>
              <a:rPr lang="en-IN" dirty="0" err="1"/>
              <a:t>npm</a:t>
            </a:r>
            <a:r>
              <a:rPr lang="en-IN" dirty="0"/>
              <a:t>, pip, or </a:t>
            </a:r>
            <a:r>
              <a:rPr lang="en-IN" u="sng" dirty="0"/>
              <a:t>Maven</a:t>
            </a:r>
            <a:r>
              <a:rPr lang="en-IN" dirty="0"/>
              <a:t>.</a:t>
            </a:r>
          </a:p>
          <a:p>
            <a:endParaRPr lang="en-IN" dirty="0"/>
          </a:p>
        </p:txBody>
      </p:sp>
    </p:spTree>
    <p:extLst>
      <p:ext uri="{BB962C8B-B14F-4D97-AF65-F5344CB8AC3E}">
        <p14:creationId xmlns:p14="http://schemas.microsoft.com/office/powerpoint/2010/main" val="25782369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5D42F-0CBB-53A5-8ACA-8C0AE2352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59DF2-EA23-5AFF-9C6D-61F8AD32E3FD}"/>
              </a:ext>
            </a:extLst>
          </p:cNvPr>
          <p:cNvSpPr>
            <a:spLocks noGrp="1"/>
          </p:cNvSpPr>
          <p:nvPr>
            <p:ph type="title"/>
          </p:nvPr>
        </p:nvSpPr>
        <p:spPr/>
        <p:txBody>
          <a:bodyPr/>
          <a:lstStyle/>
          <a:p>
            <a:r>
              <a:rPr lang="en-US" b="1" dirty="0"/>
              <a:t>How to Build Your First API?</a:t>
            </a:r>
            <a:endParaRPr lang="en-IN" dirty="0"/>
          </a:p>
        </p:txBody>
      </p:sp>
      <p:sp>
        <p:nvSpPr>
          <p:cNvPr id="3" name="Content Placeholder 2">
            <a:extLst>
              <a:ext uri="{FF2B5EF4-FFF2-40B4-BE49-F238E27FC236}">
                <a16:creationId xmlns:a16="http://schemas.microsoft.com/office/drawing/2014/main" id="{38906AD2-4908-D614-9D32-D0AAC38A735E}"/>
              </a:ext>
            </a:extLst>
          </p:cNvPr>
          <p:cNvSpPr>
            <a:spLocks noGrp="1"/>
          </p:cNvSpPr>
          <p:nvPr>
            <p:ph idx="1"/>
          </p:nvPr>
        </p:nvSpPr>
        <p:spPr>
          <a:xfrm>
            <a:off x="1154954" y="2603500"/>
            <a:ext cx="10438332" cy="3867280"/>
          </a:xfrm>
        </p:spPr>
        <p:txBody>
          <a:bodyPr/>
          <a:lstStyle/>
          <a:p>
            <a:r>
              <a:rPr lang="en-US" b="1" dirty="0"/>
              <a:t>3. Choosing the Right Protocol (REST, </a:t>
            </a:r>
            <a:r>
              <a:rPr lang="en-US" b="1" dirty="0" err="1"/>
              <a:t>GraphQL</a:t>
            </a:r>
            <a:r>
              <a:rPr lang="en-US" b="1" dirty="0"/>
              <a:t>, SOAP)</a:t>
            </a:r>
            <a:endParaRPr lang="en-US" dirty="0"/>
          </a:p>
          <a:p>
            <a:r>
              <a:rPr lang="en-US" dirty="0"/>
              <a:t>APIs can use different protocols to handle requests and responses:</a:t>
            </a:r>
          </a:p>
          <a:p>
            <a:r>
              <a:rPr lang="en-US" b="1" dirty="0"/>
              <a:t>REST</a:t>
            </a:r>
            <a:r>
              <a:rPr lang="en-US" dirty="0"/>
              <a:t>: The most common approach. Uses standard HTTP methods and URLs. It’s simple and widely supported.</a:t>
            </a:r>
          </a:p>
          <a:p>
            <a:r>
              <a:rPr lang="en-US" b="1" dirty="0" err="1"/>
              <a:t>GraphQL</a:t>
            </a:r>
            <a:r>
              <a:rPr lang="en-US" dirty="0"/>
              <a:t>: This protocol lets clients specify exactly which data they want, reducing extra data transfer. It is useful for complex data needs.</a:t>
            </a:r>
          </a:p>
          <a:p>
            <a:r>
              <a:rPr lang="en-US" b="1" dirty="0"/>
              <a:t>SOAP</a:t>
            </a:r>
            <a:r>
              <a:rPr lang="en-US" dirty="0"/>
              <a:t>: Older and more strict, uses XML and strict contracts. Mostly used in legacy enterprise systems.</a:t>
            </a:r>
          </a:p>
          <a:p>
            <a:r>
              <a:rPr lang="en-US" dirty="0"/>
              <a:t>Choose the protocol based on your project size, client needs, and ecosystem compatibility.</a:t>
            </a:r>
          </a:p>
          <a:p>
            <a:endParaRPr lang="en-IN" dirty="0"/>
          </a:p>
        </p:txBody>
      </p:sp>
    </p:spTree>
    <p:extLst>
      <p:ext uri="{BB962C8B-B14F-4D97-AF65-F5344CB8AC3E}">
        <p14:creationId xmlns:p14="http://schemas.microsoft.com/office/powerpoint/2010/main" val="37954578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D0AA-2CB8-87D8-43DA-8B8E92A9A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8D1AC-962E-BE53-ED58-85FF5655D9EF}"/>
              </a:ext>
            </a:extLst>
          </p:cNvPr>
          <p:cNvSpPr>
            <a:spLocks noGrp="1"/>
          </p:cNvSpPr>
          <p:nvPr>
            <p:ph type="title"/>
          </p:nvPr>
        </p:nvSpPr>
        <p:spPr/>
        <p:txBody>
          <a:bodyPr/>
          <a:lstStyle/>
          <a:p>
            <a:r>
              <a:rPr lang="en-US" b="1" dirty="0"/>
              <a:t>How to Build Your First API?</a:t>
            </a:r>
            <a:endParaRPr lang="en-IN" dirty="0"/>
          </a:p>
        </p:txBody>
      </p:sp>
      <p:sp>
        <p:nvSpPr>
          <p:cNvPr id="3" name="Content Placeholder 2">
            <a:extLst>
              <a:ext uri="{FF2B5EF4-FFF2-40B4-BE49-F238E27FC236}">
                <a16:creationId xmlns:a16="http://schemas.microsoft.com/office/drawing/2014/main" id="{D632BB89-38F9-46D4-FFCD-09A7AB83A831}"/>
              </a:ext>
            </a:extLst>
          </p:cNvPr>
          <p:cNvSpPr>
            <a:spLocks noGrp="1"/>
          </p:cNvSpPr>
          <p:nvPr>
            <p:ph idx="1"/>
          </p:nvPr>
        </p:nvSpPr>
        <p:spPr>
          <a:xfrm>
            <a:off x="1154954" y="2603500"/>
            <a:ext cx="10438332" cy="3867280"/>
          </a:xfrm>
        </p:spPr>
        <p:txBody>
          <a:bodyPr/>
          <a:lstStyle/>
          <a:p>
            <a:r>
              <a:rPr lang="en-US" b="1" dirty="0"/>
              <a:t>4. Designing Endpoints</a:t>
            </a:r>
            <a:endParaRPr lang="en-US" dirty="0"/>
          </a:p>
          <a:p>
            <a:r>
              <a:rPr lang="en-US" dirty="0"/>
              <a:t>Endpoints are specific URLs or URIs where an API listens for client requests and sends responses. Each endpoint corresponds to a resource or a particular action the API provides. When designing endpoints, it is essential to:</a:t>
            </a:r>
          </a:p>
          <a:p>
            <a:r>
              <a:rPr lang="en-US" dirty="0"/>
              <a:t>Identify the key resources the API will manage, such as users, products, or orders.</a:t>
            </a:r>
          </a:p>
          <a:p>
            <a:r>
              <a:rPr lang="en-US" dirty="0"/>
              <a:t>Define what actions clients can perform on these resources, like retrieving information, creating new items, updating existing data, or deleting entries.</a:t>
            </a:r>
          </a:p>
          <a:p>
            <a:r>
              <a:rPr lang="en-US" dirty="0"/>
              <a:t>Use clear and consistent URL paths that represent the resources and the actions available on them.</a:t>
            </a:r>
          </a:p>
          <a:p>
            <a:r>
              <a:rPr lang="en-US" dirty="0"/>
              <a:t>The way these actions are expressed depends on the protocol used by the API.</a:t>
            </a:r>
          </a:p>
          <a:p>
            <a:endParaRPr lang="en-IN" dirty="0"/>
          </a:p>
        </p:txBody>
      </p:sp>
    </p:spTree>
    <p:extLst>
      <p:ext uri="{BB962C8B-B14F-4D97-AF65-F5344CB8AC3E}">
        <p14:creationId xmlns:p14="http://schemas.microsoft.com/office/powerpoint/2010/main" val="2596242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A6AD6-5DCE-DBCE-0694-93757F15EC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F5D73-E5D1-C5D2-A8AE-908EFCBD12EA}"/>
              </a:ext>
            </a:extLst>
          </p:cNvPr>
          <p:cNvSpPr>
            <a:spLocks noGrp="1"/>
          </p:cNvSpPr>
          <p:nvPr>
            <p:ph type="title"/>
          </p:nvPr>
        </p:nvSpPr>
        <p:spPr/>
        <p:txBody>
          <a:bodyPr/>
          <a:lstStyle/>
          <a:p>
            <a:r>
              <a:rPr lang="en-US" b="1" dirty="0"/>
              <a:t>How to Build Your First API?</a:t>
            </a:r>
            <a:endParaRPr lang="en-IN" dirty="0"/>
          </a:p>
        </p:txBody>
      </p:sp>
      <p:sp>
        <p:nvSpPr>
          <p:cNvPr id="3" name="Content Placeholder 2">
            <a:extLst>
              <a:ext uri="{FF2B5EF4-FFF2-40B4-BE49-F238E27FC236}">
                <a16:creationId xmlns:a16="http://schemas.microsoft.com/office/drawing/2014/main" id="{F0A11290-2A71-EE2B-BFFB-8A9FF811079A}"/>
              </a:ext>
            </a:extLst>
          </p:cNvPr>
          <p:cNvSpPr>
            <a:spLocks noGrp="1"/>
          </p:cNvSpPr>
          <p:nvPr>
            <p:ph idx="1"/>
          </p:nvPr>
        </p:nvSpPr>
        <p:spPr>
          <a:xfrm>
            <a:off x="1154954" y="2603500"/>
            <a:ext cx="10438332" cy="3867280"/>
          </a:xfrm>
        </p:spPr>
        <p:txBody>
          <a:bodyPr>
            <a:normAutofit fontScale="92500" lnSpcReduction="20000"/>
          </a:bodyPr>
          <a:lstStyle/>
          <a:p>
            <a:r>
              <a:rPr lang="en-US" b="1" dirty="0"/>
              <a:t>5. Writing Your various Endpoint</a:t>
            </a:r>
            <a:endParaRPr lang="en-US" dirty="0"/>
          </a:p>
          <a:p>
            <a:r>
              <a:rPr lang="en-US" b="1" dirty="0"/>
              <a:t>6. Securing Your API</a:t>
            </a:r>
            <a:endParaRPr lang="en-US" dirty="0"/>
          </a:p>
          <a:p>
            <a:r>
              <a:rPr lang="en-US" dirty="0"/>
              <a:t>Security is essential to protecting user data, preventing unauthorized access, and avoiding misuse of your service. </a:t>
            </a:r>
          </a:p>
          <a:p>
            <a:r>
              <a:rPr lang="en-US" dirty="0"/>
              <a:t>Attackers can steal information, manipulate data, or overload your server without proper security.</a:t>
            </a:r>
          </a:p>
          <a:p>
            <a:pPr marL="0" indent="0">
              <a:buNone/>
            </a:pPr>
            <a:r>
              <a:rPr lang="en-US" dirty="0"/>
              <a:t>To secure your API:</a:t>
            </a:r>
          </a:p>
          <a:p>
            <a:r>
              <a:rPr lang="en-US" dirty="0"/>
              <a:t>Use API keys or tokens to control who can access your endpoints.</a:t>
            </a:r>
          </a:p>
          <a:p>
            <a:r>
              <a:rPr lang="en-US" dirty="0"/>
              <a:t>Validate all user input to block injection attacks or malformed data.</a:t>
            </a:r>
          </a:p>
          <a:p>
            <a:r>
              <a:rPr lang="en-US" dirty="0"/>
              <a:t>Use HTTPS to encrypt data between the client and server, especially in production.</a:t>
            </a:r>
          </a:p>
          <a:p>
            <a:r>
              <a:rPr lang="en-US" dirty="0"/>
              <a:t>Set rate limits to prevent abuse from bots or repeated requests.</a:t>
            </a:r>
          </a:p>
          <a:p>
            <a:r>
              <a:rPr lang="en-US" dirty="0"/>
              <a:t>Handle authentication and authorization using secure standards like OAuth when needed.</a:t>
            </a:r>
          </a:p>
          <a:p>
            <a:endParaRPr lang="en-IN" dirty="0"/>
          </a:p>
        </p:txBody>
      </p:sp>
    </p:spTree>
    <p:extLst>
      <p:ext uri="{BB962C8B-B14F-4D97-AF65-F5344CB8AC3E}">
        <p14:creationId xmlns:p14="http://schemas.microsoft.com/office/powerpoint/2010/main" val="26271033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5E453-F313-6839-96FC-7C0517BC13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88D42-56BD-09FD-6DE4-3E307757016A}"/>
              </a:ext>
            </a:extLst>
          </p:cNvPr>
          <p:cNvSpPr>
            <a:spLocks noGrp="1"/>
          </p:cNvSpPr>
          <p:nvPr>
            <p:ph type="title"/>
          </p:nvPr>
        </p:nvSpPr>
        <p:spPr/>
        <p:txBody>
          <a:bodyPr/>
          <a:lstStyle/>
          <a:p>
            <a:r>
              <a:rPr lang="en-US" b="1" dirty="0"/>
              <a:t>How to Build Your First API?</a:t>
            </a:r>
            <a:endParaRPr lang="en-IN" dirty="0"/>
          </a:p>
        </p:txBody>
      </p:sp>
      <p:sp>
        <p:nvSpPr>
          <p:cNvPr id="3" name="Content Placeholder 2">
            <a:extLst>
              <a:ext uri="{FF2B5EF4-FFF2-40B4-BE49-F238E27FC236}">
                <a16:creationId xmlns:a16="http://schemas.microsoft.com/office/drawing/2014/main" id="{F2B388E9-D73F-5DBD-D7D5-294BD1DFD4A8}"/>
              </a:ext>
            </a:extLst>
          </p:cNvPr>
          <p:cNvSpPr>
            <a:spLocks noGrp="1"/>
          </p:cNvSpPr>
          <p:nvPr>
            <p:ph idx="1"/>
          </p:nvPr>
        </p:nvSpPr>
        <p:spPr>
          <a:xfrm>
            <a:off x="1154954" y="2603500"/>
            <a:ext cx="10438332" cy="3867280"/>
          </a:xfrm>
        </p:spPr>
        <p:txBody>
          <a:bodyPr>
            <a:normAutofit fontScale="92500" lnSpcReduction="20000"/>
          </a:bodyPr>
          <a:lstStyle/>
          <a:p>
            <a:r>
              <a:rPr lang="en-US" dirty="0"/>
              <a:t>Testing Your API</a:t>
            </a:r>
          </a:p>
          <a:p>
            <a:r>
              <a:rPr lang="en-US" dirty="0"/>
              <a:t>API testing validates that each endpoint works as expected and reliably handles different inputs, errors, and conditions.</a:t>
            </a:r>
          </a:p>
          <a:p>
            <a:r>
              <a:rPr lang="en-US" dirty="0"/>
              <a:t> Focus on automated testing to ensure repeatability and early bug detection.</a:t>
            </a:r>
          </a:p>
          <a:p>
            <a:r>
              <a:rPr lang="en-US" dirty="0"/>
              <a:t>Include unit testing to verify isolated logic and integration testing to ensure components like databases or external services interact correctly.</a:t>
            </a:r>
          </a:p>
          <a:p>
            <a:r>
              <a:rPr lang="en-US" dirty="0"/>
              <a:t>Also, add functional testing to check that endpoints behave as expected and error handling tests to confirm your API responds appropriately to invalid input.</a:t>
            </a:r>
          </a:p>
          <a:p>
            <a:r>
              <a:rPr lang="en-US" b="1" dirty="0"/>
              <a:t>1.Write automated tests for each endpoint</a:t>
            </a:r>
            <a:r>
              <a:rPr lang="en-US" dirty="0"/>
              <a:t> using testing frameworks</a:t>
            </a:r>
          </a:p>
          <a:p>
            <a:r>
              <a:rPr lang="en-US" b="1" dirty="0"/>
              <a:t>2. Mock external services</a:t>
            </a:r>
            <a:r>
              <a:rPr lang="en-US" dirty="0"/>
              <a:t> when needed to isolate your API’s behavior from third-party systems.</a:t>
            </a:r>
          </a:p>
          <a:p>
            <a:r>
              <a:rPr lang="en-US" b="1" dirty="0"/>
              <a:t>3. Validate status codes and responses</a:t>
            </a:r>
            <a:r>
              <a:rPr lang="en-US" dirty="0"/>
              <a:t> for correctness. A successful GET should return 200 and valid JSON, while bad requests should return 400 with proper error messages.</a:t>
            </a:r>
          </a:p>
          <a:p>
            <a:r>
              <a:rPr lang="en-US" b="1" dirty="0"/>
              <a:t>4. Add testing to CI pipelines</a:t>
            </a:r>
            <a:r>
              <a:rPr lang="en-US" dirty="0"/>
              <a:t> so tests run automatically with each commit or pull request.</a:t>
            </a:r>
          </a:p>
          <a:p>
            <a:endParaRPr lang="en-IN" dirty="0"/>
          </a:p>
        </p:txBody>
      </p:sp>
    </p:spTree>
    <p:extLst>
      <p:ext uri="{BB962C8B-B14F-4D97-AF65-F5344CB8AC3E}">
        <p14:creationId xmlns:p14="http://schemas.microsoft.com/office/powerpoint/2010/main" val="7886236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A66B4-51CD-93AD-8CF5-1A18FBBE98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F82809-605B-872B-92FE-86E71A76987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528AEC-0A0C-E9C6-40C3-638760649E5D}"/>
              </a:ext>
            </a:extLst>
          </p:cNvPr>
          <p:cNvSpPr>
            <a:spLocks noGrp="1"/>
          </p:cNvSpPr>
          <p:nvPr>
            <p:ph idx="1"/>
          </p:nvPr>
        </p:nvSpPr>
        <p:spPr>
          <a:xfrm>
            <a:off x="1154954" y="2603500"/>
            <a:ext cx="10438332" cy="3867280"/>
          </a:xfrm>
        </p:spPr>
        <p:txBody>
          <a:bodyPr/>
          <a:lstStyle/>
          <a:p>
            <a:endParaRPr lang="en-IN" dirty="0"/>
          </a:p>
        </p:txBody>
      </p:sp>
    </p:spTree>
    <p:extLst>
      <p:ext uri="{BB962C8B-B14F-4D97-AF65-F5344CB8AC3E}">
        <p14:creationId xmlns:p14="http://schemas.microsoft.com/office/powerpoint/2010/main" val="14389160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90B0B-5482-D2A4-ECEC-F645483FA1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93AEF7-030C-345D-E236-B35F5FADF3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23F86E1-3D58-F326-F2FB-5AEE0BB7B0CC}"/>
              </a:ext>
            </a:extLst>
          </p:cNvPr>
          <p:cNvSpPr>
            <a:spLocks noGrp="1"/>
          </p:cNvSpPr>
          <p:nvPr>
            <p:ph idx="1"/>
          </p:nvPr>
        </p:nvSpPr>
        <p:spPr>
          <a:xfrm>
            <a:off x="1154954" y="2603500"/>
            <a:ext cx="10438332" cy="3867280"/>
          </a:xfrm>
        </p:spPr>
        <p:txBody>
          <a:bodyPr/>
          <a:lstStyle/>
          <a:p>
            <a:endParaRPr lang="en-IN" dirty="0"/>
          </a:p>
        </p:txBody>
      </p:sp>
    </p:spTree>
    <p:extLst>
      <p:ext uri="{BB962C8B-B14F-4D97-AF65-F5344CB8AC3E}">
        <p14:creationId xmlns:p14="http://schemas.microsoft.com/office/powerpoint/2010/main" val="19478652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5DFCC-F5ED-8A76-3676-10FD5754FA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5E796-BD1E-3D47-775F-AC93C55A1BC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F535BFA-45BE-B68B-4C4B-D3EEACA61A42}"/>
              </a:ext>
            </a:extLst>
          </p:cNvPr>
          <p:cNvSpPr>
            <a:spLocks noGrp="1"/>
          </p:cNvSpPr>
          <p:nvPr>
            <p:ph idx="1"/>
          </p:nvPr>
        </p:nvSpPr>
        <p:spPr>
          <a:xfrm>
            <a:off x="1154954" y="2603500"/>
            <a:ext cx="10438332" cy="3867280"/>
          </a:xfrm>
        </p:spPr>
        <p:txBody>
          <a:bodyPr/>
          <a:lstStyle/>
          <a:p>
            <a:endParaRPr lang="en-IN" dirty="0"/>
          </a:p>
        </p:txBody>
      </p:sp>
    </p:spTree>
    <p:extLst>
      <p:ext uri="{BB962C8B-B14F-4D97-AF65-F5344CB8AC3E}">
        <p14:creationId xmlns:p14="http://schemas.microsoft.com/office/powerpoint/2010/main" val="6898315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FA0EC-B306-252D-F672-95EE04699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0A2068-359A-B1E8-2E22-1B549ECA85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D3E07C-1140-268E-AAE4-7FC776D1D3B5}"/>
              </a:ext>
            </a:extLst>
          </p:cNvPr>
          <p:cNvSpPr>
            <a:spLocks noGrp="1"/>
          </p:cNvSpPr>
          <p:nvPr>
            <p:ph idx="1"/>
          </p:nvPr>
        </p:nvSpPr>
        <p:spPr>
          <a:xfrm>
            <a:off x="1154954" y="2603500"/>
            <a:ext cx="10438332" cy="3867280"/>
          </a:xfrm>
        </p:spPr>
        <p:txBody>
          <a:bodyPr/>
          <a:lstStyle/>
          <a:p>
            <a:endParaRPr lang="en-IN" dirty="0"/>
          </a:p>
        </p:txBody>
      </p:sp>
    </p:spTree>
    <p:extLst>
      <p:ext uri="{BB962C8B-B14F-4D97-AF65-F5344CB8AC3E}">
        <p14:creationId xmlns:p14="http://schemas.microsoft.com/office/powerpoint/2010/main" val="30643192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56</TotalTime>
  <Words>6155</Words>
  <Application>Microsoft Office PowerPoint</Application>
  <PresentationFormat>Widescreen</PresentationFormat>
  <Paragraphs>428</Paragraphs>
  <Slides>61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Arial</vt:lpstr>
      <vt:lpstr>Century Gothic</vt:lpstr>
      <vt:lpstr>Wingdings 3</vt:lpstr>
      <vt:lpstr>Ion Boardroom</vt:lpstr>
      <vt:lpstr>API’s</vt:lpstr>
      <vt:lpstr>What is an API (Technically)?</vt:lpstr>
      <vt:lpstr>What is an API?</vt:lpstr>
      <vt:lpstr>Functions of APIs</vt:lpstr>
      <vt:lpstr>Functions of APIs</vt:lpstr>
      <vt:lpstr>Why API</vt:lpstr>
      <vt:lpstr>Why API</vt:lpstr>
      <vt:lpstr>Common Use Cases</vt:lpstr>
      <vt:lpstr>API Protocols</vt:lpstr>
      <vt:lpstr>API Protocols</vt:lpstr>
      <vt:lpstr>API Protocols</vt:lpstr>
      <vt:lpstr>API Protocols</vt:lpstr>
      <vt:lpstr>API Protocols</vt:lpstr>
      <vt:lpstr>API Protocols</vt:lpstr>
      <vt:lpstr>API Protocols</vt:lpstr>
      <vt:lpstr>API Protocols</vt:lpstr>
      <vt:lpstr>API Protocols</vt:lpstr>
      <vt:lpstr>API Protocols</vt:lpstr>
      <vt:lpstr>Types of APIs</vt:lpstr>
      <vt:lpstr>Types of APIs</vt:lpstr>
      <vt:lpstr>Types of APIs</vt:lpstr>
      <vt:lpstr>Types of APIs</vt:lpstr>
      <vt:lpstr>Types of APIs</vt:lpstr>
      <vt:lpstr>Types of APIs</vt:lpstr>
      <vt:lpstr>Impact of APIs</vt:lpstr>
      <vt:lpstr>Impact of APIs</vt:lpstr>
      <vt:lpstr>Challenges and Considerations</vt:lpstr>
      <vt:lpstr>Challenges and Considerations</vt:lpstr>
      <vt:lpstr>New Trends in API Development</vt:lpstr>
      <vt:lpstr>New Trends in API Development</vt:lpstr>
      <vt:lpstr>How Application Programming Interfaces (APIs) Work?</vt:lpstr>
      <vt:lpstr>Applications of APIs in the real world</vt:lpstr>
      <vt:lpstr>Applications of APIs in the real world</vt:lpstr>
      <vt:lpstr>Applications of APIs in the real world</vt:lpstr>
      <vt:lpstr>Applications of APIs in the real world</vt:lpstr>
      <vt:lpstr>Applications of APIs in the real world</vt:lpstr>
      <vt:lpstr>Applications of APIs in the real world</vt:lpstr>
      <vt:lpstr>Social Media API Examples</vt:lpstr>
      <vt:lpstr>Social Media API Examples</vt:lpstr>
      <vt:lpstr>Social Media API Examples</vt:lpstr>
      <vt:lpstr>E-commerce and Payments API Examples</vt:lpstr>
      <vt:lpstr>E-commerce and Payments API Examples</vt:lpstr>
      <vt:lpstr>E-commerce and Payments API Examples</vt:lpstr>
      <vt:lpstr>Mapping and Geolocation API Examples</vt:lpstr>
      <vt:lpstr>Mapping and Geolocation API Examples</vt:lpstr>
      <vt:lpstr>Mapping and Geolocation API Examples</vt:lpstr>
      <vt:lpstr>Communication and Messaging API Examples</vt:lpstr>
      <vt:lpstr>Communication and Messaging API Examples</vt:lpstr>
      <vt:lpstr>Communication and Messaging API Examples</vt:lpstr>
      <vt:lpstr>AI and Machine Learning API Examples</vt:lpstr>
      <vt:lpstr>How to Build Your First API?</vt:lpstr>
      <vt:lpstr>How to Build Your First API?</vt:lpstr>
      <vt:lpstr>How to Build Your First API?</vt:lpstr>
      <vt:lpstr>How to Build Your First API?</vt:lpstr>
      <vt:lpstr>How to Build Your First API?</vt:lpstr>
      <vt:lpstr>How to Build Your First API?</vt:lpstr>
      <vt:lpstr>How to Build Your First API?</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anju munoth</dc:creator>
  <cp:lastModifiedBy>anju munoth</cp:lastModifiedBy>
  <cp:revision>50</cp:revision>
  <dcterms:created xsi:type="dcterms:W3CDTF">2025-12-07T17:55:57Z</dcterms:created>
  <dcterms:modified xsi:type="dcterms:W3CDTF">2025-12-07T18:52:35Z</dcterms:modified>
</cp:coreProperties>
</file>
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8" r:id="rId3"/>
    <p:sldId id="257" r:id="rId4"/>
    <p:sldId id="299" r:id="rId5"/>
    <p:sldId id="258" r:id="rId6"/>
    <p:sldId id="259" r:id="rId7"/>
    <p:sldId id="300" r:id="rId8"/>
    <p:sldId id="303" r:id="rId9"/>
    <p:sldId id="304" r:id="rId10"/>
    <p:sldId id="305" r:id="rId11"/>
    <p:sldId id="306" r:id="rId12"/>
    <p:sldId id="307" r:id="rId13"/>
    <p:sldId id="308" r:id="rId14"/>
    <p:sldId id="301" r:id="rId15"/>
    <p:sldId id="302" r:id="rId16"/>
    <p:sldId id="293" r:id="rId17"/>
    <p:sldId id="294" r:id="rId18"/>
    <p:sldId id="295" r:id="rId19"/>
    <p:sldId id="296" r:id="rId20"/>
    <p:sldId id="297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29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06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1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65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7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947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13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02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54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26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30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40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85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77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3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014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536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190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9FEE569-7857-42B3-9C06-B0224762BF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61DA1D3-8758-4413-9D48-3E54AC03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06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../Examples/Async/asyncFetchDataFromUrlExample.py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9371-D363-B587-056B-89AD0C984B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Asynchronous programming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9B151-1D87-7C7C-F32E-77C8B43DEE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313366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AA22-5FA3-916B-C2A1-DB0B7DD2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Asynchronous Programming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DFEF6-7015-99F8-E5F2-58B1F67FF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718250" cy="3806631"/>
          </a:xfrm>
        </p:spPr>
        <p:txBody>
          <a:bodyPr/>
          <a:lstStyle/>
          <a:p>
            <a:r>
              <a:rPr lang="en-US" dirty="0"/>
              <a:t>Python is (mostly) a </a:t>
            </a:r>
            <a:r>
              <a:rPr lang="en-US" b="1" dirty="0"/>
              <a:t>single-threaded</a:t>
            </a:r>
            <a:r>
              <a:rPr lang="en-US" dirty="0"/>
              <a:t> language due to the GIL (Global Interpreter Lock).</a:t>
            </a:r>
          </a:p>
          <a:p>
            <a:r>
              <a:rPr lang="en-US" dirty="0"/>
              <a:t>Traditionally, if you wanted to do two things at once, you used </a:t>
            </a:r>
            <a:r>
              <a:rPr lang="en-US" b="1" dirty="0"/>
              <a:t>Threading</a:t>
            </a:r>
            <a:r>
              <a:rPr lang="en-US" dirty="0"/>
              <a:t> (context switching) or </a:t>
            </a:r>
            <a:r>
              <a:rPr lang="en-US" b="1" dirty="0"/>
              <a:t>Multiprocessing</a:t>
            </a:r>
            <a:r>
              <a:rPr lang="en-US" dirty="0"/>
              <a:t> (multiple CPU cores).</a:t>
            </a:r>
          </a:p>
          <a:p>
            <a:r>
              <a:rPr lang="en-US" b="1" dirty="0"/>
              <a:t>Asynchronous Programming (</a:t>
            </a:r>
            <a:r>
              <a:rPr lang="en-US" b="1" dirty="0" err="1"/>
              <a:t>asyncio</a:t>
            </a:r>
            <a:r>
              <a:rPr lang="en-US" b="1" dirty="0"/>
              <a:t>)</a:t>
            </a:r>
            <a:r>
              <a:rPr lang="en-US" dirty="0"/>
              <a:t> is a third approach.</a:t>
            </a:r>
          </a:p>
          <a:p>
            <a:r>
              <a:rPr lang="en-US" dirty="0"/>
              <a:t> It is </a:t>
            </a:r>
            <a:r>
              <a:rPr lang="en-US" b="1" dirty="0"/>
              <a:t>single-threaded concurrency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830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239D-5752-5388-01F6-04F7BFD8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Asynchronous Programming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BEADA-FA05-E737-4EC7-CB8515EEB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dirty="0"/>
              <a:t>Asynchronous programming lets you handle many I/O-bound operations concurrently in a single thread without blocking. </a:t>
            </a:r>
          </a:p>
          <a:p>
            <a:r>
              <a:rPr lang="en-US" dirty="0"/>
              <a:t>Instead of waiting for slow tasks (like HTTP calls or database queries), you yield control to the event loop, which schedules other work until the awaited task completes.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926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8825-E49B-85F0-BB3D-78FB3786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Concept: The Chess Master Analogy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AB0C-D6EC-0B38-2836-6749846CE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To understand </a:t>
            </a:r>
            <a:r>
              <a:rPr lang="en-US" dirty="0" err="1"/>
              <a:t>asyncio</a:t>
            </a:r>
            <a:r>
              <a:rPr lang="en-US" dirty="0"/>
              <a:t>, visualize a Chess Master playing against 10 opponents simultaneously.</a:t>
            </a:r>
          </a:p>
          <a:p>
            <a:r>
              <a:rPr lang="en-US" b="1" dirty="0"/>
              <a:t>Synchronous (Blocking):</a:t>
            </a:r>
            <a:r>
              <a:rPr lang="en-US" dirty="0"/>
              <a:t> The Master plays Opponent 1 until the game finishes. Then moves to Opponent 2. If Opponent 1 takes 5 minutes to think, the Master sits there doing nothing for 5 minutes.</a:t>
            </a:r>
          </a:p>
          <a:p>
            <a:r>
              <a:rPr lang="en-US" b="1" dirty="0"/>
              <a:t>Multiprocessing (Parallelism):</a:t>
            </a:r>
            <a:r>
              <a:rPr lang="en-US" dirty="0"/>
              <a:t> You hire 10 different Masters to play 10 games at the exact same time. Expensive (high memory/CPU usage).</a:t>
            </a:r>
          </a:p>
          <a:p>
            <a:r>
              <a:rPr lang="en-US" b="1" dirty="0"/>
              <a:t>Asynchronous (Non-Blocking):</a:t>
            </a:r>
            <a:r>
              <a:rPr lang="en-US" dirty="0"/>
              <a:t> There is </a:t>
            </a:r>
            <a:r>
              <a:rPr lang="en-US" b="1" dirty="0"/>
              <a:t>one</a:t>
            </a:r>
            <a:r>
              <a:rPr lang="en-US" dirty="0"/>
              <a:t> Master. She makes a move against Opponent 1. While Opponent 1 is thinking, she immediately moves to Opponent 2. She never waits. She is always working, cycling through the boards.</a:t>
            </a:r>
          </a:p>
          <a:p>
            <a:r>
              <a:rPr lang="en-US" b="1" dirty="0"/>
              <a:t>In Python:</a:t>
            </a:r>
            <a:endParaRPr lang="en-US" dirty="0"/>
          </a:p>
          <a:p>
            <a:r>
              <a:rPr lang="en-US" b="1" dirty="0"/>
              <a:t>The Master</a:t>
            </a:r>
            <a:r>
              <a:rPr lang="en-US" dirty="0"/>
              <a:t> = The Event Loop.</a:t>
            </a:r>
          </a:p>
          <a:p>
            <a:r>
              <a:rPr lang="en-US" b="1" dirty="0"/>
              <a:t>The Opponents</a:t>
            </a:r>
            <a:r>
              <a:rPr lang="en-US" dirty="0"/>
              <a:t> = I/O Operations (Database queries, API calls, File reads).</a:t>
            </a:r>
          </a:p>
          <a:p>
            <a:r>
              <a:rPr lang="en-US" b="1" dirty="0"/>
              <a:t>Thinking Time</a:t>
            </a:r>
            <a:r>
              <a:rPr lang="en-US" dirty="0"/>
              <a:t> = Network latency.</a:t>
            </a:r>
          </a:p>
          <a:p>
            <a:r>
              <a:rPr lang="en-US" b="1" dirty="0"/>
              <a:t>Key Takeaway:</a:t>
            </a:r>
            <a:r>
              <a:rPr lang="en-US" dirty="0"/>
              <a:t> Async does </a:t>
            </a:r>
            <a:r>
              <a:rPr lang="en-US" b="1" dirty="0"/>
              <a:t>not</a:t>
            </a:r>
            <a:r>
              <a:rPr lang="en-US" dirty="0"/>
              <a:t> make code run faster (CPU speed). It makes code </a:t>
            </a:r>
            <a:r>
              <a:rPr lang="en-US" b="1" dirty="0"/>
              <a:t>wait</a:t>
            </a:r>
            <a:r>
              <a:rPr lang="en-US" dirty="0"/>
              <a:t> more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31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9951-507E-28F1-DA02-E29F91E3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D810-1641-8849-6578-8936F298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2B7F1-353B-45C6-EBDC-809E78852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Event loop, coroutines, and </a:t>
            </a:r>
            <a:r>
              <a:rPr lang="en-US" dirty="0" err="1"/>
              <a:t>awaitables</a:t>
            </a:r>
            <a:endParaRPr lang="en-US" dirty="0"/>
          </a:p>
          <a:p>
            <a:r>
              <a:rPr lang="en-US" b="1" dirty="0"/>
              <a:t>Event loop:</a:t>
            </a:r>
            <a:r>
              <a:rPr lang="en-US" dirty="0"/>
              <a:t> The scheduler that runs asynchronous tasks and callbacks, handles I/O, and orchestrates timing.</a:t>
            </a:r>
          </a:p>
          <a:p>
            <a:r>
              <a:rPr lang="en-US" b="1" dirty="0"/>
              <a:t>Coroutine:</a:t>
            </a:r>
            <a:r>
              <a:rPr lang="en-US" dirty="0"/>
              <a:t> An async function defined with async def that can be paused and resumed. It returns an </a:t>
            </a:r>
            <a:r>
              <a:rPr lang="en-US" dirty="0" err="1"/>
              <a:t>awaitable</a:t>
            </a:r>
            <a:r>
              <a:rPr lang="en-US" dirty="0"/>
              <a:t>.</a:t>
            </a:r>
          </a:p>
          <a:p>
            <a:r>
              <a:rPr lang="en-US" b="1" dirty="0" err="1"/>
              <a:t>Awaitable</a:t>
            </a:r>
            <a:r>
              <a:rPr lang="en-US" b="1" dirty="0"/>
              <a:t>:</a:t>
            </a:r>
            <a:r>
              <a:rPr lang="en-US" dirty="0"/>
              <a:t> An object you can await (coroutines, Tasks, Futures). await yields control back to the event loop.</a:t>
            </a:r>
          </a:p>
          <a:p>
            <a:pPr marL="0" indent="0">
              <a:buNone/>
            </a:pPr>
            <a:r>
              <a:rPr lang="en-US" dirty="0"/>
              <a:t>Tasks and concurrency</a:t>
            </a:r>
          </a:p>
          <a:p>
            <a:r>
              <a:rPr lang="en-US" b="1" dirty="0"/>
              <a:t>Task:</a:t>
            </a:r>
            <a:r>
              <a:rPr lang="en-US" dirty="0"/>
              <a:t> A wrapper around a coroutine that the event loop runs concurrently with others.</a:t>
            </a:r>
          </a:p>
          <a:p>
            <a:r>
              <a:rPr lang="en-US" b="1" dirty="0"/>
              <a:t>Concurrency vs parallelism:</a:t>
            </a:r>
            <a:r>
              <a:rPr lang="en-US" dirty="0"/>
              <a:t> Async provides concurrency (interleaving work) in one thread. Parallelism requires multiple threads or processes.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11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0E93-3D65-9593-E361-F0EA4FAC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A705-D1D8-BF6A-5894-D577E239E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async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766D-5BA0-828A-C0B3-77BBE7DFC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Efficiency for I/O-bound work:</a:t>
            </a:r>
            <a:r>
              <a:rPr lang="en-US" dirty="0"/>
              <a:t> Non-blocking I/O lets a single process handle thousands of connections.</a:t>
            </a:r>
          </a:p>
          <a:p>
            <a:r>
              <a:rPr lang="en-US" b="1" dirty="0"/>
              <a:t>Lower resource usage:</a:t>
            </a:r>
            <a:r>
              <a:rPr lang="en-US" dirty="0"/>
              <a:t> Fewer threads/processes, less context switching.</a:t>
            </a:r>
          </a:p>
          <a:p>
            <a:r>
              <a:rPr lang="en-US" b="1" dirty="0"/>
              <a:t>Better responsiveness:</a:t>
            </a:r>
            <a:r>
              <a:rPr lang="en-US" dirty="0"/>
              <a:t> Great for APIs, web servers, and real-time apps where latency matters.</a:t>
            </a:r>
          </a:p>
          <a:p>
            <a:r>
              <a:rPr lang="en-US" b="1" dirty="0"/>
              <a:t>Structured cancellation and timeouts:</a:t>
            </a:r>
            <a:r>
              <a:rPr lang="en-US" dirty="0"/>
              <a:t> Built-in mechanisms to cancel tasks, set deadlines, and handle backpressure.</a:t>
            </a:r>
          </a:p>
          <a:p>
            <a:r>
              <a:rPr lang="en-US" dirty="0"/>
              <a:t>When your workload spends most time waiting on network, disk, or IPC, async is a strong fit. For CPU-heavy tasks, it won’t help by itself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35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7350-4991-51C0-5E20-F45649D8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asyncio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A2B3C-7AED-055A-1C06-CE83CC441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013789" cy="379263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Syntax: The async and await keywords</a:t>
            </a:r>
          </a:p>
          <a:p>
            <a:r>
              <a:rPr lang="en-US" b="1" dirty="0"/>
              <a:t>async def</a:t>
            </a:r>
            <a:r>
              <a:rPr lang="en-US" dirty="0"/>
              <a:t>: Defines a </a:t>
            </a:r>
            <a:r>
              <a:rPr lang="en-US" b="1" dirty="0"/>
              <a:t>Coroutine</a:t>
            </a:r>
            <a:r>
              <a:rPr lang="en-US" dirty="0"/>
              <a:t>. Calling this function doesn't run it; it returns a coroutine object to be scheduled.</a:t>
            </a:r>
          </a:p>
          <a:p>
            <a:r>
              <a:rPr lang="en-US" b="1" dirty="0"/>
              <a:t>await</a:t>
            </a:r>
            <a:r>
              <a:rPr lang="en-US" dirty="0"/>
              <a:t>: The "pause button." It tells Python: </a:t>
            </a:r>
            <a:r>
              <a:rPr lang="en-US" i="1" dirty="0"/>
              <a:t>"Pause this function, go do other work, and come back here when the result is ready.“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asyncio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async def greet():</a:t>
            </a:r>
          </a:p>
          <a:p>
            <a:pPr marL="0" indent="0">
              <a:buNone/>
            </a:pPr>
            <a:r>
              <a:rPr lang="en-US" dirty="0"/>
              <a:t>   print("Hello!")</a:t>
            </a:r>
          </a:p>
          <a:p>
            <a:pPr marL="0" indent="0">
              <a:buNone/>
            </a:pPr>
            <a:r>
              <a:rPr lang="en-US" dirty="0"/>
              <a:t>   await </a:t>
            </a:r>
            <a:r>
              <a:rPr lang="en-US" dirty="0" err="1"/>
              <a:t>asyncio.sleep</a:t>
            </a:r>
            <a:r>
              <a:rPr lang="en-US" dirty="0"/>
              <a:t>(2) # Simulates a non-blocking delay</a:t>
            </a:r>
          </a:p>
          <a:p>
            <a:pPr marL="0" indent="0">
              <a:buNone/>
            </a:pPr>
            <a:r>
              <a:rPr lang="en-US" dirty="0"/>
              <a:t>   print("Welcome to Asynchronous Programming!")</a:t>
            </a:r>
          </a:p>
          <a:p>
            <a:pPr marL="0" indent="0">
              <a:buNone/>
            </a:pPr>
            <a:r>
              <a:rPr lang="en-US" dirty="0" err="1"/>
              <a:t>asyncio.run</a:t>
            </a:r>
            <a:r>
              <a:rPr lang="en-US" dirty="0"/>
              <a:t>(greet())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306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E254-54AE-FA3D-98CC-0D7D1B812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Roboto" panose="02000000000000000000" pitchFamily="2" charset="0"/>
              </a:rPr>
              <a:t>Running Multiple Tasks Concurrently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C1DBCC-46EC-AFC0-7227-9C7BEF62B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558073"/>
            <a:ext cx="10321699" cy="40934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</a:rPr>
              <a:t>Using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asyncio.gather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</a:rPr>
              <a:t>, multiple asynchronous tasks can run simultaneously, significantly improving performance for I/O-bound operations.</a:t>
            </a:r>
          </a:p>
          <a:p>
            <a:pPr defTabSz="914400">
              <a:buClrTx/>
              <a:buSzTx/>
            </a:pPr>
            <a:endParaRPr kumimoji="0" lang="en-US" altLang="en-US" sz="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import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asyncio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async def task1():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print("Task 1 started")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await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asyncio.sleep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print("Task 1 finished")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async def task2():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print("Task 2 started")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await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asyncio.sleep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print("Task 2 finished")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async def main():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await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asyncio.gather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(task1(), task2()) # Runs both tasks concurrently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asyncio.run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(main())</a:t>
            </a:r>
          </a:p>
          <a:p>
            <a:pPr defTabSz="914400"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</a:rPr>
              <a:t>Here,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task1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</a:rPr>
              <a:t> and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task2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</a:rPr>
              <a:t> execute concurrently. Task 2 finishes first because it has a shorter delay.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00860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3FFEC-E522-F2DD-EE09-64C32BC2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Guess the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0EB7-8D3F-052E-C677-D1DA4B38F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import </a:t>
            </a:r>
            <a:r>
              <a:rPr lang="en-IN" sz="1400" dirty="0" err="1"/>
              <a:t>asyncio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async def task(name, delay):</a:t>
            </a:r>
          </a:p>
          <a:p>
            <a:pPr marL="0" indent="0">
              <a:buNone/>
            </a:pPr>
            <a:r>
              <a:rPr lang="en-IN" sz="1400" dirty="0"/>
              <a:t>    await </a:t>
            </a:r>
            <a:r>
              <a:rPr lang="en-IN" sz="1400" dirty="0" err="1"/>
              <a:t>asyncio.sleep</a:t>
            </a:r>
            <a:r>
              <a:rPr lang="en-IN" sz="1400" dirty="0"/>
              <a:t>(delay)</a:t>
            </a:r>
          </a:p>
          <a:p>
            <a:pPr marL="0" indent="0">
              <a:buNone/>
            </a:pPr>
            <a:r>
              <a:rPr lang="en-IN" sz="1400" dirty="0"/>
              <a:t>    print(</a:t>
            </a:r>
            <a:r>
              <a:rPr lang="en-IN" sz="1400" dirty="0" err="1"/>
              <a:t>f"Task</a:t>
            </a:r>
            <a:r>
              <a:rPr lang="en-IN" sz="1400" dirty="0"/>
              <a:t> {name} finished after {delay}s")</a:t>
            </a:r>
          </a:p>
          <a:p>
            <a:pPr marL="0" indent="0">
              <a:buNone/>
            </a:pPr>
            <a:r>
              <a:rPr lang="en-IN" sz="1400" dirty="0"/>
              <a:t>async def main():</a:t>
            </a:r>
          </a:p>
          <a:p>
            <a:pPr marL="0" indent="0">
              <a:buNone/>
            </a:pPr>
            <a:r>
              <a:rPr lang="en-IN" sz="1400" dirty="0"/>
              <a:t>    # Schedule tasks</a:t>
            </a:r>
          </a:p>
          <a:p>
            <a:pPr marL="0" indent="0">
              <a:buNone/>
            </a:pPr>
            <a:r>
              <a:rPr lang="en-IN" sz="1400" dirty="0"/>
              <a:t>    tasks = [task("A", 2), task("B", 1)]</a:t>
            </a:r>
          </a:p>
          <a:p>
            <a:pPr marL="0" indent="0">
              <a:buNone/>
            </a:pPr>
            <a:r>
              <a:rPr lang="en-IN" sz="1400" dirty="0"/>
              <a:t>    await </a:t>
            </a:r>
            <a:r>
              <a:rPr lang="en-IN" sz="1400" dirty="0" err="1"/>
              <a:t>asyncio.gather</a:t>
            </a:r>
            <a:r>
              <a:rPr lang="en-IN" sz="1400" dirty="0"/>
              <a:t>(*tasks)</a:t>
            </a:r>
          </a:p>
          <a:p>
            <a:pPr marL="0" indent="0">
              <a:buNone/>
            </a:pPr>
            <a:r>
              <a:rPr lang="en-IN" sz="1400" dirty="0"/>
              <a:t># Run event loop</a:t>
            </a:r>
          </a:p>
          <a:p>
            <a:pPr marL="0" indent="0">
              <a:buNone/>
            </a:pPr>
            <a:r>
              <a:rPr lang="en-IN" sz="1400" dirty="0" err="1"/>
              <a:t>asyncio.run</a:t>
            </a:r>
            <a:r>
              <a:rPr lang="en-IN" sz="1400" dirty="0"/>
              <a:t>(main())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D620A-4E5A-EDF7-2562-1DEBA7B13980}"/>
              </a:ext>
            </a:extLst>
          </p:cNvPr>
          <p:cNvSpPr txBox="1"/>
          <p:nvPr/>
        </p:nvSpPr>
        <p:spPr>
          <a:xfrm>
            <a:off x="5949431" y="2834322"/>
            <a:ext cx="609522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happens: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Both tasks are registered in the event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Task B finishes first (after 1s), then Task A (after 2s).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loop switches between them efficiently, without blocking</a:t>
            </a:r>
          </a:p>
        </p:txBody>
      </p:sp>
    </p:spTree>
    <p:extLst>
      <p:ext uri="{BB962C8B-B14F-4D97-AF65-F5344CB8AC3E}">
        <p14:creationId xmlns:p14="http://schemas.microsoft.com/office/powerpoint/2010/main" val="85726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0287-5D3F-9007-9F30-E3BEFF8D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Event Loop?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A7F70-CCFC-0159-229C-86DD9214C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934479" cy="3657341"/>
          </a:xfrm>
        </p:spPr>
        <p:txBody>
          <a:bodyPr/>
          <a:lstStyle/>
          <a:p>
            <a:r>
              <a:rPr lang="en-US" b="1" dirty="0"/>
              <a:t>event loop</a:t>
            </a:r>
            <a:r>
              <a:rPr lang="en-US" dirty="0"/>
              <a:t> is a single-threaded scheduler that manages coroutines, tasks, and callbacks.</a:t>
            </a:r>
          </a:p>
          <a:p>
            <a:r>
              <a:rPr lang="en-US" dirty="0"/>
              <a:t>Allows Python to perform </a:t>
            </a:r>
            <a:r>
              <a:rPr lang="en-US" b="1" dirty="0"/>
              <a:t>concurrent operations</a:t>
            </a:r>
            <a:r>
              <a:rPr lang="en-US" dirty="0"/>
              <a:t> without using multiple threads or processes.</a:t>
            </a:r>
          </a:p>
          <a:p>
            <a:r>
              <a:rPr lang="en-US" dirty="0"/>
              <a:t>Instead of waiting for one task to finish (like network I/O), the loop switches to another task, keeping the program responsive.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45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92D2-D2A9-6672-10C2-548C67CB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Event Loop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35F20-3E20-BB88-C930-4288A206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8981" cy="382995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Start the loop</a:t>
            </a:r>
            <a:endParaRPr lang="en-US" dirty="0"/>
          </a:p>
          <a:p>
            <a:pPr lvl="1"/>
            <a:r>
              <a:rPr lang="en-US" dirty="0"/>
              <a:t>Typically with </a:t>
            </a:r>
            <a:r>
              <a:rPr lang="en-US" dirty="0" err="1"/>
              <a:t>asyncio.run</a:t>
            </a:r>
            <a:r>
              <a:rPr lang="en-US" dirty="0"/>
              <a:t>(main()), which creates and runs an event loop until the given coroutine completes.</a:t>
            </a:r>
          </a:p>
          <a:p>
            <a:pPr lvl="1"/>
            <a:r>
              <a:rPr lang="en-US" dirty="0"/>
              <a:t>Internally, this sets up the loop, runs tasks, and shuts it down cleanly.</a:t>
            </a:r>
          </a:p>
          <a:p>
            <a:r>
              <a:rPr lang="en-US" b="1" dirty="0"/>
              <a:t>Register tasks</a:t>
            </a:r>
            <a:endParaRPr lang="en-US" dirty="0"/>
          </a:p>
          <a:p>
            <a:pPr lvl="1"/>
            <a:r>
              <a:rPr lang="en-US" dirty="0"/>
              <a:t>Coroutines (async def) are scheduled on the loop using </a:t>
            </a:r>
            <a:r>
              <a:rPr lang="en-US" dirty="0" err="1"/>
              <a:t>asyncio.create_task</a:t>
            </a:r>
            <a:r>
              <a:rPr lang="en-US" dirty="0"/>
              <a:t>() or </a:t>
            </a:r>
            <a:r>
              <a:rPr lang="en-US" dirty="0" err="1"/>
              <a:t>asyncio.gather</a:t>
            </a:r>
            <a:r>
              <a:rPr lang="en-US" dirty="0"/>
              <a:t>().</a:t>
            </a:r>
          </a:p>
          <a:p>
            <a:pPr lvl="1"/>
            <a:r>
              <a:rPr lang="en-US" dirty="0"/>
              <a:t>The loop keeps track of all pending tasks.</a:t>
            </a:r>
          </a:p>
          <a:p>
            <a:r>
              <a:rPr lang="en-US" b="1" dirty="0"/>
              <a:t>Non-blocking execution</a:t>
            </a:r>
            <a:endParaRPr lang="en-US" dirty="0"/>
          </a:p>
          <a:p>
            <a:pPr lvl="1"/>
            <a:r>
              <a:rPr lang="en-US" dirty="0"/>
              <a:t>When a coroutine hits an await (e.g., await </a:t>
            </a:r>
            <a:r>
              <a:rPr lang="en-US" dirty="0" err="1"/>
              <a:t>asyncio.sleep</a:t>
            </a:r>
            <a:r>
              <a:rPr lang="en-US" dirty="0"/>
              <a:t>(1)), it yields control back to the loop.</a:t>
            </a:r>
          </a:p>
          <a:p>
            <a:pPr lvl="1"/>
            <a:r>
              <a:rPr lang="en-US" dirty="0"/>
              <a:t>The loop then runs other tasks that are ready, instead of idling.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26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7AE5-39DD-8A8B-F362-77D6E7A7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Event Loop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B366C-3876-38CD-55F7-0C3E1F9A7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I/O multiplexing</a:t>
            </a:r>
          </a:p>
          <a:p>
            <a:pPr lvl="1"/>
            <a:r>
              <a:rPr lang="en-US" b="1" dirty="0"/>
              <a:t> The loop uses system-level mechanisms (like select, </a:t>
            </a:r>
            <a:r>
              <a:rPr lang="en-US" b="1" dirty="0" err="1"/>
              <a:t>epoll</a:t>
            </a:r>
            <a:r>
              <a:rPr lang="en-US" b="1" dirty="0"/>
              <a:t>, or </a:t>
            </a:r>
            <a:r>
              <a:rPr lang="en-US" b="1" dirty="0" err="1"/>
              <a:t>kqueue</a:t>
            </a:r>
            <a:r>
              <a:rPr lang="en-US" b="1" dirty="0"/>
              <a:t>) to monitor sockets, files, or subprocesses.</a:t>
            </a:r>
          </a:p>
          <a:p>
            <a:pPr lvl="1"/>
            <a:r>
              <a:rPr lang="en-US" b="1" dirty="0"/>
              <a:t> When data is ready, the loop resumes the corresponding coroutine.</a:t>
            </a:r>
          </a:p>
          <a:p>
            <a:r>
              <a:rPr lang="en-US" b="1" dirty="0"/>
              <a:t>Callbacks &amp; Futures</a:t>
            </a:r>
          </a:p>
          <a:p>
            <a:pPr lvl="1"/>
            <a:r>
              <a:rPr lang="en-US" b="1" dirty="0"/>
              <a:t> The loop can also run callbacks (functions triggered when a task completes) and manage Future objects, which represent results that will be available later.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3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6366-6BEC-AFD2-11E0-3D2BD109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A8762-5077-A757-1C99-4C30F23A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28393" cy="3773973"/>
          </a:xfrm>
        </p:spPr>
        <p:txBody>
          <a:bodyPr/>
          <a:lstStyle/>
          <a:p>
            <a:r>
              <a:rPr lang="en-US" dirty="0"/>
              <a:t>- Single-threaded concurrency: The event loop runs in one thread but can juggle many tasks.</a:t>
            </a:r>
          </a:p>
          <a:p>
            <a:r>
              <a:rPr lang="en-US" dirty="0"/>
              <a:t>- Non-blocking I/O: Perfect for network servers, API calls, or database queries.</a:t>
            </a:r>
          </a:p>
          <a:p>
            <a:r>
              <a:rPr lang="en-US" dirty="0"/>
              <a:t>- Task scheduling: Coroutines yield control at await, letting the loop run other tasks.</a:t>
            </a:r>
          </a:p>
          <a:p>
            <a:r>
              <a:rPr lang="en-US" dirty="0"/>
              <a:t>- High-level API: Use </a:t>
            </a:r>
            <a:r>
              <a:rPr lang="en-US" dirty="0" err="1"/>
              <a:t>asyncio.run</a:t>
            </a:r>
            <a:r>
              <a:rPr lang="en-US" dirty="0"/>
              <a:t>(), </a:t>
            </a:r>
            <a:r>
              <a:rPr lang="en-US" dirty="0" err="1"/>
              <a:t>asyncio.gather</a:t>
            </a:r>
            <a:r>
              <a:rPr lang="en-US" dirty="0"/>
              <a:t>(), and </a:t>
            </a:r>
            <a:r>
              <a:rPr lang="en-US" dirty="0" err="1"/>
              <a:t>asyncio.create_task</a:t>
            </a:r>
            <a:r>
              <a:rPr lang="en-US" dirty="0"/>
              <a:t>() for most cases; direct loop manipulation is rarely needed.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830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D9B82-A2E7-051C-C66E-05514F75B713}"/>
              </a:ext>
            </a:extLst>
          </p:cNvPr>
          <p:cNvSpPr txBox="1"/>
          <p:nvPr/>
        </p:nvSpPr>
        <p:spPr>
          <a:xfrm>
            <a:off x="714957" y="505303"/>
            <a:ext cx="7603283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Inter"/>
              </a:rPr>
              <a:t>"Old Way" (Synchronous)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effectLst/>
                <a:latin typeface="Inter"/>
              </a:rPr>
              <a:t>If this were an API call, your program freezes for 1 second per call.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EEF24-D9BF-2646-8424-38EA8DDDCB41}"/>
              </a:ext>
            </a:extLst>
          </p:cNvPr>
          <p:cNvSpPr txBox="1"/>
          <p:nvPr/>
        </p:nvSpPr>
        <p:spPr>
          <a:xfrm>
            <a:off x="1162827" y="1166842"/>
            <a:ext cx="6095222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time</a:t>
            </a:r>
          </a:p>
          <a:p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sync_task</a:t>
            </a:r>
            <a:r>
              <a:rPr lang="en-IN" dirty="0"/>
              <a:t>(name):</a:t>
            </a:r>
          </a:p>
          <a:p>
            <a:r>
              <a:rPr lang="en-IN" dirty="0"/>
              <a:t>    print(</a:t>
            </a:r>
            <a:r>
              <a:rPr lang="en-IN" dirty="0" err="1"/>
              <a:t>f"Task</a:t>
            </a:r>
            <a:r>
              <a:rPr lang="en-IN" dirty="0"/>
              <a:t> {name} starting")</a:t>
            </a:r>
          </a:p>
          <a:p>
            <a:r>
              <a:rPr lang="en-IN" dirty="0"/>
              <a:t>    </a:t>
            </a:r>
            <a:r>
              <a:rPr lang="en-IN" dirty="0" err="1"/>
              <a:t>time.sleep</a:t>
            </a:r>
            <a:r>
              <a:rPr lang="en-IN" dirty="0"/>
              <a:t>(1) # BLOCKS the entire execution</a:t>
            </a:r>
          </a:p>
          <a:p>
            <a:r>
              <a:rPr lang="en-IN" dirty="0"/>
              <a:t>    print(</a:t>
            </a:r>
            <a:r>
              <a:rPr lang="en-IN" dirty="0" err="1"/>
              <a:t>f"Task</a:t>
            </a:r>
            <a:r>
              <a:rPr lang="en-IN" dirty="0"/>
              <a:t> {name} finished")</a:t>
            </a:r>
          </a:p>
          <a:p>
            <a:endParaRPr lang="en-IN" dirty="0"/>
          </a:p>
          <a:p>
            <a:r>
              <a:rPr lang="en-IN" dirty="0"/>
              <a:t>def main():</a:t>
            </a:r>
          </a:p>
          <a:p>
            <a:r>
              <a:rPr lang="en-IN" dirty="0"/>
              <a:t>    start = </a:t>
            </a:r>
            <a:r>
              <a:rPr lang="en-IN" dirty="0" err="1"/>
              <a:t>time.time</a:t>
            </a:r>
            <a:r>
              <a:rPr lang="en-IN" dirty="0"/>
              <a:t>()</a:t>
            </a:r>
          </a:p>
          <a:p>
            <a:r>
              <a:rPr lang="en-IN" dirty="0"/>
              <a:t>    </a:t>
            </a:r>
            <a:r>
              <a:rPr lang="en-IN" dirty="0" err="1"/>
              <a:t>sync_task</a:t>
            </a:r>
            <a:r>
              <a:rPr lang="en-IN" dirty="0"/>
              <a:t>("A")</a:t>
            </a:r>
          </a:p>
          <a:p>
            <a:r>
              <a:rPr lang="en-IN" dirty="0"/>
              <a:t>    </a:t>
            </a:r>
            <a:r>
              <a:rPr lang="en-IN" dirty="0" err="1"/>
              <a:t>sync_task</a:t>
            </a:r>
            <a:r>
              <a:rPr lang="en-IN" dirty="0"/>
              <a:t>("B")</a:t>
            </a:r>
          </a:p>
          <a:p>
            <a:r>
              <a:rPr lang="en-IN" dirty="0"/>
              <a:t>    </a:t>
            </a:r>
            <a:r>
              <a:rPr lang="en-IN" dirty="0" err="1"/>
              <a:t>sync_task</a:t>
            </a:r>
            <a:r>
              <a:rPr lang="en-IN" dirty="0"/>
              <a:t>("C")</a:t>
            </a:r>
          </a:p>
          <a:p>
            <a:r>
              <a:rPr lang="en-IN" dirty="0"/>
              <a:t>    print(</a:t>
            </a:r>
            <a:r>
              <a:rPr lang="en-IN" dirty="0" err="1"/>
              <a:t>f"Total</a:t>
            </a:r>
            <a:r>
              <a:rPr lang="en-IN" dirty="0"/>
              <a:t> time: {</a:t>
            </a:r>
            <a:r>
              <a:rPr lang="en-IN" dirty="0" err="1"/>
              <a:t>time.time</a:t>
            </a:r>
            <a:r>
              <a:rPr lang="en-IN" dirty="0"/>
              <a:t>() - start:.2f} seconds")</a:t>
            </a:r>
          </a:p>
          <a:p>
            <a:endParaRPr lang="en-IN" dirty="0"/>
          </a:p>
          <a:p>
            <a:r>
              <a:rPr lang="en-IN" dirty="0"/>
              <a:t>main()</a:t>
            </a:r>
          </a:p>
          <a:p>
            <a:r>
              <a:rPr lang="en-IN" dirty="0"/>
              <a:t># Output: Total time: 3.01 seconds</a:t>
            </a:r>
          </a:p>
        </p:txBody>
      </p:sp>
    </p:spTree>
    <p:extLst>
      <p:ext uri="{BB962C8B-B14F-4D97-AF65-F5344CB8AC3E}">
        <p14:creationId xmlns:p14="http://schemas.microsoft.com/office/powerpoint/2010/main" val="1393522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D27B8F-79B9-74CC-A0D4-88152926F93D}"/>
              </a:ext>
            </a:extLst>
          </p:cNvPr>
          <p:cNvSpPr txBox="1"/>
          <p:nvPr/>
        </p:nvSpPr>
        <p:spPr>
          <a:xfrm>
            <a:off x="598325" y="55585"/>
            <a:ext cx="6095222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Inter"/>
              </a:rPr>
              <a:t> "Async Way" (</a:t>
            </a:r>
            <a:r>
              <a:rPr lang="en-US" b="1" i="0" dirty="0" err="1">
                <a:effectLst/>
                <a:latin typeface="DM Mono" panose="020B0509040201040103" pitchFamily="49" charset="0"/>
              </a:rPr>
              <a:t>asyncio</a:t>
            </a:r>
            <a:r>
              <a:rPr lang="en-US" b="1" i="0" dirty="0">
                <a:effectLst/>
                <a:latin typeface="Inter"/>
              </a:rPr>
              <a:t>)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effectLst/>
                <a:latin typeface="Inter"/>
              </a:rPr>
              <a:t>This runs seemingly in parallel, but on a single thread.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0A051-17C0-29CD-7E45-8FB745809043}"/>
              </a:ext>
            </a:extLst>
          </p:cNvPr>
          <p:cNvSpPr txBox="1"/>
          <p:nvPr/>
        </p:nvSpPr>
        <p:spPr>
          <a:xfrm>
            <a:off x="1536052" y="564389"/>
            <a:ext cx="6095222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asyncio</a:t>
            </a:r>
            <a:endParaRPr lang="en-IN" dirty="0"/>
          </a:p>
          <a:p>
            <a:r>
              <a:rPr lang="en-IN" dirty="0"/>
              <a:t>import time</a:t>
            </a:r>
          </a:p>
          <a:p>
            <a:endParaRPr lang="en-IN" dirty="0"/>
          </a:p>
          <a:p>
            <a:r>
              <a:rPr lang="en-IN" dirty="0"/>
              <a:t>async def </a:t>
            </a:r>
            <a:r>
              <a:rPr lang="en-IN" dirty="0" err="1"/>
              <a:t>async_task</a:t>
            </a:r>
            <a:r>
              <a:rPr lang="en-IN" dirty="0"/>
              <a:t>(name):</a:t>
            </a:r>
          </a:p>
          <a:p>
            <a:r>
              <a:rPr lang="en-IN" dirty="0"/>
              <a:t>    print(</a:t>
            </a:r>
            <a:r>
              <a:rPr lang="en-IN" dirty="0" err="1"/>
              <a:t>f"Task</a:t>
            </a:r>
            <a:r>
              <a:rPr lang="en-IN" dirty="0"/>
              <a:t> {name} starting")</a:t>
            </a:r>
          </a:p>
          <a:p>
            <a:r>
              <a:rPr lang="en-IN" dirty="0"/>
              <a:t>    # await passes control back to the Event Loop</a:t>
            </a:r>
          </a:p>
          <a:p>
            <a:r>
              <a:rPr lang="en-IN" dirty="0"/>
              <a:t>    await </a:t>
            </a:r>
            <a:r>
              <a:rPr lang="en-IN" dirty="0" err="1"/>
              <a:t>asyncio.sleep</a:t>
            </a:r>
            <a:r>
              <a:rPr lang="en-IN" dirty="0"/>
              <a:t>(1) </a:t>
            </a:r>
          </a:p>
          <a:p>
            <a:r>
              <a:rPr lang="en-IN" dirty="0"/>
              <a:t>    print(</a:t>
            </a:r>
            <a:r>
              <a:rPr lang="en-IN" dirty="0" err="1"/>
              <a:t>f"Task</a:t>
            </a:r>
            <a:r>
              <a:rPr lang="en-IN" dirty="0"/>
              <a:t> {name} finished")</a:t>
            </a:r>
          </a:p>
          <a:p>
            <a:endParaRPr lang="en-IN" dirty="0"/>
          </a:p>
          <a:p>
            <a:r>
              <a:rPr lang="en-IN" dirty="0"/>
              <a:t>async def main():</a:t>
            </a:r>
          </a:p>
          <a:p>
            <a:r>
              <a:rPr lang="en-IN" dirty="0"/>
              <a:t>    start = </a:t>
            </a:r>
            <a:r>
              <a:rPr lang="en-IN" dirty="0" err="1"/>
              <a:t>time.time</a:t>
            </a:r>
            <a:r>
              <a:rPr lang="en-IN" dirty="0"/>
              <a:t>()</a:t>
            </a:r>
          </a:p>
          <a:p>
            <a:r>
              <a:rPr lang="en-IN" dirty="0"/>
              <a:t>    # Schedule all 3 to run concurrently</a:t>
            </a:r>
          </a:p>
          <a:p>
            <a:r>
              <a:rPr lang="en-IN" dirty="0"/>
              <a:t>    await </a:t>
            </a:r>
            <a:r>
              <a:rPr lang="en-IN" dirty="0" err="1"/>
              <a:t>asyncio.gather</a:t>
            </a:r>
            <a:r>
              <a:rPr lang="en-IN" dirty="0"/>
              <a:t>(</a:t>
            </a:r>
          </a:p>
          <a:p>
            <a:r>
              <a:rPr lang="en-IN" dirty="0"/>
              <a:t>        </a:t>
            </a:r>
            <a:r>
              <a:rPr lang="en-IN" dirty="0" err="1"/>
              <a:t>async_task</a:t>
            </a:r>
            <a:r>
              <a:rPr lang="en-IN" dirty="0"/>
              <a:t>("A"),</a:t>
            </a:r>
          </a:p>
          <a:p>
            <a:r>
              <a:rPr lang="en-IN" dirty="0"/>
              <a:t>        </a:t>
            </a:r>
            <a:r>
              <a:rPr lang="en-IN" dirty="0" err="1"/>
              <a:t>async_task</a:t>
            </a:r>
            <a:r>
              <a:rPr lang="en-IN" dirty="0"/>
              <a:t>("B"),</a:t>
            </a:r>
          </a:p>
          <a:p>
            <a:r>
              <a:rPr lang="en-IN" dirty="0"/>
              <a:t>        </a:t>
            </a:r>
            <a:r>
              <a:rPr lang="en-IN" dirty="0" err="1"/>
              <a:t>async_task</a:t>
            </a:r>
            <a:r>
              <a:rPr lang="en-IN" dirty="0"/>
              <a:t>("C")</a:t>
            </a:r>
          </a:p>
          <a:p>
            <a:r>
              <a:rPr lang="en-IN" dirty="0"/>
              <a:t>    )</a:t>
            </a:r>
          </a:p>
          <a:p>
            <a:r>
              <a:rPr lang="en-IN" dirty="0"/>
              <a:t>    print(</a:t>
            </a:r>
            <a:r>
              <a:rPr lang="en-IN" dirty="0" err="1"/>
              <a:t>f"Total</a:t>
            </a:r>
            <a:r>
              <a:rPr lang="en-IN" dirty="0"/>
              <a:t> time: {</a:t>
            </a:r>
            <a:r>
              <a:rPr lang="en-IN" dirty="0" err="1"/>
              <a:t>time.time</a:t>
            </a:r>
            <a:r>
              <a:rPr lang="en-IN" dirty="0"/>
              <a:t>() - start:.2f} seconds")</a:t>
            </a:r>
          </a:p>
          <a:p>
            <a:endParaRPr lang="en-IN" dirty="0"/>
          </a:p>
          <a:p>
            <a:r>
              <a:rPr lang="en-IN" dirty="0"/>
              <a:t># You must run the Event Loop</a:t>
            </a:r>
          </a:p>
          <a:p>
            <a:r>
              <a:rPr lang="en-IN" dirty="0" err="1"/>
              <a:t>asyncio.run</a:t>
            </a:r>
            <a:r>
              <a:rPr lang="en-IN" dirty="0"/>
              <a:t>(main())</a:t>
            </a:r>
          </a:p>
          <a:p>
            <a:r>
              <a:rPr lang="en-IN" dirty="0"/>
              <a:t># Output: Total time: 1.01 seconds</a:t>
            </a:r>
          </a:p>
        </p:txBody>
      </p:sp>
    </p:spTree>
    <p:extLst>
      <p:ext uri="{BB962C8B-B14F-4D97-AF65-F5344CB8AC3E}">
        <p14:creationId xmlns:p14="http://schemas.microsoft.com/office/powerpoint/2010/main" val="2672339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86A325-BB04-E3C5-DD68-A64D41BD06F6}"/>
              </a:ext>
            </a:extLst>
          </p:cNvPr>
          <p:cNvSpPr txBox="1"/>
          <p:nvPr/>
        </p:nvSpPr>
        <p:spPr>
          <a:xfrm>
            <a:off x="719622" y="809947"/>
            <a:ext cx="7211397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asyncio</a:t>
            </a:r>
            <a:endParaRPr lang="en-IN" dirty="0"/>
          </a:p>
          <a:p>
            <a:endParaRPr lang="en-IN" dirty="0"/>
          </a:p>
          <a:p>
            <a:r>
              <a:rPr lang="en-IN" dirty="0"/>
              <a:t>async def </a:t>
            </a:r>
            <a:r>
              <a:rPr lang="en-IN" dirty="0" err="1"/>
              <a:t>fetch_data</a:t>
            </a:r>
            <a:r>
              <a:rPr lang="en-IN" dirty="0"/>
              <a:t>(n: int) -&gt; str:</a:t>
            </a:r>
          </a:p>
          <a:p>
            <a:r>
              <a:rPr lang="en-IN" dirty="0"/>
              <a:t>    print(</a:t>
            </a:r>
            <a:r>
              <a:rPr lang="en-IN" dirty="0" err="1"/>
              <a:t>f"start</a:t>
            </a:r>
            <a:r>
              <a:rPr lang="en-IN" dirty="0"/>
              <a:t> {n}")</a:t>
            </a:r>
          </a:p>
          <a:p>
            <a:r>
              <a:rPr lang="en-IN" dirty="0"/>
              <a:t>    await </a:t>
            </a:r>
            <a:r>
              <a:rPr lang="en-IN" dirty="0" err="1"/>
              <a:t>asyncio.sleep</a:t>
            </a:r>
            <a:r>
              <a:rPr lang="en-IN" dirty="0"/>
              <a:t>(1)  # simulate I/O</a:t>
            </a:r>
          </a:p>
          <a:p>
            <a:r>
              <a:rPr lang="en-IN" dirty="0"/>
              <a:t>    return </a:t>
            </a:r>
            <a:r>
              <a:rPr lang="en-IN" dirty="0" err="1"/>
              <a:t>f"data</a:t>
            </a:r>
            <a:r>
              <a:rPr lang="en-IN" dirty="0"/>
              <a:t>-{n}"</a:t>
            </a:r>
          </a:p>
          <a:p>
            <a:endParaRPr lang="en-IN" dirty="0"/>
          </a:p>
          <a:p>
            <a:r>
              <a:rPr lang="en-IN" dirty="0"/>
              <a:t>async def main():</a:t>
            </a:r>
          </a:p>
          <a:p>
            <a:r>
              <a:rPr lang="en-IN" dirty="0"/>
              <a:t>    # create tasks for concurrent execution</a:t>
            </a:r>
          </a:p>
          <a:p>
            <a:r>
              <a:rPr lang="en-IN" dirty="0"/>
              <a:t>    tasks = [</a:t>
            </a:r>
            <a:r>
              <a:rPr lang="en-IN" dirty="0" err="1"/>
              <a:t>asyncio.create_task</a:t>
            </a:r>
            <a:r>
              <a:rPr lang="en-IN" dirty="0"/>
              <a:t>(</a:t>
            </a:r>
            <a:r>
              <a:rPr lang="en-IN" dirty="0" err="1"/>
              <a:t>fetch_data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)) for </a:t>
            </a:r>
            <a:r>
              <a:rPr lang="en-IN" dirty="0" err="1"/>
              <a:t>i</a:t>
            </a:r>
            <a:r>
              <a:rPr lang="en-IN" dirty="0"/>
              <a:t> in range(3)]</a:t>
            </a:r>
          </a:p>
          <a:p>
            <a:r>
              <a:rPr lang="en-IN" dirty="0"/>
              <a:t>    results = await </a:t>
            </a:r>
            <a:r>
              <a:rPr lang="en-IN" dirty="0" err="1"/>
              <a:t>asyncio.gather</a:t>
            </a:r>
            <a:r>
              <a:rPr lang="en-IN" dirty="0"/>
              <a:t>(*tasks)</a:t>
            </a:r>
          </a:p>
          <a:p>
            <a:r>
              <a:rPr lang="en-IN" dirty="0"/>
              <a:t>    print(results)</a:t>
            </a:r>
          </a:p>
          <a:p>
            <a:endParaRPr lang="en-IN" dirty="0"/>
          </a:p>
          <a:p>
            <a:r>
              <a:rPr lang="en-IN" dirty="0"/>
              <a:t>if __name__ == "__main__":</a:t>
            </a:r>
          </a:p>
          <a:p>
            <a:r>
              <a:rPr lang="en-IN" dirty="0"/>
              <a:t>    </a:t>
            </a:r>
            <a:r>
              <a:rPr lang="en-IN" dirty="0" err="1"/>
              <a:t>asyncio.run</a:t>
            </a:r>
            <a:r>
              <a:rPr lang="en-IN" dirty="0"/>
              <a:t>(main())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DDBD5-0BE6-4ABE-A7B0-8ECF19CC5EF3}"/>
              </a:ext>
            </a:extLst>
          </p:cNvPr>
          <p:cNvSpPr txBox="1"/>
          <p:nvPr/>
        </p:nvSpPr>
        <p:spPr>
          <a:xfrm>
            <a:off x="630982" y="232879"/>
            <a:ext cx="609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Defining and running coroutine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459330-D1F0-0209-27E2-531422063462}"/>
              </a:ext>
            </a:extLst>
          </p:cNvPr>
          <p:cNvSpPr txBox="1"/>
          <p:nvPr/>
        </p:nvSpPr>
        <p:spPr>
          <a:xfrm>
            <a:off x="8081477" y="2725040"/>
            <a:ext cx="4071646" cy="258532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- Key points:</a:t>
            </a: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- async def: Declares a coroutine.</a:t>
            </a: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- await: Yields control to the event loop until the awaited operation completes.</a:t>
            </a: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-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create_task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: Schedules a coroutine to run concurrently.</a:t>
            </a: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- gather: Runs multiple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awaitables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in parallel, returning results in order.</a:t>
            </a:r>
          </a:p>
        </p:txBody>
      </p:sp>
    </p:spTree>
    <p:extLst>
      <p:ext uri="{BB962C8B-B14F-4D97-AF65-F5344CB8AC3E}">
        <p14:creationId xmlns:p14="http://schemas.microsoft.com/office/powerpoint/2010/main" val="1091147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656DB0-43F2-FDA9-9DFE-FB0B91778E53}"/>
              </a:ext>
            </a:extLst>
          </p:cNvPr>
          <p:cNvSpPr txBox="1"/>
          <p:nvPr/>
        </p:nvSpPr>
        <p:spPr>
          <a:xfrm>
            <a:off x="475861" y="671691"/>
            <a:ext cx="6909320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asyncio</a:t>
            </a:r>
            <a:r>
              <a:rPr lang="en-IN" dirty="0"/>
              <a:t>, time</a:t>
            </a:r>
          </a:p>
          <a:p>
            <a:endParaRPr lang="en-IN" dirty="0"/>
          </a:p>
          <a:p>
            <a:r>
              <a:rPr lang="en-IN" dirty="0"/>
              <a:t>async def </a:t>
            </a:r>
            <a:r>
              <a:rPr lang="en-IN" dirty="0" err="1"/>
              <a:t>io_task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):</a:t>
            </a:r>
          </a:p>
          <a:p>
            <a:r>
              <a:rPr lang="en-IN" dirty="0"/>
              <a:t>    await </a:t>
            </a:r>
            <a:r>
              <a:rPr lang="en-IN" dirty="0" err="1"/>
              <a:t>asyncio.sleep</a:t>
            </a:r>
            <a:r>
              <a:rPr lang="en-IN" dirty="0"/>
              <a:t>(1)</a:t>
            </a:r>
          </a:p>
          <a:p>
            <a:r>
              <a:rPr lang="en-IN" dirty="0"/>
              <a:t>    return </a:t>
            </a:r>
            <a:r>
              <a:rPr lang="en-IN" dirty="0" err="1"/>
              <a:t>i</a:t>
            </a:r>
            <a:endParaRPr lang="en-IN" dirty="0"/>
          </a:p>
          <a:p>
            <a:endParaRPr lang="en-IN" dirty="0"/>
          </a:p>
          <a:p>
            <a:r>
              <a:rPr lang="en-IN" dirty="0"/>
              <a:t>async def sequential():</a:t>
            </a:r>
          </a:p>
          <a:p>
            <a:r>
              <a:rPr lang="en-IN" dirty="0"/>
              <a:t>    start = </a:t>
            </a:r>
            <a:r>
              <a:rPr lang="en-IN" dirty="0" err="1"/>
              <a:t>time.perf_counter</a:t>
            </a:r>
            <a:r>
              <a:rPr lang="en-IN" dirty="0"/>
              <a:t>()</a:t>
            </a:r>
          </a:p>
          <a:p>
            <a:r>
              <a:rPr lang="en-IN" dirty="0"/>
              <a:t>    results = []</a:t>
            </a:r>
          </a:p>
          <a:p>
            <a:r>
              <a:rPr lang="en-IN" dirty="0"/>
              <a:t>    for </a:t>
            </a:r>
            <a:r>
              <a:rPr lang="en-IN" dirty="0" err="1"/>
              <a:t>i</a:t>
            </a:r>
            <a:r>
              <a:rPr lang="en-IN" dirty="0"/>
              <a:t> in range(5):</a:t>
            </a:r>
          </a:p>
          <a:p>
            <a:r>
              <a:rPr lang="en-IN" dirty="0"/>
              <a:t>        </a:t>
            </a:r>
            <a:r>
              <a:rPr lang="en-IN" dirty="0" err="1"/>
              <a:t>results.append</a:t>
            </a:r>
            <a:r>
              <a:rPr lang="en-IN" dirty="0"/>
              <a:t>(await </a:t>
            </a:r>
            <a:r>
              <a:rPr lang="en-IN" dirty="0" err="1"/>
              <a:t>io_task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))  # waits each time</a:t>
            </a:r>
          </a:p>
          <a:p>
            <a:r>
              <a:rPr lang="en-IN" dirty="0"/>
              <a:t>    print("sequential:", </a:t>
            </a:r>
            <a:r>
              <a:rPr lang="en-IN" dirty="0" err="1"/>
              <a:t>time.perf_counter</a:t>
            </a:r>
            <a:r>
              <a:rPr lang="en-IN" dirty="0"/>
              <a:t>() - start)</a:t>
            </a:r>
          </a:p>
          <a:p>
            <a:r>
              <a:rPr lang="en-IN" dirty="0"/>
              <a:t>    return results</a:t>
            </a:r>
          </a:p>
          <a:p>
            <a:endParaRPr lang="en-IN" dirty="0"/>
          </a:p>
          <a:p>
            <a:r>
              <a:rPr lang="en-IN" dirty="0"/>
              <a:t>async def concurrent():</a:t>
            </a:r>
          </a:p>
          <a:p>
            <a:r>
              <a:rPr lang="en-IN" dirty="0"/>
              <a:t>    start = </a:t>
            </a:r>
            <a:r>
              <a:rPr lang="en-IN" dirty="0" err="1"/>
              <a:t>time.perf_counter</a:t>
            </a:r>
            <a:r>
              <a:rPr lang="en-IN" dirty="0"/>
              <a:t>()</a:t>
            </a:r>
          </a:p>
          <a:p>
            <a:r>
              <a:rPr lang="en-IN" dirty="0"/>
              <a:t>    results = await </a:t>
            </a:r>
            <a:r>
              <a:rPr lang="en-IN" dirty="0" err="1"/>
              <a:t>asyncio.gather</a:t>
            </a:r>
            <a:r>
              <a:rPr lang="en-IN" dirty="0"/>
              <a:t>(*(</a:t>
            </a:r>
            <a:r>
              <a:rPr lang="en-IN" dirty="0" err="1"/>
              <a:t>io_task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 for </a:t>
            </a:r>
            <a:r>
              <a:rPr lang="en-IN" dirty="0" err="1"/>
              <a:t>i</a:t>
            </a:r>
            <a:r>
              <a:rPr lang="en-IN" dirty="0"/>
              <a:t> in range(5)))</a:t>
            </a:r>
          </a:p>
          <a:p>
            <a:r>
              <a:rPr lang="en-IN" dirty="0"/>
              <a:t>    print("concurrent:", </a:t>
            </a:r>
            <a:r>
              <a:rPr lang="en-IN" dirty="0" err="1"/>
              <a:t>time.perf_counter</a:t>
            </a:r>
            <a:r>
              <a:rPr lang="en-IN" dirty="0"/>
              <a:t>() - start)</a:t>
            </a:r>
          </a:p>
          <a:p>
            <a:r>
              <a:rPr lang="en-IN" dirty="0"/>
              <a:t>    return results</a:t>
            </a:r>
          </a:p>
          <a:p>
            <a:endParaRPr lang="en-IN" dirty="0"/>
          </a:p>
          <a:p>
            <a:r>
              <a:rPr lang="en-IN" dirty="0" err="1"/>
              <a:t>asyncio.run</a:t>
            </a:r>
            <a:r>
              <a:rPr lang="en-IN" dirty="0"/>
              <a:t>(sequential())</a:t>
            </a:r>
          </a:p>
          <a:p>
            <a:r>
              <a:rPr lang="en-IN" dirty="0" err="1"/>
              <a:t>asyncio.run</a:t>
            </a:r>
            <a:r>
              <a:rPr lang="en-IN" dirty="0"/>
              <a:t>(concurrent())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42B38-C739-CDD0-0318-D292CE1ED109}"/>
              </a:ext>
            </a:extLst>
          </p:cNvPr>
          <p:cNvSpPr txBox="1"/>
          <p:nvPr/>
        </p:nvSpPr>
        <p:spPr>
          <a:xfrm>
            <a:off x="1139500" y="116246"/>
            <a:ext cx="609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Sequential vs concurrent I/O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C0DE5-531F-7A1B-9C5B-D58745E6161B}"/>
              </a:ext>
            </a:extLst>
          </p:cNvPr>
          <p:cNvSpPr txBox="1"/>
          <p:nvPr/>
        </p:nvSpPr>
        <p:spPr>
          <a:xfrm>
            <a:off x="8188778" y="2966462"/>
            <a:ext cx="3763736" cy="1477328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Sequential: ~5 seconds.</a:t>
            </a:r>
          </a:p>
          <a:p>
            <a:r>
              <a:rPr lang="en-US" dirty="0">
                <a:solidFill>
                  <a:schemeClr val="bg1"/>
                </a:solidFill>
              </a:rPr>
              <a:t>- Concurrent: ~1 second.</a:t>
            </a:r>
          </a:p>
          <a:p>
            <a:r>
              <a:rPr lang="en-US" dirty="0">
                <a:solidFill>
                  <a:schemeClr val="bg1"/>
                </a:solidFill>
              </a:rPr>
              <a:t>- The speed-up comes from overlapping waits, not from extra CPU cores.</a:t>
            </a:r>
          </a:p>
        </p:txBody>
      </p:sp>
    </p:spTree>
    <p:extLst>
      <p:ext uri="{BB962C8B-B14F-4D97-AF65-F5344CB8AC3E}">
        <p14:creationId xmlns:p14="http://schemas.microsoft.com/office/powerpoint/2010/main" val="437921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BFBEF2-095A-D1D0-4BE5-0B0BA1BBBE2D}"/>
              </a:ext>
            </a:extLst>
          </p:cNvPr>
          <p:cNvSpPr txBox="1"/>
          <p:nvPr/>
        </p:nvSpPr>
        <p:spPr>
          <a:xfrm>
            <a:off x="948223" y="1720840"/>
            <a:ext cx="6095222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asyncio</a:t>
            </a:r>
            <a:endParaRPr lang="en-IN" dirty="0"/>
          </a:p>
          <a:p>
            <a:endParaRPr lang="en-IN" dirty="0"/>
          </a:p>
          <a:p>
            <a:r>
              <a:rPr lang="en-IN" dirty="0"/>
              <a:t>async def slow():</a:t>
            </a:r>
          </a:p>
          <a:p>
            <a:r>
              <a:rPr lang="en-IN" dirty="0"/>
              <a:t>    await </a:t>
            </a:r>
            <a:r>
              <a:rPr lang="en-IN" dirty="0" err="1"/>
              <a:t>asyncio.sleep</a:t>
            </a:r>
            <a:r>
              <a:rPr lang="en-IN" dirty="0"/>
              <a:t>(5)</a:t>
            </a:r>
          </a:p>
          <a:p>
            <a:endParaRPr lang="en-IN" dirty="0"/>
          </a:p>
          <a:p>
            <a:r>
              <a:rPr lang="en-IN" dirty="0"/>
              <a:t>async def timed():</a:t>
            </a:r>
          </a:p>
          <a:p>
            <a:r>
              <a:rPr lang="en-IN" dirty="0"/>
              <a:t>    try:</a:t>
            </a:r>
          </a:p>
          <a:p>
            <a:r>
              <a:rPr lang="en-IN" dirty="0"/>
              <a:t>        await </a:t>
            </a:r>
            <a:r>
              <a:rPr lang="en-IN" dirty="0" err="1"/>
              <a:t>asyncio.wait_for</a:t>
            </a:r>
            <a:r>
              <a:rPr lang="en-IN" dirty="0"/>
              <a:t>(slow(), timeout=2)</a:t>
            </a:r>
          </a:p>
          <a:p>
            <a:r>
              <a:rPr lang="en-IN" dirty="0"/>
              <a:t>    except </a:t>
            </a:r>
            <a:r>
              <a:rPr lang="en-IN" dirty="0" err="1"/>
              <a:t>asyncio.TimeoutError</a:t>
            </a:r>
            <a:r>
              <a:rPr lang="en-IN" dirty="0"/>
              <a:t>:</a:t>
            </a:r>
          </a:p>
          <a:p>
            <a:r>
              <a:rPr lang="en-IN" dirty="0"/>
              <a:t>        print("timed out")</a:t>
            </a:r>
          </a:p>
          <a:p>
            <a:endParaRPr lang="en-IN" dirty="0"/>
          </a:p>
          <a:p>
            <a:r>
              <a:rPr lang="en-IN" dirty="0" err="1"/>
              <a:t>asyncio.run</a:t>
            </a:r>
            <a:r>
              <a:rPr lang="en-IN" dirty="0"/>
              <a:t>(timed())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7BBEA-C52E-323D-2973-15EAAD58AA83}"/>
              </a:ext>
            </a:extLst>
          </p:cNvPr>
          <p:cNvSpPr txBox="1"/>
          <p:nvPr/>
        </p:nvSpPr>
        <p:spPr>
          <a:xfrm>
            <a:off x="822260" y="517462"/>
            <a:ext cx="609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Timeouts and cancellation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E2B8B-70FA-5D22-F653-7A3EAC6A046B}"/>
              </a:ext>
            </a:extLst>
          </p:cNvPr>
          <p:cNvSpPr txBox="1"/>
          <p:nvPr/>
        </p:nvSpPr>
        <p:spPr>
          <a:xfrm>
            <a:off x="7335027" y="2708411"/>
            <a:ext cx="3399842" cy="120032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Timeouts: Use </a:t>
            </a:r>
            <a:r>
              <a:rPr lang="en-US" dirty="0" err="1">
                <a:solidFill>
                  <a:schemeClr val="bg1"/>
                </a:solidFill>
              </a:rPr>
              <a:t>wait_for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- Cancellation: Call </a:t>
            </a:r>
            <a:r>
              <a:rPr lang="en-US" dirty="0" err="1">
                <a:solidFill>
                  <a:schemeClr val="bg1"/>
                </a:solidFill>
              </a:rPr>
              <a:t>task.cancel</a:t>
            </a:r>
            <a:r>
              <a:rPr lang="en-US" dirty="0">
                <a:solidFill>
                  <a:schemeClr val="bg1"/>
                </a:solidFill>
              </a:rPr>
              <a:t>() and handle </a:t>
            </a:r>
            <a:r>
              <a:rPr lang="en-US" dirty="0" err="1">
                <a:solidFill>
                  <a:schemeClr val="bg1"/>
                </a:solidFill>
              </a:rPr>
              <a:t>asyncio.CancelledError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5132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283550-11C3-A3BA-8E6B-4D445D3BD973}"/>
              </a:ext>
            </a:extLst>
          </p:cNvPr>
          <p:cNvSpPr txBox="1"/>
          <p:nvPr/>
        </p:nvSpPr>
        <p:spPr>
          <a:xfrm>
            <a:off x="658974" y="256206"/>
            <a:ext cx="609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FastAPI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endpoints with async I/O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C405E-9515-C30D-5F59-82D49CCB3101}"/>
              </a:ext>
            </a:extLst>
          </p:cNvPr>
          <p:cNvSpPr txBox="1"/>
          <p:nvPr/>
        </p:nvSpPr>
        <p:spPr>
          <a:xfrm>
            <a:off x="433873" y="605847"/>
            <a:ext cx="8708960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httpx</a:t>
            </a:r>
            <a:endParaRPr lang="en-IN" dirty="0"/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@app.get("/users/{id}")</a:t>
            </a:r>
          </a:p>
          <a:p>
            <a:r>
              <a:rPr lang="en-IN" dirty="0"/>
              <a:t>async def </a:t>
            </a:r>
            <a:r>
              <a:rPr lang="en-IN" dirty="0" err="1"/>
              <a:t>get_user</a:t>
            </a:r>
            <a:r>
              <a:rPr lang="en-IN" dirty="0"/>
              <a:t>(id: int):</a:t>
            </a:r>
          </a:p>
          <a:p>
            <a:r>
              <a:rPr lang="en-IN" dirty="0"/>
              <a:t>    async with </a:t>
            </a:r>
            <a:r>
              <a:rPr lang="en-IN" dirty="0" err="1"/>
              <a:t>httpx.AsyncClient</a:t>
            </a:r>
            <a:r>
              <a:rPr lang="en-IN" dirty="0"/>
              <a:t>(timeout=5) as client:</a:t>
            </a:r>
          </a:p>
          <a:p>
            <a:r>
              <a:rPr lang="en-IN" dirty="0"/>
              <a:t>        # parallel calls to microservices</a:t>
            </a:r>
          </a:p>
          <a:p>
            <a:r>
              <a:rPr lang="en-IN" dirty="0"/>
              <a:t>        </a:t>
            </a:r>
            <a:r>
              <a:rPr lang="en-IN" dirty="0" err="1"/>
              <a:t>user_req</a:t>
            </a:r>
            <a:r>
              <a:rPr lang="en-IN" dirty="0"/>
              <a:t> = </a:t>
            </a:r>
            <a:r>
              <a:rPr lang="en-IN" dirty="0" err="1"/>
              <a:t>client.get</a:t>
            </a:r>
            <a:r>
              <a:rPr lang="en-IN" dirty="0"/>
              <a:t>(</a:t>
            </a:r>
            <a:r>
              <a:rPr lang="en-IN" dirty="0" err="1"/>
              <a:t>f"https</a:t>
            </a:r>
            <a:r>
              <a:rPr lang="en-IN" dirty="0"/>
              <a:t>://api.example.com/users/{id}")</a:t>
            </a:r>
          </a:p>
          <a:p>
            <a:r>
              <a:rPr lang="en-IN" dirty="0"/>
              <a:t>        </a:t>
            </a:r>
            <a:r>
              <a:rPr lang="en-IN" dirty="0" err="1"/>
              <a:t>posts_req</a:t>
            </a:r>
            <a:r>
              <a:rPr lang="en-IN" dirty="0"/>
              <a:t> = </a:t>
            </a:r>
            <a:r>
              <a:rPr lang="en-IN" dirty="0" err="1"/>
              <a:t>client.get</a:t>
            </a:r>
            <a:r>
              <a:rPr lang="en-IN" dirty="0"/>
              <a:t>(</a:t>
            </a:r>
            <a:r>
              <a:rPr lang="en-IN" dirty="0" err="1"/>
              <a:t>f"https</a:t>
            </a:r>
            <a:r>
              <a:rPr lang="en-IN" dirty="0"/>
              <a:t>://api.example.com/users/{id}/posts")</a:t>
            </a:r>
          </a:p>
          <a:p>
            <a:r>
              <a:rPr lang="en-IN" dirty="0"/>
              <a:t>        </a:t>
            </a:r>
            <a:r>
              <a:rPr lang="en-IN" dirty="0" err="1"/>
              <a:t>resp_user</a:t>
            </a:r>
            <a:r>
              <a:rPr lang="en-IN" dirty="0"/>
              <a:t>, </a:t>
            </a:r>
            <a:r>
              <a:rPr lang="en-IN" dirty="0" err="1"/>
              <a:t>resp_posts</a:t>
            </a:r>
            <a:r>
              <a:rPr lang="en-IN" dirty="0"/>
              <a:t> = await </a:t>
            </a:r>
            <a:r>
              <a:rPr lang="en-IN" dirty="0" err="1"/>
              <a:t>asyncio.gather</a:t>
            </a:r>
            <a:r>
              <a:rPr lang="en-IN" dirty="0"/>
              <a:t>(</a:t>
            </a:r>
            <a:r>
              <a:rPr lang="en-IN" dirty="0" err="1"/>
              <a:t>user_req</a:t>
            </a:r>
            <a:r>
              <a:rPr lang="en-IN" dirty="0"/>
              <a:t>, </a:t>
            </a:r>
            <a:r>
              <a:rPr lang="en-IN" dirty="0" err="1"/>
              <a:t>posts_req</a:t>
            </a:r>
            <a:r>
              <a:rPr lang="en-IN" dirty="0"/>
              <a:t>)</a:t>
            </a:r>
          </a:p>
          <a:p>
            <a:r>
              <a:rPr lang="en-IN" dirty="0"/>
              <a:t>    return {</a:t>
            </a:r>
          </a:p>
          <a:p>
            <a:r>
              <a:rPr lang="en-IN" dirty="0"/>
              <a:t>        "user": </a:t>
            </a:r>
            <a:r>
              <a:rPr lang="en-IN" dirty="0" err="1"/>
              <a:t>resp_user.json</a:t>
            </a:r>
            <a:r>
              <a:rPr lang="en-IN" dirty="0"/>
              <a:t>(),</a:t>
            </a:r>
          </a:p>
          <a:p>
            <a:r>
              <a:rPr lang="en-IN" dirty="0"/>
              <a:t>        "posts": </a:t>
            </a:r>
            <a:r>
              <a:rPr lang="en-IN" dirty="0" err="1"/>
              <a:t>resp_posts.json</a:t>
            </a:r>
            <a:r>
              <a:rPr lang="en-IN" dirty="0"/>
              <a:t>()</a:t>
            </a:r>
          </a:p>
          <a:p>
            <a:r>
              <a:rPr lang="en-IN" dirty="0"/>
              <a:t>   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411CC-FADD-4A75-87A0-92FE8CF33386}"/>
              </a:ext>
            </a:extLst>
          </p:cNvPr>
          <p:cNvSpPr txBox="1"/>
          <p:nvPr/>
        </p:nvSpPr>
        <p:spPr>
          <a:xfrm>
            <a:off x="658973" y="5538792"/>
            <a:ext cx="10304495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Why async here: Multiple upstream calls happen concurrently, reducing endpoint latency.</a:t>
            </a:r>
          </a:p>
        </p:txBody>
      </p:sp>
    </p:spTree>
    <p:extLst>
      <p:ext uri="{BB962C8B-B14F-4D97-AF65-F5344CB8AC3E}">
        <p14:creationId xmlns:p14="http://schemas.microsoft.com/office/powerpoint/2010/main" val="1684076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3B2199-DAF6-B4A5-600C-BFFC4562D5DF}"/>
              </a:ext>
            </a:extLst>
          </p:cNvPr>
          <p:cNvSpPr txBox="1"/>
          <p:nvPr/>
        </p:nvSpPr>
        <p:spPr>
          <a:xfrm>
            <a:off x="714958" y="410160"/>
            <a:ext cx="609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Async database access with connection pooling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44BD1-906C-1A5E-B20E-978979C0B779}"/>
              </a:ext>
            </a:extLst>
          </p:cNvPr>
          <p:cNvSpPr txBox="1"/>
          <p:nvPr/>
        </p:nvSpPr>
        <p:spPr>
          <a:xfrm>
            <a:off x="714957" y="1037087"/>
            <a:ext cx="7845879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asyncio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asyncpg</a:t>
            </a:r>
            <a:endParaRPr lang="en-IN" dirty="0"/>
          </a:p>
          <a:p>
            <a:endParaRPr lang="en-IN" dirty="0"/>
          </a:p>
          <a:p>
            <a:r>
              <a:rPr lang="en-IN" dirty="0"/>
              <a:t>async def </a:t>
            </a:r>
            <a:r>
              <a:rPr lang="en-IN" dirty="0" err="1"/>
              <a:t>fetch_users</a:t>
            </a:r>
            <a:r>
              <a:rPr lang="en-IN" dirty="0"/>
              <a:t>():</a:t>
            </a:r>
          </a:p>
          <a:p>
            <a:r>
              <a:rPr lang="en-IN" dirty="0"/>
              <a:t>    conn = await </a:t>
            </a:r>
            <a:r>
              <a:rPr lang="en-IN" dirty="0" err="1"/>
              <a:t>asyncpg.connect</a:t>
            </a:r>
            <a:r>
              <a:rPr lang="en-IN" dirty="0"/>
              <a:t>(</a:t>
            </a:r>
            <a:r>
              <a:rPr lang="en-IN" dirty="0" err="1"/>
              <a:t>dsn</a:t>
            </a:r>
            <a:r>
              <a:rPr lang="en-IN" dirty="0"/>
              <a:t>="</a:t>
            </a:r>
            <a:r>
              <a:rPr lang="en-IN" dirty="0" err="1"/>
              <a:t>postgresql</a:t>
            </a:r>
            <a:r>
              <a:rPr lang="en-IN" dirty="0"/>
              <a:t>://</a:t>
            </a:r>
            <a:r>
              <a:rPr lang="en-IN" dirty="0" err="1"/>
              <a:t>user:pass@localhost</a:t>
            </a:r>
            <a:r>
              <a:rPr lang="en-IN" dirty="0"/>
              <a:t>/</a:t>
            </a:r>
            <a:r>
              <a:rPr lang="en-IN" dirty="0" err="1"/>
              <a:t>db</a:t>
            </a:r>
            <a:r>
              <a:rPr lang="en-IN" dirty="0"/>
              <a:t>")</a:t>
            </a:r>
          </a:p>
          <a:p>
            <a:r>
              <a:rPr lang="en-IN" dirty="0"/>
              <a:t>    try:</a:t>
            </a:r>
          </a:p>
          <a:p>
            <a:r>
              <a:rPr lang="en-IN" dirty="0"/>
              <a:t>        rows = await </a:t>
            </a:r>
            <a:r>
              <a:rPr lang="en-IN" dirty="0" err="1"/>
              <a:t>conn.fetch</a:t>
            </a:r>
            <a:r>
              <a:rPr lang="en-IN" dirty="0"/>
              <a:t>("SELECT id, email FROM users LIMIT 100")</a:t>
            </a:r>
          </a:p>
          <a:p>
            <a:r>
              <a:rPr lang="en-IN" dirty="0"/>
              <a:t>        return [</a:t>
            </a:r>
            <a:r>
              <a:rPr lang="en-IN" dirty="0" err="1"/>
              <a:t>dict</a:t>
            </a:r>
            <a:r>
              <a:rPr lang="en-IN" dirty="0"/>
              <a:t>(r) for r in rows]</a:t>
            </a:r>
          </a:p>
          <a:p>
            <a:r>
              <a:rPr lang="en-IN" dirty="0"/>
              <a:t>    finally:</a:t>
            </a:r>
          </a:p>
          <a:p>
            <a:r>
              <a:rPr lang="en-IN" dirty="0"/>
              <a:t>        await </a:t>
            </a:r>
            <a:r>
              <a:rPr lang="en-IN" dirty="0" err="1"/>
              <a:t>conn.close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asyncio.run</a:t>
            </a:r>
            <a:r>
              <a:rPr lang="en-IN" dirty="0"/>
              <a:t>(</a:t>
            </a:r>
            <a:r>
              <a:rPr lang="en-IN" dirty="0" err="1"/>
              <a:t>fetch_users</a:t>
            </a:r>
            <a:r>
              <a:rPr lang="en-IN" dirty="0"/>
              <a:t>())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809E8-39F0-662E-C1F3-ED30FD299E15}"/>
              </a:ext>
            </a:extLst>
          </p:cNvPr>
          <p:cNvSpPr txBox="1"/>
          <p:nvPr/>
        </p:nvSpPr>
        <p:spPr>
          <a:xfrm>
            <a:off x="714957" y="5075180"/>
            <a:ext cx="7883202" cy="92333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- Use async drivers: </a:t>
            </a:r>
            <a:r>
              <a:rPr lang="en-IN" dirty="0" err="1">
                <a:solidFill>
                  <a:schemeClr val="bg1"/>
                </a:solidFill>
              </a:rPr>
              <a:t>asyncpg</a:t>
            </a:r>
            <a:r>
              <a:rPr lang="en-IN" dirty="0">
                <a:solidFill>
                  <a:schemeClr val="bg1"/>
                </a:solidFill>
              </a:rPr>
              <a:t>, databases, </a:t>
            </a:r>
            <a:r>
              <a:rPr lang="en-IN" dirty="0" err="1">
                <a:solidFill>
                  <a:schemeClr val="bg1"/>
                </a:solidFill>
              </a:rPr>
              <a:t>SQLAlchemy</a:t>
            </a:r>
            <a:r>
              <a:rPr lang="en-IN" dirty="0">
                <a:solidFill>
                  <a:schemeClr val="bg1"/>
                </a:solidFill>
              </a:rPr>
              <a:t> (async engine).</a:t>
            </a:r>
          </a:p>
          <a:p>
            <a:r>
              <a:rPr lang="en-IN" dirty="0">
                <a:solidFill>
                  <a:schemeClr val="bg1"/>
                </a:solidFill>
              </a:rPr>
              <a:t>- Avoid mixing blocking DB clients with async endpoints.</a:t>
            </a:r>
          </a:p>
        </p:txBody>
      </p:sp>
    </p:spTree>
    <p:extLst>
      <p:ext uri="{BB962C8B-B14F-4D97-AF65-F5344CB8AC3E}">
        <p14:creationId xmlns:p14="http://schemas.microsoft.com/office/powerpoint/2010/main" val="643120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9BD6-2DB6-D35D-20C3-A5E99EE1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5FB6-8BFA-2FDC-2F6E-BDE30C48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C1A58-4128-088F-703E-D78DE5809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IN" b="1" dirty="0"/>
              <a:t>Use async-native libraries:</a:t>
            </a:r>
            <a:r>
              <a:rPr lang="en-IN" dirty="0"/>
              <a:t> </a:t>
            </a:r>
            <a:r>
              <a:rPr lang="en-IN" dirty="0" err="1"/>
              <a:t>httpx</a:t>
            </a:r>
            <a:r>
              <a:rPr lang="en-IN" dirty="0"/>
              <a:t> (async), </a:t>
            </a:r>
            <a:r>
              <a:rPr lang="en-IN" dirty="0" err="1"/>
              <a:t>aiohttp</a:t>
            </a:r>
            <a:r>
              <a:rPr lang="en-IN" dirty="0"/>
              <a:t>, </a:t>
            </a:r>
            <a:r>
              <a:rPr lang="en-IN" dirty="0" err="1"/>
              <a:t>asyncpg</a:t>
            </a:r>
            <a:r>
              <a:rPr lang="en-IN" dirty="0"/>
              <a:t>, </a:t>
            </a:r>
            <a:r>
              <a:rPr lang="en-IN" dirty="0" err="1"/>
              <a:t>aioredis</a:t>
            </a:r>
            <a:r>
              <a:rPr lang="en-IN" dirty="0"/>
              <a:t>, motor for MongoDB.</a:t>
            </a:r>
          </a:p>
          <a:p>
            <a:r>
              <a:rPr lang="en-IN" b="1" dirty="0"/>
              <a:t>Avoid blocking calls:</a:t>
            </a:r>
            <a:r>
              <a:rPr lang="en-IN" dirty="0"/>
              <a:t> Any blocking I/O or CPU will stall the event loop.</a:t>
            </a:r>
          </a:p>
          <a:p>
            <a:pPr lvl="1"/>
            <a:r>
              <a:rPr lang="en-IN" dirty="0"/>
              <a:t>Wrap small blocking calls in </a:t>
            </a:r>
            <a:r>
              <a:rPr lang="en-IN" dirty="0" err="1"/>
              <a:t>asyncio.to_thread</a:t>
            </a:r>
            <a:r>
              <a:rPr lang="en-IN" dirty="0"/>
              <a:t>() or use executors.</a:t>
            </a:r>
          </a:p>
          <a:p>
            <a:r>
              <a:rPr lang="en-IN" b="1" dirty="0"/>
              <a:t>Connection pooling:</a:t>
            </a:r>
            <a:r>
              <a:rPr lang="en-IN" dirty="0"/>
              <a:t> Reuse clients (HTTP, DB) to avoid handshake overhead.</a:t>
            </a:r>
          </a:p>
          <a:p>
            <a:r>
              <a:rPr lang="en-IN" b="1" dirty="0"/>
              <a:t>Backpressure:</a:t>
            </a:r>
            <a:r>
              <a:rPr lang="en-IN" dirty="0"/>
              <a:t> Use </a:t>
            </a:r>
            <a:r>
              <a:rPr lang="en-IN" dirty="0" err="1"/>
              <a:t>asyncio.Queue</a:t>
            </a:r>
            <a:r>
              <a:rPr lang="en-IN" dirty="0"/>
              <a:t>, semaphores, and timeouts.</a:t>
            </a:r>
          </a:p>
          <a:p>
            <a:r>
              <a:rPr lang="en-IN" b="1" dirty="0"/>
              <a:t>Structured cancellation:</a:t>
            </a:r>
            <a:r>
              <a:rPr lang="en-IN" dirty="0"/>
              <a:t> Propagate and handle </a:t>
            </a:r>
            <a:r>
              <a:rPr lang="en-IN" dirty="0" err="1"/>
              <a:t>CancelledError</a:t>
            </a:r>
            <a:r>
              <a:rPr lang="en-IN" dirty="0"/>
              <a:t>.</a:t>
            </a:r>
          </a:p>
          <a:p>
            <a:r>
              <a:rPr lang="en-IN" b="1" dirty="0"/>
              <a:t>Observability:</a:t>
            </a:r>
            <a:r>
              <a:rPr lang="en-IN" dirty="0"/>
              <a:t> Log task lifecycles, measure latencies, and detect starvation.</a:t>
            </a:r>
          </a:p>
          <a:p>
            <a:r>
              <a:rPr lang="en-IN" b="1" dirty="0"/>
              <a:t>Testing:</a:t>
            </a:r>
            <a:r>
              <a:rPr lang="en-IN" dirty="0"/>
              <a:t> Use </a:t>
            </a:r>
            <a:r>
              <a:rPr lang="en-IN" dirty="0" err="1"/>
              <a:t>pytest</a:t>
            </a:r>
            <a:r>
              <a:rPr lang="en-IN" dirty="0"/>
              <a:t> with </a:t>
            </a:r>
            <a:r>
              <a:rPr lang="en-IN" dirty="0" err="1"/>
              <a:t>pytest-asyncio</a:t>
            </a:r>
            <a:r>
              <a:rPr lang="en-IN" dirty="0"/>
              <a:t> for async tests; ensure deterministic timeouts.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242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B33D-F658-B31B-3CF6-FEFE188A1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EEC0-7D1A-467E-D4E3-81EA058A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to use async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8E99-620F-22BC-990F-5E6B76B41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CPU-bound workloads:</a:t>
            </a:r>
            <a:r>
              <a:rPr lang="en-US" dirty="0"/>
              <a:t> Heavy computation, ML inference, image/video processing.</a:t>
            </a:r>
          </a:p>
          <a:p>
            <a:pPr lvl="1"/>
            <a:r>
              <a:rPr lang="en-US" dirty="0"/>
              <a:t>Prefer multiprocessing, job queues, or offloading to workers.</a:t>
            </a:r>
          </a:p>
          <a:p>
            <a:r>
              <a:rPr lang="en-US" b="1" dirty="0"/>
              <a:t>Simple apps with limited I/O:</a:t>
            </a:r>
            <a:r>
              <a:rPr lang="en-US" dirty="0"/>
              <a:t> Async adds complexity that might not pay off.</a:t>
            </a:r>
          </a:p>
          <a:p>
            <a:r>
              <a:rPr lang="en-US" b="1" dirty="0"/>
              <a:t>Libraries lacking async support:</a:t>
            </a:r>
            <a:r>
              <a:rPr lang="en-US" dirty="0"/>
              <a:t> If critical dependencies are blocking, you’ll spend time on workarounds.</a:t>
            </a:r>
          </a:p>
          <a:p>
            <a:r>
              <a:rPr lang="en-US" b="1" dirty="0"/>
              <a:t>Mixed models without discipline:</a:t>
            </a:r>
            <a:r>
              <a:rPr lang="en-US" dirty="0"/>
              <a:t> Combining threads, processes, and async can become fragile; choose one concurrency model per component.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025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C279-5613-204F-AE9C-AD1B246A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02E0-8B93-55F8-72C4-02324014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49D9B-CFA6-B1B4-86CD-D9518ADFE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IN" dirty="0">
                <a:hlinkClick r:id="rId2" action="ppaction://hlinkfile"/>
              </a:rPr>
              <a:t>Example1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270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54C9-B8BF-D6C6-89B5-323C471F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F83F-2F10-EDFC-0688-979B5E24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and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8E058-0DF5-ED66-404C-7AEB95433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IN" b="1" dirty="0"/>
              <a:t>Async-first boundaries:</a:t>
            </a:r>
            <a:r>
              <a:rPr lang="en-IN" dirty="0"/>
              <a:t> Web server (</a:t>
            </a:r>
            <a:r>
              <a:rPr lang="en-IN" dirty="0" err="1"/>
              <a:t>FastAPI</a:t>
            </a:r>
            <a:r>
              <a:rPr lang="en-IN" dirty="0"/>
              <a:t>/Starlette), gateway, message consumers, and I/O-heavy microservices.</a:t>
            </a:r>
          </a:p>
          <a:p>
            <a:r>
              <a:rPr lang="en-IN" b="1" dirty="0"/>
              <a:t>Synchronous workers for CPU:</a:t>
            </a:r>
            <a:r>
              <a:rPr lang="en-IN" dirty="0"/>
              <a:t> Dedicated services behind a queue (e.g., Celery, RQ, or custom worker with multiprocessing).</a:t>
            </a:r>
          </a:p>
          <a:p>
            <a:r>
              <a:rPr lang="en-IN" b="1" dirty="0"/>
              <a:t>Streaming:</a:t>
            </a:r>
            <a:r>
              <a:rPr lang="en-IN" dirty="0"/>
              <a:t> Use async generators for streaming responses and processing pipelines.</a:t>
            </a:r>
          </a:p>
          <a:p>
            <a:r>
              <a:rPr lang="en-IN" b="1" dirty="0"/>
              <a:t>Resilience:</a:t>
            </a:r>
            <a:r>
              <a:rPr lang="en-IN" dirty="0"/>
              <a:t> Circuit breakers, retries with jitter, and fallbacks; be careful to avoid storm amplification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9114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FC10A-B77B-C29A-F032-9FA74AE9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E922-DEE9-F5C2-020F-B65385C5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pitfalls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EAB20-65B2-217D-81CE-0A3EC3C9B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Forgetting to await:</a:t>
            </a:r>
            <a:r>
              <a:rPr lang="en-US" dirty="0"/>
              <a:t> Leads to unexecuted coroutines or “coroutine was never awaited” warnings.</a:t>
            </a:r>
          </a:p>
          <a:p>
            <a:r>
              <a:rPr lang="en-US" b="1" dirty="0"/>
              <a:t>Blocking within async:</a:t>
            </a:r>
            <a:r>
              <a:rPr lang="en-US" dirty="0"/>
              <a:t> Database drivers, file operations, or CPU loops freezing the loop.</a:t>
            </a:r>
          </a:p>
          <a:p>
            <a:r>
              <a:rPr lang="en-US" b="1" dirty="0"/>
              <a:t>Too many tasks:</a:t>
            </a:r>
            <a:r>
              <a:rPr lang="en-US" dirty="0"/>
              <a:t> Unbounded concurrency can DDoS upstream or exhaust file descriptors.</a:t>
            </a:r>
          </a:p>
          <a:p>
            <a:r>
              <a:rPr lang="en-US" b="1" dirty="0"/>
              <a:t>Incorrect client lifecycle:</a:t>
            </a:r>
            <a:r>
              <a:rPr lang="en-US" dirty="0"/>
              <a:t> Recreating HTTP/DB clients per request is expensive; reuse and close properly.</a:t>
            </a:r>
          </a:p>
          <a:p>
            <a:r>
              <a:rPr lang="en-US" b="1" dirty="0"/>
              <a:t>Error handling:</a:t>
            </a:r>
            <a:r>
              <a:rPr lang="en-US" dirty="0"/>
              <a:t> Exceptions in tasks may be lost; add callbacks, use </a:t>
            </a:r>
            <a:r>
              <a:rPr lang="en-US" dirty="0" err="1"/>
              <a:t>asyncio.TaskGroup</a:t>
            </a:r>
            <a:r>
              <a:rPr lang="en-US" dirty="0"/>
              <a:t> (Python 3.11+) for structured concurrency.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18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9AC4-B0B7-1E71-DB2F-37E2CD55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1375-1EAB-3A55-7541-D85A79B2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It? (The Pros)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DB07-C322-9741-E429-E72B14D0A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High Concurrency:</a:t>
            </a:r>
            <a:r>
              <a:rPr lang="en-US" dirty="0"/>
              <a:t> A traditional server (like Apache/Flask) might spawn a thread for every user. Threads consume memory. If you have 10,000 users, the server crashes. An Async server (Node.js, </a:t>
            </a:r>
            <a:r>
              <a:rPr lang="en-US" dirty="0" err="1"/>
              <a:t>FastAPI</a:t>
            </a:r>
            <a:r>
              <a:rPr lang="en-US" dirty="0"/>
              <a:t>, Go) handles 10,000 connections with one thread by simply cycling through them.</a:t>
            </a:r>
          </a:p>
          <a:p>
            <a:r>
              <a:rPr lang="en-US" b="1" dirty="0"/>
              <a:t>I/O Bound efficiency:</a:t>
            </a:r>
            <a:r>
              <a:rPr lang="en-US" dirty="0"/>
              <a:t> Perfect for microservices where Service A calls Service B, C, and D. You don't want to wait for B to finish before calling C.</a:t>
            </a:r>
          </a:p>
          <a:p>
            <a:r>
              <a:rPr lang="en-US" b="1" dirty="0"/>
              <a:t>Cheaper Infrastructure:</a:t>
            </a:r>
            <a:r>
              <a:rPr lang="en-US" dirty="0"/>
              <a:t> You can handle more traffic with less hardware (RAM/CPU).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923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99BA-6717-6073-69A9-931AAEDD7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C397-D384-CB41-1D88-DC19E70D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NOT to Use It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D2845-5951-3ECB-56E9-8BC31F919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CPU Bound Tasks</a:t>
            </a:r>
          </a:p>
          <a:p>
            <a:r>
              <a:rPr lang="en-US" dirty="0" err="1"/>
              <a:t>Asyncio</a:t>
            </a:r>
            <a:r>
              <a:rPr lang="en-US" dirty="0"/>
              <a:t> is </a:t>
            </a:r>
            <a:r>
              <a:rPr lang="en-US" b="1" dirty="0"/>
              <a:t>useless</a:t>
            </a:r>
            <a:r>
              <a:rPr lang="en-US" dirty="0"/>
              <a:t> for heavy calculations.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calculate_primes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# This keeps the CPU busy. </a:t>
            </a:r>
          </a:p>
          <a:p>
            <a:pPr marL="0" indent="0">
              <a:buNone/>
            </a:pPr>
            <a:r>
              <a:rPr lang="en-US" dirty="0"/>
              <a:t>    # The Event Loop CANNOT pause this to do other things.</a:t>
            </a:r>
          </a:p>
          <a:p>
            <a:pPr marL="0" indent="0">
              <a:buNone/>
            </a:pPr>
            <a:r>
              <a:rPr lang="en-US" dirty="0"/>
              <a:t>    # This blocks the entire application.</a:t>
            </a:r>
          </a:p>
          <a:p>
            <a:pPr marL="0" indent="0">
              <a:buNone/>
            </a:pPr>
            <a:r>
              <a:rPr lang="en-US" dirty="0"/>
              <a:t>    sum([</a:t>
            </a:r>
            <a:r>
              <a:rPr lang="en-US" dirty="0" err="1"/>
              <a:t>i</a:t>
            </a:r>
            <a:r>
              <a:rPr lang="en-US" dirty="0"/>
              <a:t>**2 for </a:t>
            </a:r>
            <a:r>
              <a:rPr lang="en-US" dirty="0" err="1"/>
              <a:t>i</a:t>
            </a:r>
            <a:r>
              <a:rPr lang="en-US" dirty="0"/>
              <a:t> in range(10000000)])</a:t>
            </a:r>
          </a:p>
          <a:p>
            <a:r>
              <a:rPr lang="en-US" b="1" dirty="0"/>
              <a:t>Solution:</a:t>
            </a:r>
            <a:r>
              <a:rPr lang="en-US" dirty="0"/>
              <a:t> Use multiprocessing for CPU-heavy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73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F3369-E5DA-E9C0-D8BA-E2809496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C3C9C-4D2D-F38F-C534-2D1926D5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NOT to Use It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1C113-8ED3-7BC8-EFD6-3EF741C58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Using Blocking Libraries</a:t>
            </a:r>
          </a:p>
          <a:p>
            <a:r>
              <a:rPr lang="en-US" dirty="0"/>
              <a:t>If you use a blocking function inside an async def, you kill the benefits.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bad_code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# This STOPS the event loop. No other async task can run.</a:t>
            </a:r>
          </a:p>
          <a:p>
            <a:pPr marL="0" indent="0">
              <a:buNone/>
            </a:pPr>
            <a:r>
              <a:rPr lang="en-US" dirty="0"/>
              <a:t>    # The Chess Master has fallen asleep at the table.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time.sleep</a:t>
            </a:r>
            <a:r>
              <a:rPr lang="en-US" dirty="0"/>
              <a:t>(5) </a:t>
            </a:r>
          </a:p>
          <a:p>
            <a:pPr marL="0" indent="0">
              <a:buNone/>
            </a:pPr>
            <a:r>
              <a:rPr lang="en-US" dirty="0"/>
              <a:t>    # OR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requests.get</a:t>
            </a:r>
            <a:r>
              <a:rPr lang="en-US" dirty="0"/>
              <a:t>('...’)</a:t>
            </a:r>
          </a:p>
          <a:p>
            <a:r>
              <a:rPr lang="en-US" b="1" dirty="0"/>
              <a:t>Solution:</a:t>
            </a:r>
            <a:r>
              <a:rPr lang="en-US" dirty="0"/>
              <a:t> Always use await </a:t>
            </a:r>
            <a:r>
              <a:rPr lang="en-US" dirty="0" err="1"/>
              <a:t>asyncio.sleep</a:t>
            </a:r>
            <a:r>
              <a:rPr lang="en-US" dirty="0"/>
              <a:t>(5) or async-compatible libraries (</a:t>
            </a:r>
            <a:r>
              <a:rPr lang="en-US" dirty="0" err="1"/>
              <a:t>httpx</a:t>
            </a:r>
            <a:r>
              <a:rPr lang="en-US" dirty="0"/>
              <a:t>, </a:t>
            </a:r>
            <a:r>
              <a:rPr lang="en-US" dirty="0" err="1"/>
              <a:t>asyncpg</a:t>
            </a:r>
            <a:r>
              <a:rPr lang="en-US" dirty="0"/>
              <a:t> for Postgres, motor for Mongo).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664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98CF8-4B95-124A-3C70-4D7E416D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09FE-45E9-2CAE-4C89-518D532B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 I need </a:t>
            </a:r>
            <a:r>
              <a:rPr lang="en-US" b="1" dirty="0" err="1"/>
              <a:t>asyncio</a:t>
            </a:r>
            <a:r>
              <a:rPr lang="en-US" b="1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E8A7-BFA1-5D66-2B81-13574B965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Is the task waiting for something?</a:t>
            </a:r>
            <a:r>
              <a:rPr lang="en-US" dirty="0"/>
              <a:t> (Network, DB, Disk)</a:t>
            </a:r>
          </a:p>
          <a:p>
            <a:pPr lvl="1"/>
            <a:r>
              <a:rPr lang="en-US" b="1" dirty="0"/>
              <a:t>No</a:t>
            </a:r>
            <a:r>
              <a:rPr lang="en-US" dirty="0"/>
              <a:t> (It's calculating numbers/images) -&gt; </a:t>
            </a:r>
            <a:r>
              <a:rPr lang="en-US" b="1" dirty="0"/>
              <a:t>Use Multiprocessing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Yes</a:t>
            </a:r>
            <a:r>
              <a:rPr lang="en-US" dirty="0"/>
              <a:t> -&gt; Go to step 2.</a:t>
            </a:r>
          </a:p>
          <a:p>
            <a:r>
              <a:rPr lang="en-US" b="1" dirty="0"/>
              <a:t>Do I need to do many of these wait-tasks at the same time?</a:t>
            </a:r>
            <a:endParaRPr lang="en-US" dirty="0"/>
          </a:p>
          <a:p>
            <a:pPr lvl="1"/>
            <a:r>
              <a:rPr lang="en-US" b="1" dirty="0"/>
              <a:t>No</a:t>
            </a:r>
            <a:r>
              <a:rPr lang="en-US" dirty="0"/>
              <a:t> (Sequential is fine) -&gt; </a:t>
            </a:r>
            <a:r>
              <a:rPr lang="en-US" b="1" dirty="0"/>
              <a:t>Use Standard Python (Sync)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Yes</a:t>
            </a:r>
            <a:r>
              <a:rPr lang="en-US" dirty="0"/>
              <a:t> -&gt; Go to step 3.</a:t>
            </a:r>
          </a:p>
          <a:p>
            <a:r>
              <a:rPr lang="en-US" b="1" dirty="0"/>
              <a:t>Is the scale high?</a:t>
            </a:r>
            <a:r>
              <a:rPr lang="en-US" dirty="0"/>
              <a:t> (Web sockets, 1000+ requests, High performance server)</a:t>
            </a:r>
          </a:p>
          <a:p>
            <a:pPr lvl="1"/>
            <a:r>
              <a:rPr lang="en-US" b="1" dirty="0"/>
              <a:t>Yes</a:t>
            </a:r>
            <a:r>
              <a:rPr lang="en-US" dirty="0"/>
              <a:t> -&gt; </a:t>
            </a:r>
            <a:r>
              <a:rPr lang="en-US" b="1" dirty="0"/>
              <a:t>Use </a:t>
            </a:r>
            <a:r>
              <a:rPr lang="en-US" b="1" dirty="0" err="1"/>
              <a:t>Asyncio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382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868B-971C-A25A-7BBA-6BE8C2DA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096E7-583E-BC63-244F-343FBE03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96BAB5-FCE9-44CE-0635-464A96DDD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31460"/>
              </p:ext>
            </p:extLst>
          </p:nvPr>
        </p:nvGraphicFramePr>
        <p:xfrm>
          <a:off x="1155700" y="2603500"/>
          <a:ext cx="8824912" cy="229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2603130661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2173701064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395619398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921775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Feature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Synchronous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Multiprocessing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Asynchronous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097153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Core Idea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One at a time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Many workers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One smart worker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395549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Blocking?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Yes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No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No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96107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Threads/Process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1 Process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Multiple Processes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1 Process, 1 Thread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367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Best For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Simple Scripts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CPU Heavy (Data Science)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Network Heavy (APIs)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552976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Python Tool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Standard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multiprocessing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asyncio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538237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4786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522C7-D3A9-48BD-F783-E1A54560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49AD-9BDC-E8F7-9DAC-E048C724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92EFB-3CE2-1C80-0F7A-DD91D4F0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await function()</a:t>
            </a:r>
            <a:r>
              <a:rPr lang="en-US" dirty="0"/>
              <a:t>: Run one thing and wait for it.</a:t>
            </a:r>
          </a:p>
          <a:p>
            <a:r>
              <a:rPr lang="en-US" b="1" dirty="0"/>
              <a:t>await </a:t>
            </a:r>
            <a:r>
              <a:rPr lang="en-US" b="1" dirty="0" err="1"/>
              <a:t>asyncio.gather</a:t>
            </a:r>
            <a:r>
              <a:rPr lang="en-US" b="1" dirty="0"/>
              <a:t>(a(), b())</a:t>
            </a:r>
            <a:r>
              <a:rPr lang="en-US" dirty="0"/>
              <a:t>: Run multiple things at once and wait for ALL of them.</a:t>
            </a:r>
          </a:p>
          <a:p>
            <a:r>
              <a:rPr lang="en-US" b="1" dirty="0" err="1"/>
              <a:t>asyncio.create_task</a:t>
            </a:r>
            <a:r>
              <a:rPr lang="en-US" b="1" dirty="0"/>
              <a:t>(a())</a:t>
            </a:r>
            <a:r>
              <a:rPr lang="en-US" dirty="0"/>
              <a:t>: Start something in the background, keep going, don't wait for it right now.</a:t>
            </a:r>
          </a:p>
          <a:p>
            <a:r>
              <a:rPr lang="en-US" b="1" dirty="0" err="1"/>
              <a:t>asyncio.wait_for</a:t>
            </a:r>
            <a:r>
              <a:rPr lang="en-US" b="1" dirty="0"/>
              <a:t>(a(), timeout=x)</a:t>
            </a:r>
            <a:r>
              <a:rPr lang="en-US" dirty="0"/>
              <a:t>: Run something but crash if it takes too long.</a:t>
            </a:r>
          </a:p>
          <a:p>
            <a:r>
              <a:rPr lang="en-US" b="1" dirty="0" err="1"/>
              <a:t>asyncio.Semaphore</a:t>
            </a:r>
            <a:r>
              <a:rPr lang="en-US" b="1" dirty="0"/>
              <a:t>(n)</a:t>
            </a:r>
            <a:r>
              <a:rPr lang="en-US" dirty="0"/>
              <a:t>: Run many things, but limit how many happen simultaneously.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913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98FF-9B28-822B-1AF5-44BB0ECB8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EDA1-5355-54E6-9CD5-0A52A278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Layered Architecture?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2B0DE-BC32-7334-DE6F-6DB15B06B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dirty="0"/>
              <a:t>Layered architecture organizes a web application into </a:t>
            </a:r>
            <a:r>
              <a:rPr lang="en-US" b="1" dirty="0"/>
              <a:t>distinct layers</a:t>
            </a:r>
            <a:r>
              <a:rPr lang="en-US" dirty="0"/>
              <a:t>, each with a clear responsibility.</a:t>
            </a:r>
          </a:p>
          <a:p>
            <a:r>
              <a:rPr lang="en-US" dirty="0"/>
              <a:t>Think of it as a </a:t>
            </a:r>
            <a:r>
              <a:rPr lang="en-US" b="1" dirty="0"/>
              <a:t>separation of concerns</a:t>
            </a:r>
            <a:r>
              <a:rPr lang="en-US" dirty="0"/>
              <a:t>: each layer focuses on one job, and communicates only with adjacent layers.</a:t>
            </a:r>
          </a:p>
          <a:p>
            <a:r>
              <a:rPr lang="en-US" dirty="0"/>
              <a:t>This makes the system easier to maintain, test, and extend.</a:t>
            </a:r>
          </a:p>
          <a:p>
            <a:r>
              <a:rPr lang="en-US" dirty="0"/>
              <a:t>Crucial concept for moving from writing "scripts" to building "applications."</a:t>
            </a:r>
          </a:p>
          <a:p>
            <a:r>
              <a:rPr lang="en-US" dirty="0"/>
              <a:t>As a beginner, you likely wrote code where the API route, the validation logic, and the SQL queries were all mixed into one function. This is called </a:t>
            </a:r>
            <a:r>
              <a:rPr lang="en-US" b="1" dirty="0"/>
              <a:t>"Spaghetti Code."</a:t>
            </a:r>
            <a:endParaRPr lang="en-US" dirty="0"/>
          </a:p>
          <a:p>
            <a:r>
              <a:rPr lang="en-US" b="1" dirty="0"/>
              <a:t>Layered Architecture</a:t>
            </a:r>
            <a:r>
              <a:rPr lang="en-US" dirty="0"/>
              <a:t> separates your code into horizontal layers, where each layer has a specific responsibility and only talks to the layer directly below it.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2093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C3AEE-9DF2-3BF7-4292-E8F99726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923B-7CD9-4B6E-9C07-B373ECE0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Layered Architecture?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0DD07-21BC-E557-CD12-FE6D87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Maintainability:</a:t>
            </a:r>
            <a:r>
              <a:rPr lang="en-US" dirty="0"/>
              <a:t> Easier to change one layer without breaking others.</a:t>
            </a:r>
          </a:p>
          <a:p>
            <a:r>
              <a:rPr lang="en-US" b="1" dirty="0"/>
              <a:t>Testability:</a:t>
            </a:r>
            <a:r>
              <a:rPr lang="en-US" dirty="0"/>
              <a:t> Unit tests can target each layer independently.</a:t>
            </a:r>
          </a:p>
          <a:p>
            <a:r>
              <a:rPr lang="en-US" b="1" dirty="0"/>
              <a:t>Scalability:</a:t>
            </a:r>
            <a:r>
              <a:rPr lang="en-US" dirty="0"/>
              <a:t> Swap implementations (e.g., change DB from PostgreSQL to MongoDB).</a:t>
            </a:r>
          </a:p>
          <a:p>
            <a:r>
              <a:rPr lang="en-US" b="1" dirty="0"/>
              <a:t>Team Collaboration:</a:t>
            </a:r>
            <a:r>
              <a:rPr lang="en-US" dirty="0"/>
              <a:t> Different teams can own different layers.</a:t>
            </a:r>
          </a:p>
          <a:p>
            <a:r>
              <a:rPr lang="en-US" b="1" dirty="0"/>
              <a:t>Security:</a:t>
            </a:r>
            <a:r>
              <a:rPr lang="en-US" dirty="0"/>
              <a:t> Infrastructure layer centralizes auth, logging, and error handling.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519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A8CBB-7D05-52F2-6D82-930E40084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C105-8252-2805-B80A-DC31E307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5911-847F-E45D-57D4-AF46FACC9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Enterprise apps:</a:t>
            </a:r>
            <a:r>
              <a:rPr lang="en-US" dirty="0"/>
              <a:t> Banking, healthcare, e-commerce where rules and persistence are complex.</a:t>
            </a:r>
          </a:p>
          <a:p>
            <a:r>
              <a:rPr lang="en-US" b="1" dirty="0"/>
              <a:t>Microservices:</a:t>
            </a:r>
            <a:r>
              <a:rPr lang="en-US" dirty="0"/>
              <a:t> Each service can internally follow layered design.</a:t>
            </a:r>
          </a:p>
          <a:p>
            <a:r>
              <a:rPr lang="en-US" b="1" dirty="0"/>
              <a:t>Training projects:</a:t>
            </a:r>
            <a:r>
              <a:rPr lang="en-US" dirty="0"/>
              <a:t> Teaching juniors how to separate concerns.</a:t>
            </a:r>
          </a:p>
          <a:p>
            <a:r>
              <a:rPr lang="en-US" b="1" dirty="0"/>
              <a:t>CI/CD pipelines:</a:t>
            </a:r>
            <a:r>
              <a:rPr lang="en-US" dirty="0"/>
              <a:t> Infrastructure layer integrates with deployment automation.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35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4342-8CC5-0987-F260-D4E69296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8C2D-973A-34F6-B932-3917D9BE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to Use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1739-2118-F576-C9F1-47372BCEC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>
            <a:normAutofit/>
          </a:bodyPr>
          <a:lstStyle/>
          <a:p>
            <a:r>
              <a:rPr lang="en-US" b="1" dirty="0"/>
              <a:t>Small apps or prototypes:</a:t>
            </a:r>
            <a:r>
              <a:rPr lang="en-US" dirty="0"/>
              <a:t> Overhead may be unnecessary.</a:t>
            </a:r>
          </a:p>
          <a:p>
            <a:r>
              <a:rPr lang="en-US" b="1" dirty="0"/>
              <a:t>Highly performance-critical apps:</a:t>
            </a:r>
            <a:r>
              <a:rPr lang="en-US" dirty="0"/>
              <a:t> Extra abstraction can add latency.</a:t>
            </a:r>
          </a:p>
          <a:p>
            <a:r>
              <a:rPr lang="en-US" b="1" dirty="0"/>
              <a:t>Simple scripts:</a:t>
            </a:r>
            <a:r>
              <a:rPr lang="en-US" dirty="0"/>
              <a:t> A flat structure is fine.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3988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DFBE3-CC0B-A3F4-8941-88FE3A96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6915-CECB-088C-CD8A-78D093CF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71C0-BFD9-A18C-F8CF-6060C1EF3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dirty="0"/>
              <a:t>Imagine a pyramid:</a:t>
            </a:r>
          </a:p>
          <a:p>
            <a:r>
              <a:rPr lang="en-US" b="1" dirty="0"/>
              <a:t>Top:</a:t>
            </a:r>
            <a:r>
              <a:rPr lang="en-US" dirty="0"/>
              <a:t> Presentation (</a:t>
            </a:r>
            <a:r>
              <a:rPr lang="en-US" dirty="0" err="1"/>
              <a:t>FastAPI</a:t>
            </a:r>
            <a:r>
              <a:rPr lang="en-US" dirty="0"/>
              <a:t> routes)</a:t>
            </a:r>
          </a:p>
          <a:p>
            <a:r>
              <a:rPr lang="en-US" b="1" dirty="0"/>
              <a:t>Middle:</a:t>
            </a:r>
            <a:r>
              <a:rPr lang="en-US" dirty="0"/>
              <a:t> Application + Domain (business rules, workflows)</a:t>
            </a:r>
          </a:p>
          <a:p>
            <a:r>
              <a:rPr lang="en-US" b="1" dirty="0"/>
              <a:t>Bottom:</a:t>
            </a:r>
            <a:r>
              <a:rPr lang="en-US" dirty="0"/>
              <a:t> Data + Infrastructure (DB, logging, external services)</a:t>
            </a:r>
          </a:p>
          <a:p>
            <a:r>
              <a:rPr lang="en-US" dirty="0"/>
              <a:t>Each layer only talks to the one directly below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9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77593-9733-41E0-EF01-27105BD3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B7EF-68D1-0EA7-60A8-B82BC388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Three Core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EC08D-732F-9C17-C2D6-CF787AC55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 Python web development (</a:t>
            </a:r>
            <a:r>
              <a:rPr lang="en-US" dirty="0" err="1"/>
              <a:t>FastAPI</a:t>
            </a:r>
            <a:r>
              <a:rPr lang="en-US" dirty="0"/>
              <a:t>/Flask/Django), we typically use a </a:t>
            </a:r>
            <a:r>
              <a:rPr lang="en-US" b="1" dirty="0"/>
              <a:t>3-Layer Architecture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A. The Presentation Layer (Controller / Router)</a:t>
            </a:r>
          </a:p>
          <a:p>
            <a:r>
              <a:rPr lang="en-US" b="1" dirty="0"/>
              <a:t>Role:</a:t>
            </a:r>
            <a:r>
              <a:rPr lang="en-US" dirty="0"/>
              <a:t> The Receptionist.</a:t>
            </a:r>
          </a:p>
          <a:p>
            <a:r>
              <a:rPr lang="en-US" b="1" dirty="0"/>
              <a:t>Responsibility:</a:t>
            </a:r>
            <a:r>
              <a:rPr lang="en-US" dirty="0"/>
              <a:t> Handles HTTP requests, parses JSON, validates input formats (</a:t>
            </a:r>
            <a:r>
              <a:rPr lang="en-US" dirty="0" err="1"/>
              <a:t>Pydantic</a:t>
            </a:r>
            <a:r>
              <a:rPr lang="en-US" dirty="0"/>
              <a:t>), and sends appropriate HTTP status codes (200, 404, 500).</a:t>
            </a:r>
          </a:p>
          <a:p>
            <a:r>
              <a:rPr lang="en-US" b="1" dirty="0"/>
              <a:t>Strict Rule:</a:t>
            </a:r>
            <a:r>
              <a:rPr lang="en-US" dirty="0"/>
              <a:t> No business logic allowed. No SQL allowed.</a:t>
            </a:r>
          </a:p>
          <a:p>
            <a:pPr marL="0" indent="0">
              <a:buNone/>
            </a:pPr>
            <a:r>
              <a:rPr lang="en-US" b="1" dirty="0"/>
              <a:t>B. The Business Logic Layer (Service)</a:t>
            </a:r>
          </a:p>
          <a:p>
            <a:r>
              <a:rPr lang="en-US" b="1" dirty="0"/>
              <a:t>Role:</a:t>
            </a:r>
            <a:r>
              <a:rPr lang="en-US" dirty="0"/>
              <a:t> The Brain.</a:t>
            </a:r>
          </a:p>
          <a:p>
            <a:r>
              <a:rPr lang="en-US" b="1" dirty="0"/>
              <a:t>Responsibility:</a:t>
            </a:r>
            <a:r>
              <a:rPr lang="en-US" dirty="0"/>
              <a:t> The core intelligence. It handles calculations, rules, and decisions. (e.g., "User cannot withdraw more money than they have," "Send email if registration succeeds").</a:t>
            </a:r>
          </a:p>
          <a:p>
            <a:r>
              <a:rPr lang="en-US" b="1" dirty="0"/>
              <a:t>Strict Rule:</a:t>
            </a:r>
            <a:r>
              <a:rPr lang="en-US" dirty="0"/>
              <a:t> It should not know what a "web request" is (no HTTP headers) and shouldn't know which specific database is used.</a:t>
            </a:r>
          </a:p>
          <a:p>
            <a:pPr marL="0" indent="0">
              <a:buNone/>
            </a:pPr>
            <a:r>
              <a:rPr lang="en-US" b="1" dirty="0"/>
              <a:t>C. The Data Access Layer (Repository / DAO)</a:t>
            </a:r>
          </a:p>
          <a:p>
            <a:r>
              <a:rPr lang="en-US" b="1" dirty="0"/>
              <a:t>Role:</a:t>
            </a:r>
            <a:r>
              <a:rPr lang="en-US" dirty="0"/>
              <a:t> The Librarian.</a:t>
            </a:r>
          </a:p>
          <a:p>
            <a:r>
              <a:rPr lang="en-US" b="1" dirty="0"/>
              <a:t>Responsibility:</a:t>
            </a:r>
            <a:r>
              <a:rPr lang="en-US" dirty="0"/>
              <a:t> Talking to the database. It performs CRUD (Create, Read, Update, Delete) operations.</a:t>
            </a:r>
          </a:p>
          <a:p>
            <a:r>
              <a:rPr lang="en-US" b="1" dirty="0"/>
              <a:t>Strict Rule:</a:t>
            </a:r>
            <a:r>
              <a:rPr lang="en-US" dirty="0"/>
              <a:t> No logic here. Just fetch data and save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578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F1246-5E56-5D63-B577-51130769D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B0A4-46C3-0E4B-442B-FE769496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Three Core Layers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A3C917-317B-4182-BB11-5D0C52766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7825" y="2529232"/>
            <a:ext cx="5351577" cy="406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60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3590-6DCE-6920-FC1D-49B00CEDB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E314-DAD7-5C17-E32C-292F6230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8F312-DF25-6C37-416F-54F811E8C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r>
              <a:rPr lang="en-US" b="1" dirty="0"/>
              <a:t>Controller:</a:t>
            </a:r>
            <a:r>
              <a:rPr lang="en-US" dirty="0"/>
              <a:t> Handles the "Web" stuff (HTTP, JSON).</a:t>
            </a:r>
          </a:p>
          <a:p>
            <a:r>
              <a:rPr lang="en-US" b="1" dirty="0"/>
              <a:t>Service:</a:t>
            </a:r>
            <a:r>
              <a:rPr lang="en-US" dirty="0"/>
              <a:t> Handles the "What" (Logic, decisions).</a:t>
            </a:r>
          </a:p>
          <a:p>
            <a:r>
              <a:rPr lang="en-US" b="1" dirty="0"/>
              <a:t>Repository:</a:t>
            </a:r>
            <a:r>
              <a:rPr lang="en-US" dirty="0"/>
              <a:t> Handles the "How" (SQL, Storage).</a:t>
            </a:r>
          </a:p>
          <a:p>
            <a:r>
              <a:rPr lang="en-US" b="1" dirty="0"/>
              <a:t>Dependency Injection:</a:t>
            </a:r>
            <a:r>
              <a:rPr lang="en-US" dirty="0"/>
              <a:t> Pass the Repo into the Service, and the Service into the Controller. This makes your code modular and testable.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396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426A-34BC-7494-C697-EB497520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D329-25CF-F36E-5FE7-9408DE6C3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DA9E3-3497-FE0D-2BCF-74BE68695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924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8193-655B-FBCA-CD63-A53A1DB7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B719A-529C-B5DE-9EE4-00E4318E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6861-1DAF-C96D-FC78-50C8BFC2C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118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FA85-B8CC-1D73-8593-9E04E52D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F3DF-6D58-F4DF-F507-BCA06544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B268-FA5D-3A41-4787-AB53A0EB3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991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8A4D-58B8-B940-9D0F-0C432911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CDA2-2921-9BBC-CA39-3C15F856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ACF2-6B99-58D2-9EBE-084CC2CD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1657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CA7E-E930-F2DD-AD1E-00B82EB9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4B33-0D92-154B-A480-8CE911AC1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8EA5F-DB32-7FD4-7929-DA8861C06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48598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BE3B-4BAB-BD19-A273-5822A6A79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CC6F-4959-F953-C4D2-361C5A92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8CBD2-851B-EA83-E063-5C088DB2E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423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883A3-234D-DE03-654A-4C21ABD2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20C7-AB5A-E763-83AF-E4C0DC6A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EC9E8-9010-C79B-CBB7-74E137EB1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545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B991-3908-DBCA-68AC-BC521326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12E9-9F31-475B-CE4E-616ECC67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34A7-2FA8-2634-B879-F1FAD8D1A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841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FFF3-857F-8E72-0208-B29DA436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8748-BEBF-A7F4-BF0E-3D8A16BF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3D8E-1D47-3113-0F52-4C9BF03DD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77687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1CB8-7417-B1EB-C21E-FA5766EE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8D28-5270-DE7B-1284-217420DB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37AE-8A7F-831F-369D-55519E336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925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A41D5-730C-5C59-43A6-ED4754B2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4230-375E-A256-939A-8A4A84EA1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EC1DB-82A5-D734-26B7-56C9D3CA2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8686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622F-365E-B2C6-AA3A-4D17F14C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9995-A628-E4E9-EF0A-9AC0991A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CA77D-C508-A092-7E9D-2C2EAD196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8001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04FD-AB36-71C9-D7BF-F96036C5B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8AB1-83E6-60E6-53EC-AA921D75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53FB9-0DE3-9B48-2FE2-D1980E501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43937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4F34-32BE-A1E6-4842-F01E8D4C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097FB-B636-C21C-D74F-47E2496A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84751-640E-3245-30BF-4BA3968DA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66324" cy="386261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69015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91</TotalTime>
  <Words>3680</Words>
  <Application>Microsoft Office PowerPoint</Application>
  <PresentationFormat>Widescreen</PresentationFormat>
  <Paragraphs>378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Century Gothic</vt:lpstr>
      <vt:lpstr>Consolas</vt:lpstr>
      <vt:lpstr>DM Mono</vt:lpstr>
      <vt:lpstr>Inter</vt:lpstr>
      <vt:lpstr>Roboto</vt:lpstr>
      <vt:lpstr>Wingdings 3</vt:lpstr>
      <vt:lpstr>Ion Boardroom</vt:lpstr>
      <vt:lpstr>Asynchronous programming in python</vt:lpstr>
      <vt:lpstr>Asynchronous Programming</vt:lpstr>
      <vt:lpstr>Asynchronous Programming</vt:lpstr>
      <vt:lpstr>Core Concept: The Chess Master Analogy</vt:lpstr>
      <vt:lpstr>Core concepts</vt:lpstr>
      <vt:lpstr>Why use async</vt:lpstr>
      <vt:lpstr>asyncio</vt:lpstr>
      <vt:lpstr>Running Multiple Tasks Concurrently</vt:lpstr>
      <vt:lpstr>Guess the output</vt:lpstr>
      <vt:lpstr>What is the Event Loop?</vt:lpstr>
      <vt:lpstr>How Event Loop Works</vt:lpstr>
      <vt:lpstr>How Event Loop Works</vt:lpstr>
      <vt:lpstr>Event 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Best practices</vt:lpstr>
      <vt:lpstr>When not to use async</vt:lpstr>
      <vt:lpstr>Examples</vt:lpstr>
      <vt:lpstr>Architecture and patterns</vt:lpstr>
      <vt:lpstr>Common pitfalls</vt:lpstr>
      <vt:lpstr>Why Use It? (The Pros)</vt:lpstr>
      <vt:lpstr>When NOT to Use It </vt:lpstr>
      <vt:lpstr>When NOT to Use It </vt:lpstr>
      <vt:lpstr>Do I need asyncio?</vt:lpstr>
      <vt:lpstr>Comparison</vt:lpstr>
      <vt:lpstr>Commands</vt:lpstr>
      <vt:lpstr>What is Layered Architecture?</vt:lpstr>
      <vt:lpstr>Why Use Layered Architecture?</vt:lpstr>
      <vt:lpstr>Use Cases</vt:lpstr>
      <vt:lpstr>When Not to Use</vt:lpstr>
      <vt:lpstr>PowerPoint Presentation</vt:lpstr>
      <vt:lpstr>Three Core Layers</vt:lpstr>
      <vt:lpstr>Three Core Layers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33</cp:revision>
  <dcterms:created xsi:type="dcterms:W3CDTF">2025-12-07T18:52:45Z</dcterms:created>
  <dcterms:modified xsi:type="dcterms:W3CDTF">2025-12-08T03:30:45Z</dcterms:modified>
</cp:coreProperties>
</file>
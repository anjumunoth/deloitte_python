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9" r:id="rId16"/>
    <p:sldId id="270" r:id="rId17"/>
    <p:sldId id="271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272" r:id="rId28"/>
    <p:sldId id="273" r:id="rId29"/>
    <p:sldId id="274" r:id="rId30"/>
    <p:sldId id="290" r:id="rId31"/>
    <p:sldId id="291" r:id="rId32"/>
    <p:sldId id="292" r:id="rId33"/>
    <p:sldId id="293" r:id="rId34"/>
    <p:sldId id="275" r:id="rId35"/>
    <p:sldId id="276" r:id="rId36"/>
    <p:sldId id="277" r:id="rId37"/>
    <p:sldId id="278" r:id="rId38"/>
    <p:sldId id="279" r:id="rId39"/>
    <p:sldId id="280" r:id="rId40"/>
    <p:sldId id="294" r:id="rId41"/>
    <p:sldId id="295" r:id="rId42"/>
    <p:sldId id="281" r:id="rId43"/>
    <p:sldId id="282" r:id="rId44"/>
    <p:sldId id="283" r:id="rId45"/>
    <p:sldId id="284" r:id="rId46"/>
    <p:sldId id="305" r:id="rId47"/>
    <p:sldId id="285" r:id="rId48"/>
    <p:sldId id="286" r:id="rId49"/>
    <p:sldId id="287" r:id="rId50"/>
    <p:sldId id="288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58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42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64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41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0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1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591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30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1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0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39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441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492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106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280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738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925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CC3B3AB-41AE-47E8-AEB4-B6478C3EAF7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D1043E-AA78-42E4-960D-7CFBE1B41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367C-B28A-95A5-C94D-24573DFEEC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err="1"/>
              <a:t>FastAPI</a:t>
            </a:r>
            <a:r>
              <a:rPr lang="en-IN" b="1" dirty="0"/>
              <a:t> Dependency Injection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43A8A-D177-5A96-484C-CC276D8F4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494844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2BD4-3FC4-979A-D2BF-0E243FC1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Dependency </a:t>
            </a:r>
            <a:r>
              <a:rPr lang="en-IN" dirty="0" err="1"/>
              <a:t>Injecion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0F97-2BBA-0CD0-B348-627F8CCE4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building web applications, need to reuse code for common operations like:</a:t>
            </a:r>
          </a:p>
          <a:p>
            <a:r>
              <a:rPr lang="en-US" dirty="0"/>
              <a:t>Authenticating users</a:t>
            </a:r>
          </a:p>
          <a:p>
            <a:r>
              <a:rPr lang="en-US" dirty="0"/>
              <a:t>Enforcing permissions</a:t>
            </a:r>
          </a:p>
          <a:p>
            <a:r>
              <a:rPr lang="en-US" dirty="0"/>
              <a:t>Database connections</a:t>
            </a:r>
          </a:p>
          <a:p>
            <a:r>
              <a:rPr lang="en-US" dirty="0"/>
              <a:t>Parameter validation</a:t>
            </a:r>
          </a:p>
          <a:p>
            <a:r>
              <a:rPr lang="en-US" dirty="0"/>
              <a:t>Common processing logic</a:t>
            </a:r>
          </a:p>
          <a:p>
            <a:r>
              <a:rPr lang="en-US" dirty="0" err="1"/>
              <a:t>FastAPI's</a:t>
            </a:r>
            <a:r>
              <a:rPr lang="en-US" dirty="0"/>
              <a:t> dependency injection system provides an elegant way to handle these scenarios, making the code more maintainable, testable, and cleaner.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38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486D-F07A-CF29-CD76-A28BCF5B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95BB-707B-CD47-BC56-0AB3311C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Are Dependencies in </a:t>
            </a:r>
            <a:r>
              <a:rPr lang="en-US" b="1" dirty="0" err="1"/>
              <a:t>FastAPI</a:t>
            </a:r>
            <a:r>
              <a:rPr lang="en-US" b="1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EBB11-434E-3428-90C5-97364C5EE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Dependencies in </a:t>
            </a:r>
            <a:r>
              <a:rPr lang="en-US" dirty="0" err="1"/>
              <a:t>FastAPI</a:t>
            </a:r>
            <a:r>
              <a:rPr lang="en-US" dirty="0"/>
              <a:t> are functions (or callable objects) that can be "injected" into your path operation functions. When a request is made, </a:t>
            </a:r>
            <a:r>
              <a:rPr lang="en-US" dirty="0" err="1"/>
              <a:t>FastAPI</a:t>
            </a:r>
            <a:r>
              <a:rPr lang="en-US" dirty="0"/>
              <a:t> will:</a:t>
            </a:r>
          </a:p>
          <a:p>
            <a:r>
              <a:rPr lang="en-US" dirty="0"/>
              <a:t>Identify the required dependencies</a:t>
            </a:r>
          </a:p>
          <a:p>
            <a:r>
              <a:rPr lang="en-US" dirty="0"/>
              <a:t>Execute them in the right order</a:t>
            </a:r>
          </a:p>
          <a:p>
            <a:r>
              <a:rPr lang="en-US" dirty="0"/>
              <a:t>Provide their results to your endpoint function</a:t>
            </a:r>
          </a:p>
          <a:p>
            <a:r>
              <a:rPr lang="en-US" dirty="0"/>
              <a:t>Think of dependencies as building blocks that handle specific tasks before your main endpoint logic runs.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74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0E3A-8B6C-85A6-753D-D52AA6600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5B97-C0A5-5B3C-5F11-28D7E481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Basic Dependency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B9449-AE5D-CD3B-C3E0-496AB686F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from 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 import 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, Depends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app = 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# This is our dependency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def </a:t>
            </a:r>
            <a:r>
              <a:rPr lang="en-IN" b="1" dirty="0" err="1">
                <a:solidFill>
                  <a:srgbClr val="FF0000"/>
                </a:solidFill>
              </a:rPr>
              <a:t>get_query_parameter</a:t>
            </a:r>
            <a:r>
              <a:rPr lang="en-IN" b="1" dirty="0">
                <a:solidFill>
                  <a:srgbClr val="FF0000"/>
                </a:solidFill>
              </a:rPr>
              <a:t>(q: str = None):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return q or "No query parameter provided"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@app.get("/items/")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async def </a:t>
            </a:r>
            <a:r>
              <a:rPr lang="en-IN" b="1" dirty="0" err="1">
                <a:solidFill>
                  <a:srgbClr val="FF0000"/>
                </a:solidFill>
              </a:rPr>
              <a:t>read_items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query_result</a:t>
            </a:r>
            <a:r>
              <a:rPr lang="en-IN" b="1" dirty="0">
                <a:solidFill>
                  <a:srgbClr val="FF0000"/>
                </a:solidFill>
              </a:rPr>
              <a:t>: str = Depends(</a:t>
            </a:r>
            <a:r>
              <a:rPr lang="en-IN" b="1" dirty="0" err="1">
                <a:solidFill>
                  <a:srgbClr val="FF0000"/>
                </a:solidFill>
              </a:rPr>
              <a:t>get_query_parameter</a:t>
            </a:r>
            <a:r>
              <a:rPr lang="en-IN" b="1" dirty="0">
                <a:solidFill>
                  <a:srgbClr val="FF0000"/>
                </a:solidFill>
              </a:rPr>
              <a:t>)):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return {"</a:t>
            </a:r>
            <a:r>
              <a:rPr lang="en-IN" b="1" dirty="0" err="1">
                <a:solidFill>
                  <a:srgbClr val="FF0000"/>
                </a:solidFill>
              </a:rPr>
              <a:t>query_result</a:t>
            </a:r>
            <a:r>
              <a:rPr lang="en-IN" b="1" dirty="0">
                <a:solidFill>
                  <a:srgbClr val="FF0000"/>
                </a:solidFill>
              </a:rPr>
              <a:t>": </a:t>
            </a:r>
            <a:r>
              <a:rPr lang="en-IN" b="1" dirty="0" err="1">
                <a:solidFill>
                  <a:srgbClr val="FF0000"/>
                </a:solidFill>
              </a:rPr>
              <a:t>query_result</a:t>
            </a: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US" dirty="0" err="1"/>
              <a:t>get_query_parameter</a:t>
            </a:r>
            <a:r>
              <a:rPr lang="en-US" dirty="0"/>
              <a:t> is a dependency function</a:t>
            </a:r>
          </a:p>
          <a:p>
            <a:r>
              <a:rPr lang="en-US" dirty="0"/>
              <a:t>We inject it into our path operation using Depends()</a:t>
            </a:r>
          </a:p>
          <a:p>
            <a:r>
              <a:rPr lang="en-US" dirty="0"/>
              <a:t>The return value from </a:t>
            </a:r>
            <a:r>
              <a:rPr lang="en-US" dirty="0" err="1"/>
              <a:t>get_query_parameter</a:t>
            </a:r>
            <a:r>
              <a:rPr lang="en-US" dirty="0"/>
              <a:t> is passed to </a:t>
            </a:r>
            <a:r>
              <a:rPr lang="en-US" dirty="0" err="1"/>
              <a:t>read_items</a:t>
            </a:r>
            <a:r>
              <a:rPr lang="en-US" dirty="0"/>
              <a:t> as </a:t>
            </a:r>
            <a:r>
              <a:rPr lang="en-US" dirty="0" err="1"/>
              <a:t>query_result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396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5BD8C-1256-D0EA-BE6E-0D63536E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CCA7-CF6F-7626-C31D-50466A86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Dependency Injection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6D32-1380-445C-3AFF-2A63781EC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someone makes a request to your endpoint, </a:t>
            </a:r>
            <a:r>
              <a:rPr lang="en-US" dirty="0" err="1"/>
              <a:t>FastAPI</a:t>
            </a:r>
            <a:r>
              <a:rPr lang="en-US" dirty="0"/>
              <a:t>:</a:t>
            </a:r>
          </a:p>
          <a:p>
            <a:r>
              <a:rPr lang="en-US" dirty="0"/>
              <a:t>Calls the dependency function (e.g., </a:t>
            </a:r>
            <a:r>
              <a:rPr lang="en-US" dirty="0" err="1"/>
              <a:t>get_query_parameter</a:t>
            </a:r>
            <a:r>
              <a:rPr lang="en-US" dirty="0"/>
              <a:t>)</a:t>
            </a:r>
          </a:p>
          <a:p>
            <a:r>
              <a:rPr lang="en-US" dirty="0"/>
              <a:t>Gets the result</a:t>
            </a:r>
          </a:p>
          <a:p>
            <a:r>
              <a:rPr lang="en-US" dirty="0"/>
              <a:t>Assigns that result to the parameter in your path operation function (e.g., </a:t>
            </a:r>
            <a:r>
              <a:rPr lang="en-US" dirty="0" err="1"/>
              <a:t>query_result</a:t>
            </a:r>
            <a:r>
              <a:rPr lang="en-US" dirty="0"/>
              <a:t>)</a:t>
            </a:r>
          </a:p>
          <a:p>
            <a:r>
              <a:rPr lang="en-US" dirty="0"/>
              <a:t>Then executes your endpoint function with that parameter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91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8B014-D76A-B38C-9EA4-7251F057D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2E93-2094-9B6A-7A27-C640EACC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50E2-1DE8-1F4C-A4C6-889031E9A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Simple Dependencies</a:t>
            </a:r>
          </a:p>
          <a:p>
            <a:r>
              <a:rPr lang="en-US" dirty="0"/>
              <a:t>Simple dependencies are regular functions: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def </a:t>
            </a:r>
            <a:r>
              <a:rPr lang="en-US" b="1" dirty="0" err="1">
                <a:solidFill>
                  <a:srgbClr val="FF0000"/>
                </a:solidFill>
              </a:rPr>
              <a:t>get_db</a:t>
            </a:r>
            <a:r>
              <a:rPr lang="en-US" b="1" dirty="0">
                <a:solidFill>
                  <a:srgbClr val="FF0000"/>
                </a:solidFill>
              </a:rPr>
              <a:t>():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</a:t>
            </a:r>
            <a:r>
              <a:rPr lang="en-US" b="1" dirty="0" err="1">
                <a:solidFill>
                  <a:srgbClr val="FF0000"/>
                </a:solidFill>
              </a:rPr>
              <a:t>db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 err="1">
                <a:solidFill>
                  <a:srgbClr val="FF0000"/>
                </a:solidFill>
              </a:rPr>
              <a:t>DBSession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try: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yield </a:t>
            </a:r>
            <a:r>
              <a:rPr lang="en-US" b="1" dirty="0" err="1">
                <a:solidFill>
                  <a:srgbClr val="FF0000"/>
                </a:solidFill>
              </a:rPr>
              <a:t>db</a:t>
            </a:r>
            <a:r>
              <a:rPr lang="en-US" b="1" dirty="0">
                <a:solidFill>
                  <a:srgbClr val="FF0000"/>
                </a:solidFill>
              </a:rPr>
              <a:t>  # This returns the database connection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finally: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 err="1">
                <a:solidFill>
                  <a:srgbClr val="FF0000"/>
                </a:solidFill>
              </a:rPr>
              <a:t>db.close</a:t>
            </a:r>
            <a:r>
              <a:rPr lang="en-US" b="1" dirty="0">
                <a:solidFill>
                  <a:srgbClr val="FF0000"/>
                </a:solidFill>
              </a:rPr>
              <a:t>()  # This ensures the connection is closed after the endpoint is processed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19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22EE-864F-AE60-1E4C-21E73F27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6423-E458-D6D8-DFA4-5A2E535E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1CD9D-D398-68C5-AA2C-9586F871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2. Class-based Dependencies</a:t>
            </a:r>
          </a:p>
          <a:p>
            <a:r>
              <a:rPr lang="en-US" dirty="0"/>
              <a:t>Can also use classes with a __call__ method: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class </a:t>
            </a:r>
            <a:r>
              <a:rPr lang="en-US" b="1" dirty="0" err="1">
                <a:solidFill>
                  <a:srgbClr val="FF0000"/>
                </a:solidFill>
              </a:rPr>
              <a:t>QueryChecker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def __call__(self, q: str = None):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if q: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 return q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return "No query provided"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query_checker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 err="1">
                <a:solidFill>
                  <a:srgbClr val="FF0000"/>
                </a:solidFill>
              </a:rPr>
              <a:t>QueryChecker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@app.get("/check/")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async def </a:t>
            </a:r>
            <a:r>
              <a:rPr lang="en-US" b="1" dirty="0" err="1">
                <a:solidFill>
                  <a:srgbClr val="FF0000"/>
                </a:solidFill>
              </a:rPr>
              <a:t>check_query</a:t>
            </a:r>
            <a:r>
              <a:rPr lang="en-US" b="1" dirty="0">
                <a:solidFill>
                  <a:srgbClr val="FF0000"/>
                </a:solidFill>
              </a:rPr>
              <a:t>(result: str = Depends(</a:t>
            </a:r>
            <a:r>
              <a:rPr lang="en-US" b="1" dirty="0" err="1">
                <a:solidFill>
                  <a:srgbClr val="FF0000"/>
                </a:solidFill>
              </a:rPr>
              <a:t>query_checker</a:t>
            </a:r>
            <a:r>
              <a:rPr lang="en-US" b="1" dirty="0">
                <a:solidFill>
                  <a:srgbClr val="FF0000"/>
                </a:solidFill>
              </a:rPr>
              <a:t>)):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return {"result": result}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85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B0-1571-7CB2-8798-697638661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1D07-E1EA-B0DF-C587-E1E3AAB1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E2035-BAB5-0590-F4D5-6736D607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3. Dependencies with Sub-dependencies</a:t>
            </a:r>
          </a:p>
          <a:p>
            <a:r>
              <a:rPr lang="en-US" dirty="0"/>
              <a:t>Dependencies can themselves depend on other dependencies:</a:t>
            </a:r>
          </a:p>
          <a:p>
            <a:pPr marL="0" indent="0">
              <a:buNone/>
            </a:pPr>
            <a:r>
              <a:rPr lang="en-IN" b="1" dirty="0"/>
              <a:t>def </a:t>
            </a:r>
            <a:r>
              <a:rPr lang="en-IN" b="1" dirty="0" err="1"/>
              <a:t>get_query</a:t>
            </a:r>
            <a:r>
              <a:rPr lang="en-IN" b="1" dirty="0"/>
              <a:t>(q: str = None):</a:t>
            </a:r>
          </a:p>
          <a:p>
            <a:pPr marL="0" indent="0">
              <a:buNone/>
            </a:pPr>
            <a:r>
              <a:rPr lang="en-IN" b="1" dirty="0"/>
              <a:t>    return q or "default"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def </a:t>
            </a:r>
            <a:r>
              <a:rPr lang="en-IN" b="1" dirty="0" err="1"/>
              <a:t>process_query</a:t>
            </a:r>
            <a:r>
              <a:rPr lang="en-IN" b="1" dirty="0"/>
              <a:t>(query: str = Depends(</a:t>
            </a:r>
            <a:r>
              <a:rPr lang="en-IN" b="1" dirty="0" err="1"/>
              <a:t>get_query</a:t>
            </a:r>
            <a:r>
              <a:rPr lang="en-IN" b="1" dirty="0"/>
              <a:t>)):</a:t>
            </a:r>
          </a:p>
          <a:p>
            <a:pPr marL="0" indent="0">
              <a:buNone/>
            </a:pPr>
            <a:r>
              <a:rPr lang="en-IN" b="1" dirty="0"/>
              <a:t>    return </a:t>
            </a:r>
            <a:r>
              <a:rPr lang="en-IN" b="1" dirty="0" err="1"/>
              <a:t>f"processed</a:t>
            </a:r>
            <a:r>
              <a:rPr lang="en-IN" b="1" dirty="0"/>
              <a:t>: {query}"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@app.get("/process/")</a:t>
            </a:r>
          </a:p>
          <a:p>
            <a:pPr marL="0" indent="0">
              <a:buNone/>
            </a:pPr>
            <a:r>
              <a:rPr lang="en-IN" b="1" dirty="0"/>
              <a:t>async def </a:t>
            </a:r>
            <a:r>
              <a:rPr lang="en-IN" b="1" dirty="0" err="1"/>
              <a:t>process_endpoint</a:t>
            </a:r>
            <a:r>
              <a:rPr lang="en-IN" b="1" dirty="0"/>
              <a:t>(</a:t>
            </a:r>
            <a:r>
              <a:rPr lang="en-IN" b="1" dirty="0" err="1"/>
              <a:t>final_result</a:t>
            </a:r>
            <a:r>
              <a:rPr lang="en-IN" b="1" dirty="0"/>
              <a:t>: str = Depends(</a:t>
            </a:r>
            <a:r>
              <a:rPr lang="en-IN" b="1" dirty="0" err="1"/>
              <a:t>process_query</a:t>
            </a:r>
            <a:r>
              <a:rPr lang="en-IN" b="1" dirty="0"/>
              <a:t>)):</a:t>
            </a:r>
          </a:p>
          <a:p>
            <a:pPr marL="0" indent="0">
              <a:buNone/>
            </a:pPr>
            <a:r>
              <a:rPr lang="en-IN" b="1" dirty="0"/>
              <a:t>    return {"result": </a:t>
            </a:r>
            <a:r>
              <a:rPr lang="en-IN" b="1" dirty="0" err="1"/>
              <a:t>final_result</a:t>
            </a:r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6613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080D-5CD6-1EAC-25CB-AFFAD401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BA54B7-ADCC-0BD2-07C2-B8A58F17D56A}"/>
              </a:ext>
            </a:extLst>
          </p:cNvPr>
          <p:cNvSpPr txBox="1"/>
          <p:nvPr/>
        </p:nvSpPr>
        <p:spPr>
          <a:xfrm>
            <a:off x="391885" y="334386"/>
            <a:ext cx="954055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Our "database" of API keys</a:t>
            </a:r>
          </a:p>
          <a:p>
            <a:r>
              <a:rPr lang="en-IN" dirty="0"/>
              <a:t>API_KEYS = {</a:t>
            </a:r>
          </a:p>
          <a:p>
            <a:r>
              <a:rPr lang="en-IN" dirty="0"/>
              <a:t>    "valid_key123": "user1",</a:t>
            </a:r>
          </a:p>
          <a:p>
            <a:r>
              <a:rPr lang="en-IN" dirty="0"/>
              <a:t>    "another_key456": "user2"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get_current_user</a:t>
            </a:r>
            <a:r>
              <a:rPr lang="en-IN" dirty="0"/>
              <a:t>(</a:t>
            </a:r>
            <a:r>
              <a:rPr lang="en-IN" dirty="0" err="1"/>
              <a:t>api_key</a:t>
            </a:r>
            <a:r>
              <a:rPr lang="en-IN" dirty="0"/>
              <a:t>: Optional[str] = Header(None)):</a:t>
            </a:r>
          </a:p>
          <a:p>
            <a:r>
              <a:rPr lang="en-IN" dirty="0"/>
              <a:t>    if </a:t>
            </a:r>
            <a:r>
              <a:rPr lang="en-IN" dirty="0" err="1"/>
              <a:t>api_key</a:t>
            </a:r>
            <a:r>
              <a:rPr lang="en-IN" dirty="0"/>
              <a:t> is None:</a:t>
            </a:r>
          </a:p>
          <a:p>
            <a:r>
              <a:rPr lang="en-IN" dirty="0"/>
              <a:t>        raise </a:t>
            </a:r>
            <a:r>
              <a:rPr lang="en-IN" dirty="0" err="1"/>
              <a:t>HTTPException</a:t>
            </a:r>
            <a:r>
              <a:rPr lang="en-IN" dirty="0"/>
              <a:t>(</a:t>
            </a:r>
            <a:r>
              <a:rPr lang="en-IN" dirty="0" err="1"/>
              <a:t>status_code</a:t>
            </a:r>
            <a:r>
              <a:rPr lang="en-IN" dirty="0"/>
              <a:t>=401, detail="API Key header is missing")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if </a:t>
            </a:r>
            <a:r>
              <a:rPr lang="en-IN" dirty="0" err="1"/>
              <a:t>api_key</a:t>
            </a:r>
            <a:r>
              <a:rPr lang="en-IN" dirty="0"/>
              <a:t> not in API_KEYS:</a:t>
            </a:r>
          </a:p>
          <a:p>
            <a:r>
              <a:rPr lang="en-IN" dirty="0"/>
              <a:t>        raise </a:t>
            </a:r>
            <a:r>
              <a:rPr lang="en-IN" dirty="0" err="1"/>
              <a:t>HTTPException</a:t>
            </a:r>
            <a:r>
              <a:rPr lang="en-IN" dirty="0"/>
              <a:t>(</a:t>
            </a:r>
            <a:r>
              <a:rPr lang="en-IN" dirty="0" err="1"/>
              <a:t>status_code</a:t>
            </a:r>
            <a:r>
              <a:rPr lang="en-IN" dirty="0"/>
              <a:t>=403, detail="Invalid API Key")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return {"username": API_KEYS[</a:t>
            </a:r>
            <a:r>
              <a:rPr lang="en-IN" dirty="0" err="1"/>
              <a:t>api_key</a:t>
            </a:r>
            <a:r>
              <a:rPr lang="en-IN" dirty="0"/>
              <a:t>]}</a:t>
            </a:r>
          </a:p>
          <a:p>
            <a:endParaRPr lang="en-IN" dirty="0"/>
          </a:p>
          <a:p>
            <a:r>
              <a:rPr lang="en-IN" dirty="0"/>
              <a:t>@app.get("/protected/")</a:t>
            </a:r>
          </a:p>
          <a:p>
            <a:r>
              <a:rPr lang="en-IN" dirty="0"/>
              <a:t>async def </a:t>
            </a:r>
            <a:r>
              <a:rPr lang="en-IN" dirty="0" err="1"/>
              <a:t>protected_route</a:t>
            </a:r>
            <a:r>
              <a:rPr lang="en-IN" dirty="0"/>
              <a:t>(</a:t>
            </a:r>
            <a:r>
              <a:rPr lang="en-IN" dirty="0" err="1"/>
              <a:t>current_user</a:t>
            </a:r>
            <a:r>
              <a:rPr lang="en-IN" dirty="0"/>
              <a:t>: </a:t>
            </a:r>
            <a:r>
              <a:rPr lang="en-IN" dirty="0" err="1"/>
              <a:t>dict</a:t>
            </a:r>
            <a:r>
              <a:rPr lang="en-IN" dirty="0"/>
              <a:t> = Depends(</a:t>
            </a:r>
            <a:r>
              <a:rPr lang="en-IN" dirty="0" err="1"/>
              <a:t>get_current_user</a:t>
            </a:r>
            <a:r>
              <a:rPr lang="en-IN" dirty="0"/>
              <a:t>)):</a:t>
            </a:r>
          </a:p>
          <a:p>
            <a:r>
              <a:rPr lang="en-IN" dirty="0"/>
              <a:t>    return {</a:t>
            </a:r>
          </a:p>
          <a:p>
            <a:r>
              <a:rPr lang="en-IN" dirty="0"/>
              <a:t>        "message": "You accessed a protected route",</a:t>
            </a:r>
          </a:p>
          <a:p>
            <a:r>
              <a:rPr lang="en-IN" dirty="0"/>
              <a:t>        "user": </a:t>
            </a:r>
            <a:r>
              <a:rPr lang="en-IN" dirty="0" err="1"/>
              <a:t>current_user</a:t>
            </a:r>
            <a:r>
              <a:rPr lang="en-IN" dirty="0"/>
              <a:t>["username"]</a:t>
            </a:r>
          </a:p>
          <a:p>
            <a:r>
              <a:rPr lang="en-IN" dirty="0"/>
              <a:t>   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BD49FD-E39A-2F68-05C6-257FB5FB108E}"/>
              </a:ext>
            </a:extLst>
          </p:cNvPr>
          <p:cNvSpPr txBox="1"/>
          <p:nvPr/>
        </p:nvSpPr>
        <p:spPr>
          <a:xfrm>
            <a:off x="3346191" y="46266"/>
            <a:ext cx="6095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rgbClr val="FF0000"/>
                </a:solidFill>
                <a:effectLst/>
                <a:latin typeface="system-ui"/>
              </a:rPr>
              <a:t>simple authentication dependency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E6176-D0EB-25FE-76AE-2A479088B75E}"/>
              </a:ext>
            </a:extLst>
          </p:cNvPr>
          <p:cNvSpPr txBox="1"/>
          <p:nvPr/>
        </p:nvSpPr>
        <p:spPr>
          <a:xfrm>
            <a:off x="9215146" y="1766221"/>
            <a:ext cx="2788687" cy="431400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In this example:</a:t>
            </a:r>
          </a:p>
          <a:p>
            <a:pPr algn="l">
              <a:spcAft>
                <a:spcPts val="1140"/>
              </a:spcAft>
              <a:buFont typeface="+mj-lt"/>
              <a:buAutoNum type="arabicPeriod"/>
            </a:pPr>
            <a:r>
              <a:rPr lang="en-US" b="0" i="0" dirty="0" err="1">
                <a:solidFill>
                  <a:srgbClr val="E3E3E3"/>
                </a:solidFill>
                <a:effectLst/>
                <a:latin typeface="SFMono-Regular"/>
              </a:rPr>
              <a:t>get_current_user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is our dependency function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It checks if an API key is present and valid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If valid, it returns user information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If invalid or missing, it raises an HTTP exception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Our endpoint receives the user information when authentication succeeds</a:t>
            </a:r>
          </a:p>
        </p:txBody>
      </p:sp>
    </p:spTree>
    <p:extLst>
      <p:ext uri="{BB962C8B-B14F-4D97-AF65-F5344CB8AC3E}">
        <p14:creationId xmlns:p14="http://schemas.microsoft.com/office/powerpoint/2010/main" val="132706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E7F3-C474-0B0E-789D-1A54B865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E173-83BB-0121-1FFE-FF21B030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D8D3-502F-CCDD-C0A8-EF54D818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b="1" dirty="0"/>
              <a:t>Code Reuse</a:t>
            </a:r>
            <a:r>
              <a:rPr lang="en-US" dirty="0"/>
              <a:t>: Write once, use everywhere</a:t>
            </a:r>
          </a:p>
          <a:p>
            <a:r>
              <a:rPr lang="en-US" b="1" dirty="0"/>
              <a:t>Separation of Concerns</a:t>
            </a:r>
            <a:r>
              <a:rPr lang="en-US" dirty="0"/>
              <a:t>: Isolate authentication, validation, etc.</a:t>
            </a:r>
          </a:p>
          <a:p>
            <a:r>
              <a:rPr lang="en-US" b="1" dirty="0"/>
              <a:t>Testability</a:t>
            </a:r>
            <a:r>
              <a:rPr lang="en-US" dirty="0"/>
              <a:t>: Dependencies can be easily mocked for testing</a:t>
            </a:r>
          </a:p>
          <a:p>
            <a:r>
              <a:rPr lang="en-US" b="1" dirty="0"/>
              <a:t>Maintainability</a:t>
            </a:r>
            <a:r>
              <a:rPr lang="en-US" dirty="0"/>
              <a:t>: Centralized logic is easier to update</a:t>
            </a:r>
          </a:p>
          <a:p>
            <a:r>
              <a:rPr lang="en-US" b="1" dirty="0"/>
              <a:t>Readability</a:t>
            </a:r>
            <a:r>
              <a:rPr lang="en-US" dirty="0"/>
              <a:t>: Endpoint functions stay focused on their primary logic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115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02D4-1540-CE41-01A8-623B66EB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8649-B7DF-180D-3F7F-BE4EACB3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D6095-77E3-6042-4B0E-76140F95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Database connections</a:t>
            </a:r>
          </a:p>
          <a:p>
            <a:r>
              <a:rPr lang="en-US" dirty="0"/>
              <a:t>Authentication and authorization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Request validation</a:t>
            </a:r>
          </a:p>
          <a:p>
            <a:r>
              <a:rPr lang="en-US" dirty="0"/>
              <a:t>Rate limiting</a:t>
            </a:r>
          </a:p>
          <a:p>
            <a:r>
              <a:rPr lang="en-US" dirty="0"/>
              <a:t>Feature flags</a:t>
            </a:r>
          </a:p>
          <a:p>
            <a:r>
              <a:rPr lang="en-US" dirty="0"/>
              <a:t>Caching mechanisms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652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78E12-597B-F545-3A7E-EE365CED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02D4-FDB0-A317-4AB3-F1CDF02C1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Dependency Performance Considerations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ED75-3480-CBFD-752B-142FF6D6E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When multiple endpoints use the same dependency, </a:t>
            </a:r>
            <a:r>
              <a:rPr lang="en-US" dirty="0" err="1"/>
              <a:t>FastAPI</a:t>
            </a:r>
            <a:r>
              <a:rPr lang="en-US" dirty="0"/>
              <a:t> optimizes performance by caching certain dependencies. </a:t>
            </a:r>
          </a:p>
          <a:p>
            <a:r>
              <a:rPr lang="en-US" dirty="0"/>
              <a:t>Is controlled through the </a:t>
            </a:r>
            <a:r>
              <a:rPr lang="en-US" dirty="0" err="1"/>
              <a:t>use_cache</a:t>
            </a:r>
            <a:r>
              <a:rPr lang="en-US" dirty="0"/>
              <a:t> parameter:</a:t>
            </a:r>
          </a:p>
          <a:p>
            <a:pPr marL="0" indent="0">
              <a:buNone/>
            </a:pPr>
            <a:r>
              <a:rPr lang="en-US" b="1" dirty="0"/>
              <a:t>@app.get("/no-cache/")</a:t>
            </a:r>
            <a:br>
              <a:rPr lang="en-US" b="1" dirty="0"/>
            </a:br>
            <a:r>
              <a:rPr lang="en-US" b="1" i="1" dirty="0"/>
              <a:t>async</a:t>
            </a:r>
            <a:r>
              <a:rPr lang="en-US" b="1" dirty="0"/>
              <a:t> </a:t>
            </a:r>
            <a:r>
              <a:rPr lang="en-US" b="1" i="1" dirty="0"/>
              <a:t>def</a:t>
            </a:r>
            <a:r>
              <a:rPr lang="en-US" b="1" dirty="0"/>
              <a:t> </a:t>
            </a:r>
            <a:r>
              <a:rPr lang="en-US" b="1" dirty="0" err="1"/>
              <a:t>no_cache_endpoint</a:t>
            </a:r>
            <a:r>
              <a:rPr lang="en-US" b="1" dirty="0"/>
              <a:t>(</a:t>
            </a:r>
            <a:r>
              <a:rPr lang="en-US" b="1" dirty="0" err="1"/>
              <a:t>fresh_data</a:t>
            </a:r>
            <a:r>
              <a:rPr lang="en-US" b="1" dirty="0"/>
              <a:t>: </a:t>
            </a:r>
            <a:r>
              <a:rPr lang="en-US" b="1" dirty="0" err="1"/>
              <a:t>dict</a:t>
            </a:r>
            <a:r>
              <a:rPr lang="en-US" b="1" dirty="0"/>
              <a:t> = Depends(</a:t>
            </a:r>
            <a:r>
              <a:rPr lang="en-US" b="1" dirty="0" err="1"/>
              <a:t>get_data</a:t>
            </a:r>
            <a:r>
              <a:rPr lang="en-US" b="1" dirty="0"/>
              <a:t>, </a:t>
            </a:r>
            <a:r>
              <a:rPr lang="en-US" b="1" dirty="0" err="1"/>
              <a:t>use_cache</a:t>
            </a:r>
            <a:r>
              <a:rPr lang="en-US" b="1" dirty="0"/>
              <a:t>=False)):</a:t>
            </a:r>
            <a:br>
              <a:rPr lang="en-US" b="1" dirty="0"/>
            </a:br>
            <a:r>
              <a:rPr lang="en-US" b="1" dirty="0"/>
              <a:t>    </a:t>
            </a:r>
            <a:r>
              <a:rPr lang="en-US" b="1" i="1" dirty="0"/>
              <a:t>return</a:t>
            </a:r>
            <a:r>
              <a:rPr lang="en-US" b="1" dirty="0"/>
              <a:t> </a:t>
            </a:r>
            <a:r>
              <a:rPr lang="en-US" b="1" dirty="0" err="1"/>
              <a:t>fresh_data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812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1A43-2020-BD05-3C98-F00C37E0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BE46-70CD-F359-E87B-05ED842D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Dependency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E9A9C-9318-4278-356C-AC6207CC2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Dependency functions in </a:t>
            </a:r>
            <a:r>
              <a:rPr lang="en-US" dirty="0" err="1"/>
              <a:t>FastAPI</a:t>
            </a:r>
            <a:r>
              <a:rPr lang="en-US" dirty="0"/>
              <a:t> are regular Python functions that can be "injected" into path operation functions. </a:t>
            </a:r>
          </a:p>
          <a:p>
            <a:pPr marL="0" indent="0">
              <a:buNone/>
            </a:pPr>
            <a:r>
              <a:rPr lang="en-US" dirty="0"/>
              <a:t>Allow to:</a:t>
            </a:r>
          </a:p>
          <a:p>
            <a:r>
              <a:rPr lang="en-US" b="1" dirty="0"/>
              <a:t>Reuse code</a:t>
            </a:r>
            <a:r>
              <a:rPr lang="en-US" dirty="0"/>
              <a:t>: Write functionality once and use it in multiple endpoints</a:t>
            </a:r>
          </a:p>
          <a:p>
            <a:r>
              <a:rPr lang="en-US" b="1" dirty="0"/>
              <a:t>Share logic</a:t>
            </a:r>
            <a:r>
              <a:rPr lang="en-US" dirty="0"/>
              <a:t>: Apply common processing steps across different routes</a:t>
            </a:r>
          </a:p>
          <a:p>
            <a:r>
              <a:rPr lang="en-US" b="1" dirty="0"/>
              <a:t>Organize your code</a:t>
            </a:r>
            <a:r>
              <a:rPr lang="en-US" dirty="0"/>
              <a:t>: Keep your endpoint functions clean and focused</a:t>
            </a:r>
          </a:p>
          <a:p>
            <a:r>
              <a:rPr lang="en-US" b="1" dirty="0"/>
              <a:t>Handle cross-cutting concerns</a:t>
            </a:r>
            <a:r>
              <a:rPr lang="en-US" dirty="0"/>
              <a:t>: Like authentication, database connections, and parameter validation</a:t>
            </a:r>
          </a:p>
          <a:p>
            <a:r>
              <a:rPr lang="en-US" dirty="0"/>
              <a:t>Think of dependencies as building blocks that you can combine and reuse throughout your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60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88BC9-D62D-1B74-A427-0A438543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CE054A-AB2C-2440-F71A-D57C2284682E}"/>
              </a:ext>
            </a:extLst>
          </p:cNvPr>
          <p:cNvSpPr txBox="1"/>
          <p:nvPr/>
        </p:nvSpPr>
        <p:spPr>
          <a:xfrm>
            <a:off x="453701" y="285990"/>
            <a:ext cx="9637356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50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Dependency Function Parameters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Dependency functions can have the same parameter types as path operation functions: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4E9E3-4ED4-E6DF-9AD0-9EBB70A9F917}"/>
              </a:ext>
            </a:extLst>
          </p:cNvPr>
          <p:cNvSpPr txBox="1"/>
          <p:nvPr/>
        </p:nvSpPr>
        <p:spPr>
          <a:xfrm>
            <a:off x="499187" y="1317893"/>
            <a:ext cx="851301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Depends, </a:t>
            </a:r>
            <a:r>
              <a:rPr lang="en-IN" dirty="0" err="1"/>
              <a:t>FastAPI</a:t>
            </a:r>
            <a:r>
              <a:rPr lang="en-IN" dirty="0"/>
              <a:t>, Header, </a:t>
            </a:r>
            <a:r>
              <a:rPr lang="en-IN" dirty="0" err="1"/>
              <a:t>HTTPException</a:t>
            </a:r>
            <a:endParaRPr lang="en-IN" dirty="0"/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verify_token</a:t>
            </a:r>
            <a:r>
              <a:rPr lang="en-IN" dirty="0"/>
              <a:t>(</a:t>
            </a:r>
            <a:r>
              <a:rPr lang="en-IN" dirty="0" err="1"/>
              <a:t>x_token</a:t>
            </a:r>
            <a:r>
              <a:rPr lang="en-IN" dirty="0"/>
              <a:t>: str = Header()):</a:t>
            </a:r>
          </a:p>
          <a:p>
            <a:r>
              <a:rPr lang="en-IN" dirty="0"/>
              <a:t>    if </a:t>
            </a:r>
            <a:r>
              <a:rPr lang="en-IN" dirty="0" err="1"/>
              <a:t>x_token</a:t>
            </a:r>
            <a:r>
              <a:rPr lang="en-IN" dirty="0"/>
              <a:t> != "fake-super-secret-token":</a:t>
            </a:r>
          </a:p>
          <a:p>
            <a:r>
              <a:rPr lang="en-IN" dirty="0"/>
              <a:t>        raise </a:t>
            </a:r>
            <a:r>
              <a:rPr lang="en-IN" dirty="0" err="1"/>
              <a:t>HTTPException</a:t>
            </a:r>
            <a:r>
              <a:rPr lang="en-IN" dirty="0"/>
              <a:t>(</a:t>
            </a:r>
            <a:r>
              <a:rPr lang="en-IN" dirty="0" err="1"/>
              <a:t>status_code</a:t>
            </a:r>
            <a:r>
              <a:rPr lang="en-IN" dirty="0"/>
              <a:t>=400, detail="X-Token header invalid")</a:t>
            </a:r>
          </a:p>
          <a:p>
            <a:r>
              <a:rPr lang="en-IN" dirty="0"/>
              <a:t>    return </a:t>
            </a:r>
            <a:r>
              <a:rPr lang="en-IN" dirty="0" err="1"/>
              <a:t>x_token</a:t>
            </a:r>
            <a:endParaRPr lang="en-IN" dirty="0"/>
          </a:p>
          <a:p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verify_key</a:t>
            </a:r>
            <a:r>
              <a:rPr lang="en-IN" dirty="0"/>
              <a:t>(</a:t>
            </a:r>
            <a:r>
              <a:rPr lang="en-IN" dirty="0" err="1"/>
              <a:t>x_key</a:t>
            </a:r>
            <a:r>
              <a:rPr lang="en-IN" dirty="0"/>
              <a:t>: str = Header()):</a:t>
            </a:r>
          </a:p>
          <a:p>
            <a:r>
              <a:rPr lang="en-IN" dirty="0"/>
              <a:t>    if </a:t>
            </a:r>
            <a:r>
              <a:rPr lang="en-IN" dirty="0" err="1"/>
              <a:t>x_key</a:t>
            </a:r>
            <a:r>
              <a:rPr lang="en-IN" dirty="0"/>
              <a:t> != "fake-super-secret-key":</a:t>
            </a:r>
          </a:p>
          <a:p>
            <a:r>
              <a:rPr lang="en-IN" dirty="0"/>
              <a:t>        raise </a:t>
            </a:r>
            <a:r>
              <a:rPr lang="en-IN" dirty="0" err="1"/>
              <a:t>HTTPException</a:t>
            </a:r>
            <a:r>
              <a:rPr lang="en-IN" dirty="0"/>
              <a:t>(</a:t>
            </a:r>
            <a:r>
              <a:rPr lang="en-IN" dirty="0" err="1"/>
              <a:t>status_code</a:t>
            </a:r>
            <a:r>
              <a:rPr lang="en-IN" dirty="0"/>
              <a:t>=400, detail="X-Key header invalid")</a:t>
            </a:r>
          </a:p>
          <a:p>
            <a:r>
              <a:rPr lang="en-IN" dirty="0"/>
              <a:t>    return </a:t>
            </a:r>
            <a:r>
              <a:rPr lang="en-IN" dirty="0" err="1"/>
              <a:t>x_key</a:t>
            </a:r>
            <a:endParaRPr lang="en-IN" dirty="0"/>
          </a:p>
          <a:p>
            <a:endParaRPr lang="en-IN" dirty="0"/>
          </a:p>
          <a:p>
            <a:r>
              <a:rPr lang="en-IN" dirty="0"/>
              <a:t>@app.get("/items/")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(token: str = Depends(</a:t>
            </a:r>
            <a:r>
              <a:rPr lang="en-IN" dirty="0" err="1"/>
              <a:t>verify_token</a:t>
            </a:r>
            <a:r>
              <a:rPr lang="en-IN" dirty="0"/>
              <a:t>), key: str = Depends(</a:t>
            </a:r>
            <a:r>
              <a:rPr lang="en-IN" dirty="0" err="1"/>
              <a:t>verify_key</a:t>
            </a:r>
            <a:r>
              <a:rPr lang="en-IN" dirty="0"/>
              <a:t>)):</a:t>
            </a:r>
          </a:p>
          <a:p>
            <a:r>
              <a:rPr lang="en-IN" dirty="0"/>
              <a:t>    return {"token": token, "key": key}</a:t>
            </a:r>
          </a:p>
        </p:txBody>
      </p:sp>
    </p:spTree>
    <p:extLst>
      <p:ext uri="{BB962C8B-B14F-4D97-AF65-F5344CB8AC3E}">
        <p14:creationId xmlns:p14="http://schemas.microsoft.com/office/powerpoint/2010/main" val="1655110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A7F21B-72A7-AF1F-97D5-AA9FC6DB35AF}"/>
              </a:ext>
            </a:extLst>
          </p:cNvPr>
          <p:cNvSpPr txBox="1"/>
          <p:nvPr/>
        </p:nvSpPr>
        <p:spPr>
          <a:xfrm>
            <a:off x="234430" y="248667"/>
            <a:ext cx="9144389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50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Classes as Dependencies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You can also use classes as dependencies with the </a:t>
            </a: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Depends</a:t>
            </a:r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 function: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27466-F0EF-2484-44C3-45DCA7E22975}"/>
              </a:ext>
            </a:extLst>
          </p:cNvPr>
          <p:cNvSpPr txBox="1"/>
          <p:nvPr/>
        </p:nvSpPr>
        <p:spPr>
          <a:xfrm>
            <a:off x="234430" y="948690"/>
            <a:ext cx="87556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Depends,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r>
              <a:rPr lang="en-IN" dirty="0"/>
              <a:t>class </a:t>
            </a:r>
            <a:r>
              <a:rPr lang="en-IN" dirty="0" err="1"/>
              <a:t>CommonQueryParams</a:t>
            </a:r>
            <a:r>
              <a:rPr lang="en-IN" dirty="0"/>
              <a:t>:</a:t>
            </a:r>
          </a:p>
          <a:p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__(self, q: str = None, skip: int = 0, limit: int = 100):</a:t>
            </a:r>
          </a:p>
          <a:p>
            <a:r>
              <a:rPr lang="en-IN" dirty="0"/>
              <a:t>        </a:t>
            </a:r>
            <a:r>
              <a:rPr lang="en-IN" dirty="0" err="1"/>
              <a:t>self.q</a:t>
            </a:r>
            <a:r>
              <a:rPr lang="en-IN" dirty="0"/>
              <a:t> = q</a:t>
            </a:r>
          </a:p>
          <a:p>
            <a:r>
              <a:rPr lang="en-IN" dirty="0"/>
              <a:t>        </a:t>
            </a:r>
            <a:r>
              <a:rPr lang="en-IN" dirty="0" err="1"/>
              <a:t>self.skip</a:t>
            </a:r>
            <a:r>
              <a:rPr lang="en-IN" dirty="0"/>
              <a:t> = skip</a:t>
            </a:r>
          </a:p>
          <a:p>
            <a:r>
              <a:rPr lang="en-IN" dirty="0"/>
              <a:t>        </a:t>
            </a:r>
            <a:r>
              <a:rPr lang="en-IN" dirty="0" err="1"/>
              <a:t>self.limit</a:t>
            </a:r>
            <a:r>
              <a:rPr lang="en-IN" dirty="0"/>
              <a:t> = limit</a:t>
            </a:r>
          </a:p>
          <a:p>
            <a:endParaRPr lang="en-IN" dirty="0"/>
          </a:p>
          <a:p>
            <a:r>
              <a:rPr lang="en-IN" dirty="0"/>
              <a:t>@app.get("/items/")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(commons: </a:t>
            </a:r>
            <a:r>
              <a:rPr lang="en-IN" dirty="0" err="1"/>
              <a:t>CommonQueryParams</a:t>
            </a:r>
            <a:r>
              <a:rPr lang="en-IN" dirty="0"/>
              <a:t> = Depends(</a:t>
            </a:r>
            <a:r>
              <a:rPr lang="en-IN" dirty="0" err="1"/>
              <a:t>CommonQueryParams</a:t>
            </a:r>
            <a:r>
              <a:rPr lang="en-IN" dirty="0"/>
              <a:t>)):</a:t>
            </a:r>
          </a:p>
          <a:p>
            <a:r>
              <a:rPr lang="en-IN" dirty="0"/>
              <a:t>    response = {}</a:t>
            </a:r>
          </a:p>
          <a:p>
            <a:r>
              <a:rPr lang="en-IN" dirty="0"/>
              <a:t>    if </a:t>
            </a:r>
            <a:r>
              <a:rPr lang="en-IN" dirty="0" err="1"/>
              <a:t>commons.q</a:t>
            </a:r>
            <a:r>
              <a:rPr lang="en-IN" dirty="0"/>
              <a:t>:</a:t>
            </a:r>
          </a:p>
          <a:p>
            <a:r>
              <a:rPr lang="en-IN" dirty="0"/>
              <a:t>        </a:t>
            </a:r>
            <a:r>
              <a:rPr lang="en-IN" dirty="0" err="1"/>
              <a:t>response.update</a:t>
            </a:r>
            <a:r>
              <a:rPr lang="en-IN" dirty="0"/>
              <a:t>({"q": </a:t>
            </a:r>
            <a:r>
              <a:rPr lang="en-IN" dirty="0" err="1"/>
              <a:t>commons.q</a:t>
            </a:r>
            <a:r>
              <a:rPr lang="en-IN" dirty="0"/>
              <a:t>})</a:t>
            </a:r>
          </a:p>
          <a:p>
            <a:r>
              <a:rPr lang="en-IN" dirty="0"/>
              <a:t>    return {</a:t>
            </a:r>
          </a:p>
          <a:p>
            <a:r>
              <a:rPr lang="en-IN" dirty="0"/>
              <a:t>        "response": response, </a:t>
            </a:r>
          </a:p>
          <a:p>
            <a:r>
              <a:rPr lang="en-IN" dirty="0"/>
              <a:t>        "skip": </a:t>
            </a:r>
            <a:r>
              <a:rPr lang="en-IN" dirty="0" err="1"/>
              <a:t>commons.skip</a:t>
            </a:r>
            <a:r>
              <a:rPr lang="en-IN" dirty="0"/>
              <a:t>, </a:t>
            </a:r>
          </a:p>
          <a:p>
            <a:r>
              <a:rPr lang="en-IN" dirty="0"/>
              <a:t>        "limit": </a:t>
            </a:r>
            <a:r>
              <a:rPr lang="en-IN" dirty="0" err="1"/>
              <a:t>commons.limit</a:t>
            </a:r>
            <a:endParaRPr lang="en-IN" dirty="0"/>
          </a:p>
          <a:p>
            <a:r>
              <a:rPr lang="en-IN" dirty="0"/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04AD1-2D95-50DE-B994-8FDE9629DDF1}"/>
              </a:ext>
            </a:extLst>
          </p:cNvPr>
          <p:cNvSpPr txBox="1"/>
          <p:nvPr/>
        </p:nvSpPr>
        <p:spPr>
          <a:xfrm>
            <a:off x="7423668" y="2494217"/>
            <a:ext cx="3749740" cy="2569934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creates a dependency that:</a:t>
            </a:r>
          </a:p>
          <a:p>
            <a:pPr algn="l"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Receives query parameters </a:t>
            </a: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q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, </a:t>
            </a: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skip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, and </a:t>
            </a: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limit</a:t>
            </a:r>
            <a:endParaRPr lang="en-US" b="0" i="0" dirty="0">
              <a:solidFill>
                <a:srgbClr val="E3E3E3"/>
              </a:solidFill>
              <a:effectLst/>
              <a:latin typeface="system-ui"/>
            </a:endParaRP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Returns an instance of 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SFMono-Regular"/>
              </a:rPr>
              <a:t>CommonQueryParams</a:t>
            </a:r>
            <a:endParaRPr lang="en-US" b="0" i="0" dirty="0">
              <a:solidFill>
                <a:srgbClr val="E3E3E3"/>
              </a:solidFill>
              <a:effectLst/>
              <a:latin typeface="system-ui"/>
            </a:endParaRP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Makes the instance available to the path operation function</a:t>
            </a:r>
          </a:p>
        </p:txBody>
      </p:sp>
    </p:spTree>
    <p:extLst>
      <p:ext uri="{BB962C8B-B14F-4D97-AF65-F5344CB8AC3E}">
        <p14:creationId xmlns:p14="http://schemas.microsoft.com/office/powerpoint/2010/main" val="342295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2418-1B9F-044D-D2AC-87CA6AE5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81E4-AC7A-CA57-6D7D-7898D65C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Shortcut for Class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6321-8A19-D043-76F0-F8A500652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provides a shortcut for class-based dependencies.</a:t>
            </a:r>
          </a:p>
          <a:p>
            <a:r>
              <a:rPr lang="en-US" dirty="0"/>
              <a:t> Instead of writing Depends(</a:t>
            </a:r>
            <a:r>
              <a:rPr lang="en-US" dirty="0" err="1"/>
              <a:t>CommonQueryParams</a:t>
            </a:r>
            <a:r>
              <a:rPr lang="en-US" dirty="0"/>
              <a:t>),  can write:</a:t>
            </a:r>
          </a:p>
          <a:p>
            <a:pPr marL="0" indent="0">
              <a:buNone/>
            </a:pPr>
            <a:r>
              <a:rPr lang="en-US" dirty="0"/>
              <a:t>@app.get("/items/")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read_items</a:t>
            </a:r>
            <a:r>
              <a:rPr lang="en-US" dirty="0"/>
              <a:t>(commons: </a:t>
            </a:r>
            <a:r>
              <a:rPr lang="en-US" dirty="0" err="1"/>
              <a:t>CommonQueryParams</a:t>
            </a:r>
            <a:r>
              <a:rPr lang="en-US" dirty="0"/>
              <a:t> = Depends()):</a:t>
            </a:r>
          </a:p>
          <a:p>
            <a:pPr marL="0" indent="0">
              <a:buNone/>
            </a:pPr>
            <a:r>
              <a:rPr lang="en-US" dirty="0"/>
              <a:t>    # ...</a:t>
            </a:r>
          </a:p>
          <a:p>
            <a:endParaRPr lang="en-US" dirty="0"/>
          </a:p>
          <a:p>
            <a:r>
              <a:rPr lang="en-US" dirty="0" err="1"/>
              <a:t>FastAPI</a:t>
            </a:r>
            <a:r>
              <a:rPr lang="en-US" dirty="0"/>
              <a:t> will understand that it needs to use the </a:t>
            </a:r>
            <a:r>
              <a:rPr lang="en-US" dirty="0" err="1"/>
              <a:t>CommonQueryParams</a:t>
            </a:r>
            <a:r>
              <a:rPr lang="en-US" dirty="0"/>
              <a:t> class itself as a dependency.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430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CEC9-0475-9422-6B28-9FD4501F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AA5C04-9B47-50B8-D3DD-20AEAED16ABF}"/>
              </a:ext>
            </a:extLst>
          </p:cNvPr>
          <p:cNvSpPr txBox="1"/>
          <p:nvPr/>
        </p:nvSpPr>
        <p:spPr>
          <a:xfrm>
            <a:off x="714958" y="195557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50"/>
              </a:spcBef>
              <a:spcAft>
                <a:spcPts val="1425"/>
              </a:spcAft>
              <a:buNone/>
            </a:pPr>
            <a:r>
              <a:rPr lang="en-IN" b="1" i="0" dirty="0">
                <a:solidFill>
                  <a:srgbClr val="FF0000"/>
                </a:solidFill>
                <a:effectLst/>
                <a:latin typeface="system-ui"/>
              </a:rPr>
              <a:t>Database Dependencies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02CAA-7E17-E0AD-9E40-C27A64AF24B4}"/>
              </a:ext>
            </a:extLst>
          </p:cNvPr>
          <p:cNvSpPr txBox="1"/>
          <p:nvPr/>
        </p:nvSpPr>
        <p:spPr>
          <a:xfrm>
            <a:off x="200607" y="564889"/>
            <a:ext cx="890490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Depends,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sqlalchemy</a:t>
            </a:r>
            <a:r>
              <a:rPr lang="en-IN" dirty="0"/>
              <a:t> import </a:t>
            </a:r>
            <a:r>
              <a:rPr lang="en-IN" dirty="0" err="1"/>
              <a:t>create_engine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sqlalchemy.ext.declarative</a:t>
            </a:r>
            <a:r>
              <a:rPr lang="en-IN" dirty="0"/>
              <a:t> import </a:t>
            </a:r>
            <a:r>
              <a:rPr lang="en-IN" dirty="0" err="1"/>
              <a:t>declarative_base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sqlalchemy.orm</a:t>
            </a:r>
            <a:r>
              <a:rPr lang="en-IN" dirty="0"/>
              <a:t> import Session, </a:t>
            </a:r>
            <a:r>
              <a:rPr lang="en-IN" dirty="0" err="1"/>
              <a:t>sessionmaker</a:t>
            </a:r>
            <a:endParaRPr lang="en-IN" dirty="0"/>
          </a:p>
          <a:p>
            <a:r>
              <a:rPr lang="en-IN" dirty="0"/>
              <a:t># Database setup</a:t>
            </a:r>
          </a:p>
          <a:p>
            <a:r>
              <a:rPr lang="en-IN" dirty="0"/>
              <a:t>SQLALCHEMY_DATABASE_URL = "</a:t>
            </a:r>
            <a:r>
              <a:rPr lang="en-IN" dirty="0" err="1"/>
              <a:t>sqlite</a:t>
            </a:r>
            <a:r>
              <a:rPr lang="en-IN" dirty="0"/>
              <a:t>:///./</a:t>
            </a:r>
            <a:r>
              <a:rPr lang="en-IN" dirty="0" err="1"/>
              <a:t>test.db</a:t>
            </a:r>
            <a:r>
              <a:rPr lang="en-IN" dirty="0"/>
              <a:t>"</a:t>
            </a:r>
          </a:p>
          <a:p>
            <a:r>
              <a:rPr lang="en-IN" dirty="0"/>
              <a:t>engine = </a:t>
            </a:r>
            <a:r>
              <a:rPr lang="en-IN" dirty="0" err="1"/>
              <a:t>create_engine</a:t>
            </a:r>
            <a:r>
              <a:rPr lang="en-IN" dirty="0"/>
              <a:t>(SQLALCHEMY_DATABASE_URL)</a:t>
            </a:r>
          </a:p>
          <a:p>
            <a:r>
              <a:rPr lang="en-IN" dirty="0" err="1"/>
              <a:t>SessionLocal</a:t>
            </a:r>
            <a:r>
              <a:rPr lang="en-IN" dirty="0"/>
              <a:t> = </a:t>
            </a:r>
            <a:r>
              <a:rPr lang="en-IN" dirty="0" err="1"/>
              <a:t>sessionmaker</a:t>
            </a:r>
            <a:r>
              <a:rPr lang="en-IN" dirty="0"/>
              <a:t>(</a:t>
            </a:r>
            <a:r>
              <a:rPr lang="en-IN" dirty="0" err="1"/>
              <a:t>autocommit</a:t>
            </a:r>
            <a:r>
              <a:rPr lang="en-IN" dirty="0"/>
              <a:t>=False, </a:t>
            </a:r>
            <a:r>
              <a:rPr lang="en-IN" dirty="0" err="1"/>
              <a:t>autoflush</a:t>
            </a:r>
            <a:r>
              <a:rPr lang="en-IN" dirty="0"/>
              <a:t>=False, bind=engine)</a:t>
            </a:r>
          </a:p>
          <a:p>
            <a:r>
              <a:rPr lang="en-IN" dirty="0"/>
              <a:t>Base = </a:t>
            </a:r>
            <a:r>
              <a:rPr lang="en-IN" dirty="0" err="1"/>
              <a:t>declarative_base</a:t>
            </a:r>
            <a:r>
              <a:rPr lang="en-IN" dirty="0"/>
              <a:t>()</a:t>
            </a:r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r>
              <a:rPr lang="en-IN" dirty="0"/>
              <a:t># Dependency function</a:t>
            </a:r>
          </a:p>
          <a:p>
            <a:r>
              <a:rPr lang="en-IN" b="1" dirty="0"/>
              <a:t>def </a:t>
            </a:r>
            <a:r>
              <a:rPr lang="en-IN" b="1" dirty="0" err="1"/>
              <a:t>get_db</a:t>
            </a:r>
            <a:r>
              <a:rPr lang="en-IN" b="1" dirty="0"/>
              <a:t>():</a:t>
            </a:r>
          </a:p>
          <a:p>
            <a:r>
              <a:rPr lang="en-IN" dirty="0"/>
              <a:t>   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SessionLocal</a:t>
            </a:r>
            <a:r>
              <a:rPr lang="en-IN" dirty="0"/>
              <a:t>()</a:t>
            </a:r>
          </a:p>
          <a:p>
            <a:r>
              <a:rPr lang="en-IN" dirty="0"/>
              <a:t>    try:</a:t>
            </a:r>
          </a:p>
          <a:p>
            <a:r>
              <a:rPr lang="en-IN" dirty="0"/>
              <a:t>        yield </a:t>
            </a:r>
            <a:r>
              <a:rPr lang="en-IN" dirty="0" err="1"/>
              <a:t>db</a:t>
            </a:r>
            <a:endParaRPr lang="en-IN" dirty="0"/>
          </a:p>
          <a:p>
            <a:r>
              <a:rPr lang="en-IN" dirty="0"/>
              <a:t>    finally:</a:t>
            </a:r>
          </a:p>
          <a:p>
            <a:r>
              <a:rPr lang="en-IN" dirty="0"/>
              <a:t>        </a:t>
            </a:r>
            <a:r>
              <a:rPr lang="en-IN" dirty="0" err="1"/>
              <a:t>db.close</a:t>
            </a:r>
            <a:r>
              <a:rPr lang="en-IN" dirty="0"/>
              <a:t>()</a:t>
            </a:r>
          </a:p>
          <a:p>
            <a:r>
              <a:rPr lang="en-IN" dirty="0"/>
              <a:t>@app.get("/users/")</a:t>
            </a:r>
          </a:p>
          <a:p>
            <a:r>
              <a:rPr lang="en-IN" dirty="0"/>
              <a:t>def </a:t>
            </a:r>
            <a:r>
              <a:rPr lang="en-IN" dirty="0" err="1"/>
              <a:t>read_users</a:t>
            </a:r>
            <a:r>
              <a:rPr lang="en-IN" dirty="0"/>
              <a:t>(skip: int = 0, limit: int = 100, </a:t>
            </a:r>
            <a:r>
              <a:rPr lang="en-IN" dirty="0" err="1"/>
              <a:t>db</a:t>
            </a:r>
            <a:r>
              <a:rPr lang="en-IN" dirty="0"/>
              <a:t>: Session = Depends(</a:t>
            </a:r>
            <a:r>
              <a:rPr lang="en-IN" dirty="0" err="1"/>
              <a:t>get_db</a:t>
            </a:r>
            <a:r>
              <a:rPr lang="en-IN" dirty="0"/>
              <a:t>)):</a:t>
            </a:r>
          </a:p>
          <a:p>
            <a:r>
              <a:rPr lang="en-IN" dirty="0"/>
              <a:t>    # Here you would use the </a:t>
            </a:r>
            <a:r>
              <a:rPr lang="en-IN" dirty="0" err="1"/>
              <a:t>db</a:t>
            </a:r>
            <a:r>
              <a:rPr lang="en-IN" dirty="0"/>
              <a:t> session to query users</a:t>
            </a:r>
          </a:p>
          <a:p>
            <a:r>
              <a:rPr lang="en-IN" dirty="0"/>
              <a:t>    return [{"username": "user1"}, {"username": "user2"}]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4B401-6B80-14EE-EDE1-DC8B80AB6BEF}"/>
              </a:ext>
            </a:extLst>
          </p:cNvPr>
          <p:cNvSpPr txBox="1"/>
          <p:nvPr/>
        </p:nvSpPr>
        <p:spPr>
          <a:xfrm>
            <a:off x="9261799" y="1629976"/>
            <a:ext cx="2886658" cy="423192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l"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We define a dependency function 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SFMono-Regular"/>
              </a:rPr>
              <a:t>get_db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that creates a database session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The </a:t>
            </a: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yield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statement returns the database session to the path operation function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After the path operation function completes, the code after the </a:t>
            </a: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yield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runs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This ensures the database connection is always closed, even if an exception occurs</a:t>
            </a:r>
          </a:p>
        </p:txBody>
      </p:sp>
    </p:spTree>
    <p:extLst>
      <p:ext uri="{BB962C8B-B14F-4D97-AF65-F5344CB8AC3E}">
        <p14:creationId xmlns:p14="http://schemas.microsoft.com/office/powerpoint/2010/main" val="2230757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9A792-8D26-3D47-58D8-7DB61575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Dependency Yielding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D78B5-5B06-11B8-4883-01FAC107A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92287" cy="378796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</a:t>
            </a:r>
            <a:r>
              <a:rPr lang="en-US" dirty="0" err="1"/>
              <a:t>FastAPI</a:t>
            </a:r>
            <a:r>
              <a:rPr lang="en-US" dirty="0"/>
              <a:t>, dependencies are a powerful way to share code logic across multiple request handlers.</a:t>
            </a:r>
          </a:p>
          <a:p>
            <a:r>
              <a:rPr lang="en-US" dirty="0"/>
              <a:t> While basic dependencies return values, </a:t>
            </a:r>
            <a:r>
              <a:rPr lang="en-US" dirty="0" err="1"/>
              <a:t>FastAPI</a:t>
            </a:r>
            <a:r>
              <a:rPr lang="en-US" dirty="0"/>
              <a:t> also offers a more advanced pattern called </a:t>
            </a:r>
            <a:r>
              <a:rPr lang="en-US" b="1" dirty="0"/>
              <a:t>dependency yielding</a:t>
            </a:r>
            <a:r>
              <a:rPr lang="en-US" dirty="0"/>
              <a:t>. </a:t>
            </a:r>
          </a:p>
          <a:p>
            <a:r>
              <a:rPr lang="en-US" dirty="0"/>
              <a:t>Feature allows you to execute code both before a request is processed and after the response has been delivered.</a:t>
            </a:r>
          </a:p>
          <a:p>
            <a:r>
              <a:rPr lang="en-US" b="1" dirty="0"/>
              <a:t>Dependency yielding uses Python's yield statement and behaves similar to context managers, making it perfect for scenarios where you need to:</a:t>
            </a:r>
          </a:p>
          <a:p>
            <a:r>
              <a:rPr lang="en-US" dirty="0"/>
              <a:t>Establish and close database connections</a:t>
            </a:r>
          </a:p>
          <a:p>
            <a:r>
              <a:rPr lang="en-US" dirty="0"/>
              <a:t>Acquire and release resources</a:t>
            </a:r>
          </a:p>
          <a:p>
            <a:r>
              <a:rPr lang="en-US" dirty="0"/>
              <a:t>Set up and tear down test environments</a:t>
            </a:r>
          </a:p>
          <a:p>
            <a:r>
              <a:rPr lang="en-US" dirty="0"/>
              <a:t>Perform cleanup operations</a:t>
            </a:r>
          </a:p>
          <a:p>
            <a:r>
              <a:rPr lang="en-US" dirty="0"/>
              <a:t>Track execution time or log request flows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727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096D-A87B-DD52-30D5-1D69FD51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Dependency Yielding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67803-3AE7-83C6-294C-6450BBEEB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17238" cy="38486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Unlike regular dependencies that use return, yielding dependencies use yield to:</a:t>
            </a:r>
          </a:p>
          <a:p>
            <a:r>
              <a:rPr lang="en-US" dirty="0"/>
              <a:t>Execute code before handling the request</a:t>
            </a:r>
          </a:p>
          <a:p>
            <a:r>
              <a:rPr lang="en-US" dirty="0"/>
              <a:t>Yield the value to be injected</a:t>
            </a:r>
          </a:p>
          <a:p>
            <a:r>
              <a:rPr lang="en-US" dirty="0"/>
              <a:t>Resume execution after the response has been delivered</a:t>
            </a:r>
          </a:p>
          <a:p>
            <a:r>
              <a:rPr lang="en-US" dirty="0"/>
              <a:t>Perform cleanup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896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F31E-95BE-D780-EB09-9DFE74BB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Dependency Yielding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B432-255C-05F8-48EA-8069EB2B7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 Regular dependency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regular_dependency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value = "I'm a regular dependency"</a:t>
            </a:r>
          </a:p>
          <a:p>
            <a:pPr marL="0" indent="0">
              <a:buNone/>
            </a:pPr>
            <a:r>
              <a:rPr lang="en-US" dirty="0"/>
              <a:t>    return value  # Returns and ends here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Yielding dependency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yielding_dependency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value = "I'm a yielding dependency"</a:t>
            </a:r>
          </a:p>
          <a:p>
            <a:pPr marL="0" indent="0">
              <a:buNone/>
            </a:pPr>
            <a:r>
              <a:rPr lang="en-US" dirty="0"/>
              <a:t>    print("Before yield - setting up")</a:t>
            </a:r>
          </a:p>
          <a:p>
            <a:pPr marL="0" indent="0">
              <a:buNone/>
            </a:pPr>
            <a:r>
              <a:rPr lang="en-US" dirty="0"/>
              <a:t>    yield value  # Pauses here, returns value, and continues after request is complete</a:t>
            </a:r>
          </a:p>
          <a:p>
            <a:pPr marL="0" indent="0">
              <a:buNone/>
            </a:pPr>
            <a:r>
              <a:rPr lang="en-US" dirty="0"/>
              <a:t>    print("After yield - cleaning up")  # Runs after response is sent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384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E3F2-38C0-B85D-B27F-13FD1063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Request Lifecycle with Yielding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107E-6C8D-FD94-C509-2E9A1857B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you use a yielding dependency, the request lifecycle follows these steps: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Request arrives at your </a:t>
            </a:r>
            <a:r>
              <a:rPr lang="en-US" dirty="0" err="1"/>
              <a:t>FastAPI</a:t>
            </a:r>
            <a:r>
              <a:rPr lang="en-US" dirty="0"/>
              <a:t> application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dependency is executed until it reaches a yield statement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yielded value is passed to the path operation function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path operation function is executed and a response is generated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response is sent to the client</a:t>
            </a:r>
          </a:p>
          <a:p>
            <a:pPr>
              <a:buFont typeface="+mj-lt"/>
              <a:buAutoNum type="arabicPeriod"/>
            </a:pPr>
            <a:r>
              <a:rPr lang="en-US" dirty="0"/>
              <a:t>Execution of the dependency resumes from the yield statement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Any cleanup code after the yield statement is executed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119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7801CE-71C3-84C0-D15F-F722D62D6CBC}"/>
              </a:ext>
            </a:extLst>
          </p:cNvPr>
          <p:cNvSpPr txBox="1"/>
          <p:nvPr/>
        </p:nvSpPr>
        <p:spPr>
          <a:xfrm>
            <a:off x="438539" y="328848"/>
            <a:ext cx="870429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Simple Yielding Dependency</a:t>
            </a:r>
          </a:p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Depends, </a:t>
            </a:r>
            <a:r>
              <a:rPr lang="en-IN" dirty="0" err="1"/>
              <a:t>FastAPI</a:t>
            </a:r>
            <a:endParaRPr lang="en-IN" dirty="0"/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async def </a:t>
            </a:r>
            <a:r>
              <a:rPr lang="en-IN" dirty="0" err="1"/>
              <a:t>get_db</a:t>
            </a:r>
            <a:r>
              <a:rPr lang="en-IN" dirty="0"/>
              <a:t>():</a:t>
            </a:r>
          </a:p>
          <a:p>
            <a:r>
              <a:rPr lang="en-IN" dirty="0"/>
              <a:t>    print("Connecting to database...")</a:t>
            </a:r>
          </a:p>
          <a:p>
            <a:r>
              <a:rPr lang="en-IN" dirty="0"/>
              <a:t>    </a:t>
            </a:r>
            <a:r>
              <a:rPr lang="en-IN" dirty="0" err="1"/>
              <a:t>db</a:t>
            </a:r>
            <a:r>
              <a:rPr lang="en-IN" dirty="0"/>
              <a:t> = {"data": "some database connection"}  # Simulate DB connection</a:t>
            </a:r>
          </a:p>
          <a:p>
            <a:r>
              <a:rPr lang="en-IN" dirty="0"/>
              <a:t>    yield </a:t>
            </a:r>
            <a:r>
              <a:rPr lang="en-IN" dirty="0" err="1"/>
              <a:t>db</a:t>
            </a:r>
            <a:r>
              <a:rPr lang="en-IN" dirty="0"/>
              <a:t>  # Provide the DB connection</a:t>
            </a:r>
          </a:p>
          <a:p>
            <a:r>
              <a:rPr lang="en-IN" dirty="0"/>
              <a:t>    print("Closing database connection...")  # This runs after the response is sent</a:t>
            </a:r>
          </a:p>
          <a:p>
            <a:endParaRPr lang="en-IN" dirty="0"/>
          </a:p>
          <a:p>
            <a:r>
              <a:rPr lang="en-IN" dirty="0"/>
              <a:t>@app.get("/items/")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</a:t>
            </a:r>
            <a:r>
              <a:rPr lang="en-IN" dirty="0" err="1"/>
              <a:t>db</a:t>
            </a:r>
            <a:r>
              <a:rPr lang="en-IN" dirty="0"/>
              <a:t>: </a:t>
            </a:r>
            <a:r>
              <a:rPr lang="en-IN" dirty="0" err="1"/>
              <a:t>dict</a:t>
            </a:r>
            <a:r>
              <a:rPr lang="en-IN" dirty="0"/>
              <a:t> = Depends(</a:t>
            </a:r>
            <a:r>
              <a:rPr lang="en-IN" dirty="0" err="1"/>
              <a:t>get_db</a:t>
            </a:r>
            <a:r>
              <a:rPr lang="en-IN" dirty="0"/>
              <a:t>)):</a:t>
            </a:r>
          </a:p>
          <a:p>
            <a:r>
              <a:rPr lang="en-IN" dirty="0"/>
              <a:t>    return {"database": </a:t>
            </a:r>
            <a:r>
              <a:rPr lang="en-IN" dirty="0" err="1"/>
              <a:t>db</a:t>
            </a:r>
            <a:r>
              <a:rPr lang="en-IN" dirty="0"/>
              <a:t>, "items": ["Item1", "Item2"]}</a:t>
            </a:r>
          </a:p>
          <a:p>
            <a:endParaRPr lang="en-IN" dirty="0"/>
          </a:p>
          <a:p>
            <a:r>
              <a:rPr lang="en-IN" dirty="0">
                <a:solidFill>
                  <a:srgbClr val="C00000"/>
                </a:solidFill>
              </a:rPr>
              <a:t>When you make a request to /items/, the server logs will show: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Connecting to database...</a:t>
            </a:r>
          </a:p>
          <a:p>
            <a:r>
              <a:rPr lang="en-IN" dirty="0">
                <a:solidFill>
                  <a:srgbClr val="C00000"/>
                </a:solidFill>
              </a:rPr>
              <a:t>Closing database connection...</a:t>
            </a:r>
          </a:p>
        </p:txBody>
      </p:sp>
    </p:spTree>
    <p:extLst>
      <p:ext uri="{BB962C8B-B14F-4D97-AF65-F5344CB8AC3E}">
        <p14:creationId xmlns:p14="http://schemas.microsoft.com/office/powerpoint/2010/main" val="2209497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1F1330-6C94-002D-CBC5-D2304FE4FF72}"/>
              </a:ext>
            </a:extLst>
          </p:cNvPr>
          <p:cNvSpPr txBox="1"/>
          <p:nvPr/>
        </p:nvSpPr>
        <p:spPr>
          <a:xfrm>
            <a:off x="461865" y="117693"/>
            <a:ext cx="11430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Error Handling with try/finally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One of the key benefits of yielding dependencies is that cleanup code runs even if there's an exception during request processing:</a:t>
            </a:r>
          </a:p>
          <a:p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fastapi</a:t>
            </a:r>
            <a:r>
              <a:rPr lang="en-US" dirty="0"/>
              <a:t> import Depends, 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HTTPException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app = </a:t>
            </a:r>
            <a:r>
              <a:rPr lang="en-US" dirty="0" err="1"/>
              <a:t>FastAPI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async def </a:t>
            </a:r>
            <a:r>
              <a:rPr lang="en-US" dirty="0" err="1"/>
              <a:t>get_db</a:t>
            </a:r>
            <a:r>
              <a:rPr lang="en-US" dirty="0"/>
              <a:t>():</a:t>
            </a:r>
          </a:p>
          <a:p>
            <a:r>
              <a:rPr lang="en-US" dirty="0"/>
              <a:t>    print("Connecting to database...")</a:t>
            </a:r>
          </a:p>
          <a:p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 = {"data": "some database connection"}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yield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    finally:</a:t>
            </a:r>
          </a:p>
          <a:p>
            <a:r>
              <a:rPr lang="en-US" dirty="0"/>
              <a:t>        print("Closing database connection (even if there was an error)...")</a:t>
            </a:r>
          </a:p>
          <a:p>
            <a:endParaRPr lang="en-US" dirty="0"/>
          </a:p>
          <a:p>
            <a:r>
              <a:rPr lang="en-US" dirty="0"/>
              <a:t>@app.get("/items/{item_id}")</a:t>
            </a:r>
          </a:p>
          <a:p>
            <a:r>
              <a:rPr lang="en-US" dirty="0"/>
              <a:t>async def </a:t>
            </a:r>
            <a:r>
              <a:rPr lang="en-US" dirty="0" err="1"/>
              <a:t>read_item</a:t>
            </a:r>
            <a:r>
              <a:rPr lang="en-US" dirty="0"/>
              <a:t>(</a:t>
            </a:r>
            <a:r>
              <a:rPr lang="en-US" dirty="0" err="1"/>
              <a:t>item_id</a:t>
            </a:r>
            <a:r>
              <a:rPr lang="en-US" dirty="0"/>
              <a:t>: int, </a:t>
            </a:r>
            <a:r>
              <a:rPr lang="en-US" dirty="0" err="1"/>
              <a:t>db</a:t>
            </a:r>
            <a:r>
              <a:rPr lang="en-US" dirty="0"/>
              <a:t>: </a:t>
            </a:r>
            <a:r>
              <a:rPr lang="en-US" dirty="0" err="1"/>
              <a:t>dict</a:t>
            </a:r>
            <a:r>
              <a:rPr lang="en-US" dirty="0"/>
              <a:t> = Depends(</a:t>
            </a:r>
            <a:r>
              <a:rPr lang="en-US" dirty="0" err="1"/>
              <a:t>get_db</a:t>
            </a:r>
            <a:r>
              <a:rPr lang="en-US" dirty="0"/>
              <a:t>)):</a:t>
            </a:r>
          </a:p>
          <a:p>
            <a:r>
              <a:rPr lang="en-US" dirty="0"/>
              <a:t>    if </a:t>
            </a:r>
            <a:r>
              <a:rPr lang="en-US" dirty="0" err="1"/>
              <a:t>item_id</a:t>
            </a:r>
            <a:r>
              <a:rPr lang="en-US" dirty="0"/>
              <a:t> == 0:</a:t>
            </a:r>
          </a:p>
          <a:p>
            <a:r>
              <a:rPr lang="en-US" dirty="0"/>
              <a:t>        raise </a:t>
            </a:r>
            <a:r>
              <a:rPr lang="en-US" dirty="0" err="1"/>
              <a:t>HTTPException</a:t>
            </a:r>
            <a:r>
              <a:rPr lang="en-US" dirty="0"/>
              <a:t>(</a:t>
            </a:r>
            <a:r>
              <a:rPr lang="en-US" dirty="0" err="1"/>
              <a:t>status_code</a:t>
            </a:r>
            <a:r>
              <a:rPr lang="en-US" dirty="0"/>
              <a:t>=400, detail="Item ID cannot be zero")</a:t>
            </a:r>
          </a:p>
          <a:p>
            <a:r>
              <a:rPr lang="en-US" dirty="0"/>
              <a:t>    return {"</a:t>
            </a:r>
            <a:r>
              <a:rPr lang="en-US" dirty="0" err="1"/>
              <a:t>item_id</a:t>
            </a:r>
            <a:r>
              <a:rPr lang="en-US" dirty="0"/>
              <a:t>": </a:t>
            </a:r>
            <a:r>
              <a:rPr lang="en-US" dirty="0" err="1"/>
              <a:t>item_id</a:t>
            </a:r>
            <a:r>
              <a:rPr lang="en-US" dirty="0"/>
              <a:t>, "database": </a:t>
            </a:r>
            <a:r>
              <a:rPr lang="en-US" dirty="0" err="1"/>
              <a:t>db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Even when an exception occurs (e.g., requesting /items/0), the database connection will still be properly closed.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855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D92C-4146-B03B-B4F4-B0138BB9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Applications of dependency yielding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EC8D3-4748-FFE4-33E5-AE2C72A3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Database Session Management </a:t>
            </a:r>
          </a:p>
          <a:p>
            <a:r>
              <a:rPr lang="en-US" b="1" dirty="0"/>
              <a:t>Performance Monitoring --</a:t>
            </a:r>
            <a:r>
              <a:rPr lang="en-US" dirty="0"/>
              <a:t>Yielding dependencies can be used to track the execution time of requests:</a:t>
            </a:r>
          </a:p>
          <a:p>
            <a:r>
              <a:rPr lang="en-US" b="1" dirty="0"/>
              <a:t>Resource Acquisition and Release --</a:t>
            </a:r>
            <a:r>
              <a:rPr lang="en-US" dirty="0"/>
              <a:t>For scenarios where you need to acquire and release resources:</a:t>
            </a:r>
          </a:p>
          <a:p>
            <a:r>
              <a:rPr lang="en-US" b="1" dirty="0"/>
              <a:t>Authentication with Cleanup --C</a:t>
            </a:r>
            <a:r>
              <a:rPr lang="en-US" dirty="0"/>
              <a:t>an implement a token verification system with cleanup tasks:</a:t>
            </a:r>
          </a:p>
          <a:p>
            <a:r>
              <a:rPr lang="en-US" b="1" dirty="0"/>
              <a:t> </a:t>
            </a:r>
            <a:r>
              <a:rPr lang="en-US" b="1" dirty="0" err="1"/>
              <a:t>WebSockets</a:t>
            </a:r>
            <a:r>
              <a:rPr lang="en-US" b="1" dirty="0"/>
              <a:t> --</a:t>
            </a:r>
            <a:r>
              <a:rPr lang="en-US" dirty="0"/>
              <a:t>Yielding dependencies are also useful for WebSocket connections: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421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0434-AB36-0D48-EC8B-65CBDA80C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and Tips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4BF1C-BCF1-E134-B226-8ACEB38A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19670" cy="38532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Always Use try/finally for Critical Cleanup</a:t>
            </a:r>
          </a:p>
          <a:p>
            <a:pPr lvl="1"/>
            <a:r>
              <a:rPr lang="en-US" dirty="0"/>
              <a:t>For important resources that must be released, always use try/finally:</a:t>
            </a:r>
          </a:p>
          <a:p>
            <a:pPr marL="0" indent="0">
              <a:buNone/>
            </a:pPr>
            <a:r>
              <a:rPr lang="en-US" b="1" dirty="0"/>
              <a:t>2.Keep Dependencies Focused</a:t>
            </a:r>
          </a:p>
          <a:p>
            <a:r>
              <a:rPr lang="en-US" dirty="0"/>
              <a:t>Each dependency should have a single responsibility:</a:t>
            </a:r>
          </a:p>
          <a:p>
            <a:pPr marL="0" indent="0">
              <a:buNone/>
            </a:pPr>
            <a:r>
              <a:rPr lang="en-US" b="1" dirty="0"/>
              <a:t>3.Avoid Long-Running Tasks After Yield</a:t>
            </a:r>
          </a:p>
          <a:p>
            <a:r>
              <a:rPr lang="en-US" dirty="0"/>
              <a:t>After the yield statement, avoid performing long operations that would delay the next request:</a:t>
            </a:r>
          </a:p>
          <a:p>
            <a:pPr marL="0" indent="0">
              <a:buNone/>
            </a:pPr>
            <a:r>
              <a:rPr lang="en-US" b="1" dirty="0"/>
              <a:t>4. Leveraging </a:t>
            </a:r>
            <a:r>
              <a:rPr lang="en-US" b="1" dirty="0" err="1"/>
              <a:t>FastAPI's</a:t>
            </a:r>
            <a:r>
              <a:rPr lang="en-US" b="1" dirty="0"/>
              <a:t> </a:t>
            </a:r>
            <a:r>
              <a:rPr lang="en-US" b="1" dirty="0" err="1"/>
              <a:t>BackgroundTasks</a:t>
            </a:r>
            <a:endParaRPr lang="en-US" b="1" dirty="0"/>
          </a:p>
          <a:p>
            <a:r>
              <a:rPr lang="en-US" dirty="0"/>
              <a:t>For operations after the response that might take time</a:t>
            </a:r>
          </a:p>
          <a:p>
            <a:pPr marL="0" indent="0">
              <a:buNone/>
            </a:pPr>
            <a:r>
              <a:rPr lang="en-US" dirty="0"/>
              <a:t>5.  Make sure you're using yield exactly once. Multiple yields or returns will break the pattern.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767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4900D-F27B-7B2D-B9E9-CB299B0A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246F-833E-6CB8-9784-684676EE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and Tips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A696E-ECCC-E588-F5B5-5FC46247B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19670" cy="3853284"/>
          </a:xfrm>
        </p:spPr>
        <p:txBody>
          <a:bodyPr/>
          <a:lstStyle/>
          <a:p>
            <a:r>
              <a:rPr lang="en-US" b="1" dirty="0"/>
              <a:t>1. Always Use try/finally for Critical Cleanup</a:t>
            </a:r>
          </a:p>
          <a:p>
            <a:r>
              <a:rPr lang="en-US" dirty="0"/>
              <a:t>For important resources that must be released, always use try/finally: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383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A38C-6DEB-BF25-7EC6-26EA9193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EBF7-5D0A-3281-2C32-3D882564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Path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B3F4A-8ED2-8191-341E-41F7C8D6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</a:t>
            </a:r>
            <a:r>
              <a:rPr lang="en-US" dirty="0" err="1"/>
              <a:t>FastAPI</a:t>
            </a:r>
            <a:r>
              <a:rPr lang="en-US" dirty="0"/>
              <a:t>, path dependencies are a specialized form of dependency injection that allows you to apply dependencies specifically to path parameters in your route handlers. </a:t>
            </a:r>
          </a:p>
          <a:p>
            <a:r>
              <a:rPr lang="en-US" dirty="0"/>
              <a:t>Enables you to validate, process, and extract information from URL path parameters before your endpoint function is called.</a:t>
            </a:r>
          </a:p>
          <a:p>
            <a:pPr marL="0" indent="0">
              <a:buNone/>
            </a:pPr>
            <a:r>
              <a:rPr lang="en-US" dirty="0"/>
              <a:t>Path dependencies help you:</a:t>
            </a:r>
          </a:p>
          <a:p>
            <a:r>
              <a:rPr lang="en-US" dirty="0"/>
              <a:t>Validate path parameters before processing the request</a:t>
            </a:r>
          </a:p>
          <a:p>
            <a:r>
              <a:rPr lang="en-US" dirty="0"/>
              <a:t>Convert path parameters to appropriate Python objects</a:t>
            </a:r>
          </a:p>
          <a:p>
            <a:r>
              <a:rPr lang="en-US" dirty="0"/>
              <a:t>Implement security checks based on path parameters</a:t>
            </a:r>
          </a:p>
          <a:p>
            <a:r>
              <a:rPr lang="en-US" dirty="0"/>
              <a:t>Keep your code DRY (Don't Repeat Yourself) by reusing validation logic</a:t>
            </a:r>
          </a:p>
          <a:p>
            <a:r>
              <a:rPr lang="en-US" dirty="0"/>
              <a:t>Improve error handling for malformed path parameters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4533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9828-1A72-2231-3BAD-5EDF8478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CCB3-9E33-9904-B6DD-E6922B60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Path Dependencies?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93F02-BEAC-CA7F-7FD7-BBCCC2ED3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Path dependencies in </a:t>
            </a:r>
            <a:r>
              <a:rPr lang="en-US" dirty="0" err="1"/>
              <a:t>FastAPI</a:t>
            </a:r>
            <a:r>
              <a:rPr lang="en-US" dirty="0"/>
              <a:t> are dependencies that are specifically tied to path parameters in your route paths. </a:t>
            </a:r>
          </a:p>
          <a:p>
            <a:r>
              <a:rPr lang="en-US" b="1" dirty="0"/>
              <a:t>Allow you to process these parameters separately before your endpoint function executes.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2834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9B68-0794-233A-ED1E-DDC5DBD2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13CB-C4C3-4332-C8B5-6861676A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Path Dependencies?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CAD3-2655-067B-AAA8-ED2C4806B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validate_item_id</a:t>
            </a:r>
            <a:r>
              <a:rPr lang="en-US" dirty="0"/>
              <a:t>(</a:t>
            </a:r>
            <a:r>
              <a:rPr lang="en-US" dirty="0" err="1"/>
              <a:t>item_id</a:t>
            </a:r>
            <a:r>
              <a:rPr lang="en-US" dirty="0"/>
              <a:t>: int = Path(..., title="The ID of the item")):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item_id</a:t>
            </a:r>
            <a:r>
              <a:rPr lang="en-US" dirty="0"/>
              <a:t> &lt;= 0:</a:t>
            </a:r>
          </a:p>
          <a:p>
            <a:pPr marL="0" indent="0">
              <a:buNone/>
            </a:pPr>
            <a:r>
              <a:rPr lang="en-US" dirty="0"/>
              <a:t>        raise </a:t>
            </a:r>
            <a:r>
              <a:rPr lang="en-US" dirty="0" err="1"/>
              <a:t>HTTPException</a:t>
            </a:r>
            <a:r>
              <a:rPr lang="en-US" dirty="0"/>
              <a:t>(</a:t>
            </a:r>
            <a:r>
              <a:rPr lang="en-US" dirty="0" err="1"/>
              <a:t>status_code</a:t>
            </a:r>
            <a:r>
              <a:rPr lang="en-US" dirty="0"/>
              <a:t>=400, detail="Item ID must be positive")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item_id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@app.get("/items/{item_id}")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</a:t>
            </a:r>
            <a:r>
              <a:rPr lang="en-US" dirty="0"/>
              <a:t>(</a:t>
            </a:r>
            <a:r>
              <a:rPr lang="en-US" dirty="0" err="1"/>
              <a:t>item_id</a:t>
            </a:r>
            <a:r>
              <a:rPr lang="en-US" dirty="0"/>
              <a:t>: int = Depends(</a:t>
            </a:r>
            <a:r>
              <a:rPr lang="en-US" dirty="0" err="1"/>
              <a:t>validate_item_id</a:t>
            </a:r>
            <a:r>
              <a:rPr lang="en-US" dirty="0"/>
              <a:t>)):</a:t>
            </a:r>
          </a:p>
          <a:p>
            <a:pPr marL="0" indent="0">
              <a:buNone/>
            </a:pPr>
            <a:r>
              <a:rPr lang="en-US" dirty="0"/>
              <a:t>    return {"</a:t>
            </a:r>
            <a:r>
              <a:rPr lang="en-US" dirty="0" err="1"/>
              <a:t>item_id</a:t>
            </a:r>
            <a:r>
              <a:rPr lang="en-US" dirty="0"/>
              <a:t>": </a:t>
            </a:r>
            <a:r>
              <a:rPr lang="en-US" dirty="0" err="1"/>
              <a:t>item_id</a:t>
            </a:r>
            <a:r>
              <a:rPr lang="en-US" dirty="0"/>
              <a:t>, "message": "Item found"}</a:t>
            </a:r>
          </a:p>
          <a:p>
            <a:r>
              <a:rPr lang="en-US" dirty="0"/>
              <a:t>In this example, </a:t>
            </a:r>
            <a:r>
              <a:rPr lang="en-US" dirty="0" err="1"/>
              <a:t>validate_item_id</a:t>
            </a:r>
            <a:r>
              <a:rPr lang="en-US" dirty="0"/>
              <a:t> is a dependency function that validates the </a:t>
            </a:r>
            <a:r>
              <a:rPr lang="en-US" dirty="0" err="1"/>
              <a:t>item_id</a:t>
            </a:r>
            <a:r>
              <a:rPr lang="en-US" dirty="0"/>
              <a:t> path parameter. </a:t>
            </a:r>
          </a:p>
          <a:p>
            <a:r>
              <a:rPr lang="en-US" dirty="0"/>
              <a:t>If the ID is not positive, it raises an HTTP exception.</a:t>
            </a:r>
          </a:p>
          <a:p>
            <a:r>
              <a:rPr lang="en-US" dirty="0"/>
              <a:t> Otherwise, it returns the validated ID for use in the endpoint 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905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088FEF-192C-6C03-235F-CA94005130D6}"/>
              </a:ext>
            </a:extLst>
          </p:cNvPr>
          <p:cNvSpPr txBox="1"/>
          <p:nvPr/>
        </p:nvSpPr>
        <p:spPr>
          <a:xfrm>
            <a:off x="453701" y="259458"/>
            <a:ext cx="10043238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38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Path Dependencies vs. Regular Dependencies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While regular dependencies can be used for various purposes, path dependencies are specifically designed to work with path parameters.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F2B6A-CCDA-9767-E3B9-A93F5E561BD0}"/>
              </a:ext>
            </a:extLst>
          </p:cNvPr>
          <p:cNvSpPr txBox="1"/>
          <p:nvPr/>
        </p:nvSpPr>
        <p:spPr>
          <a:xfrm>
            <a:off x="453700" y="1533070"/>
            <a:ext cx="83823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Regular dependency</a:t>
            </a:r>
          </a:p>
          <a:p>
            <a:r>
              <a:rPr lang="en-IN" dirty="0"/>
              <a:t>async def </a:t>
            </a:r>
            <a:r>
              <a:rPr lang="en-IN" dirty="0" err="1"/>
              <a:t>common_parameters</a:t>
            </a:r>
            <a:r>
              <a:rPr lang="en-IN" dirty="0"/>
              <a:t>(q: str = None, skip: int = 0, limit: int = 100):</a:t>
            </a:r>
          </a:p>
          <a:p>
            <a:r>
              <a:rPr lang="en-IN" dirty="0"/>
              <a:t>    return {"q": q, "skip": skip, "limit": limit}</a:t>
            </a:r>
          </a:p>
          <a:p>
            <a:endParaRPr lang="en-IN" dirty="0"/>
          </a:p>
          <a:p>
            <a:r>
              <a:rPr lang="en-IN" dirty="0"/>
              <a:t># Path dependency</a:t>
            </a:r>
          </a:p>
          <a:p>
            <a:r>
              <a:rPr lang="en-IN" dirty="0"/>
              <a:t>async def </a:t>
            </a:r>
            <a:r>
              <a:rPr lang="en-IN" dirty="0" err="1"/>
              <a:t>validate_item_id</a:t>
            </a:r>
            <a:r>
              <a:rPr lang="en-IN" dirty="0"/>
              <a:t>(</a:t>
            </a:r>
            <a:r>
              <a:rPr lang="en-IN" dirty="0" err="1"/>
              <a:t>item_id</a:t>
            </a:r>
            <a:r>
              <a:rPr lang="en-IN" dirty="0"/>
              <a:t>: int = Path(..., </a:t>
            </a:r>
            <a:r>
              <a:rPr lang="en-IN" dirty="0" err="1"/>
              <a:t>gt</a:t>
            </a:r>
            <a:r>
              <a:rPr lang="en-IN" dirty="0"/>
              <a:t>=0)):</a:t>
            </a:r>
          </a:p>
          <a:p>
            <a:r>
              <a:rPr lang="en-IN" dirty="0"/>
              <a:t>    return </a:t>
            </a:r>
            <a:r>
              <a:rPr lang="en-IN" dirty="0" err="1"/>
              <a:t>item_id</a:t>
            </a:r>
            <a:endParaRPr lang="en-IN" dirty="0"/>
          </a:p>
          <a:p>
            <a:endParaRPr lang="en-IN" dirty="0"/>
          </a:p>
          <a:p>
            <a:r>
              <a:rPr lang="en-IN" dirty="0"/>
              <a:t>@app.get("/items/{item_id}")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</a:t>
            </a:r>
            <a:r>
              <a:rPr lang="en-IN" dirty="0"/>
              <a:t>(</a:t>
            </a:r>
          </a:p>
          <a:p>
            <a:r>
              <a:rPr lang="en-IN" dirty="0"/>
              <a:t>    commons: </a:t>
            </a:r>
            <a:r>
              <a:rPr lang="en-IN" dirty="0" err="1"/>
              <a:t>dict</a:t>
            </a:r>
            <a:r>
              <a:rPr lang="en-IN" dirty="0"/>
              <a:t> = Depends(</a:t>
            </a:r>
            <a:r>
              <a:rPr lang="en-IN" dirty="0" err="1"/>
              <a:t>common_parameters</a:t>
            </a:r>
            <a:r>
              <a:rPr lang="en-IN" dirty="0"/>
              <a:t>),</a:t>
            </a:r>
          </a:p>
          <a:p>
            <a:r>
              <a:rPr lang="en-IN" dirty="0"/>
              <a:t>    </a:t>
            </a:r>
            <a:r>
              <a:rPr lang="en-IN" dirty="0" err="1"/>
              <a:t>item_id</a:t>
            </a:r>
            <a:r>
              <a:rPr lang="en-IN" dirty="0"/>
              <a:t>: int = Depends(</a:t>
            </a:r>
            <a:r>
              <a:rPr lang="en-IN" dirty="0" err="1"/>
              <a:t>validate_item_id</a:t>
            </a:r>
            <a:r>
              <a:rPr lang="en-IN" dirty="0"/>
              <a:t>)</a:t>
            </a:r>
          </a:p>
          <a:p>
            <a:r>
              <a:rPr lang="en-IN" dirty="0"/>
              <a:t>):</a:t>
            </a:r>
          </a:p>
          <a:p>
            <a:r>
              <a:rPr lang="en-IN" dirty="0"/>
              <a:t>    return {"</a:t>
            </a:r>
            <a:r>
              <a:rPr lang="en-IN" dirty="0" err="1"/>
              <a:t>item_id</a:t>
            </a:r>
            <a:r>
              <a:rPr lang="en-IN" dirty="0"/>
              <a:t>": </a:t>
            </a:r>
            <a:r>
              <a:rPr lang="en-IN" dirty="0" err="1"/>
              <a:t>item_id</a:t>
            </a:r>
            <a:r>
              <a:rPr lang="en-IN" dirty="0"/>
              <a:t>, **commons}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2EB82-DCC4-D646-EB4D-10F7E4D6A103}"/>
              </a:ext>
            </a:extLst>
          </p:cNvPr>
          <p:cNvSpPr txBox="1"/>
          <p:nvPr/>
        </p:nvSpPr>
        <p:spPr>
          <a:xfrm>
            <a:off x="2781688" y="5717533"/>
            <a:ext cx="60952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key difference is that path dependencies typically process and validate path parameters, while regular dependencies can handle any type of request data.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090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B2AD8-90E6-502A-FC42-D8349CE00257}"/>
              </a:ext>
            </a:extLst>
          </p:cNvPr>
          <p:cNvSpPr txBox="1"/>
          <p:nvPr/>
        </p:nvSpPr>
        <p:spPr>
          <a:xfrm>
            <a:off x="1134834" y="556577"/>
            <a:ext cx="8909569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38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Path Dependencies for Parameter Validation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Use path dependencies to implement complex validation rules for your path parameters: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5826A-A622-72FA-EB73-EA45D12CA618}"/>
              </a:ext>
            </a:extLst>
          </p:cNvPr>
          <p:cNvSpPr txBox="1"/>
          <p:nvPr/>
        </p:nvSpPr>
        <p:spPr>
          <a:xfrm>
            <a:off x="611155" y="1382444"/>
            <a:ext cx="972249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async def </a:t>
            </a:r>
            <a:r>
              <a:rPr lang="en-IN" dirty="0" err="1"/>
              <a:t>validate_product_code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product_code</a:t>
            </a:r>
            <a:r>
              <a:rPr lang="en-IN" dirty="0"/>
              <a:t>: str = Path(..., </a:t>
            </a:r>
            <a:r>
              <a:rPr lang="en-IN" dirty="0" err="1"/>
              <a:t>min_length</a:t>
            </a:r>
            <a:r>
              <a:rPr lang="en-IN" dirty="0"/>
              <a:t>=8, </a:t>
            </a:r>
            <a:r>
              <a:rPr lang="en-IN" dirty="0" err="1"/>
              <a:t>max_length</a:t>
            </a:r>
            <a:r>
              <a:rPr lang="en-IN" dirty="0"/>
              <a:t>=12)</a:t>
            </a:r>
          </a:p>
          <a:p>
            <a:r>
              <a:rPr lang="en-IN" dirty="0"/>
              <a:t>):</a:t>
            </a:r>
          </a:p>
          <a:p>
            <a:r>
              <a:rPr lang="en-IN" dirty="0"/>
              <a:t>    pattern = r'^[A-Z]{2}-\d{4}-[A-Z]{2}$'</a:t>
            </a:r>
          </a:p>
          <a:p>
            <a:r>
              <a:rPr lang="en-IN" dirty="0"/>
              <a:t>    if not </a:t>
            </a:r>
            <a:r>
              <a:rPr lang="en-IN" dirty="0" err="1"/>
              <a:t>re.match</a:t>
            </a:r>
            <a:r>
              <a:rPr lang="en-IN" dirty="0"/>
              <a:t>(pattern, </a:t>
            </a:r>
            <a:r>
              <a:rPr lang="en-IN" dirty="0" err="1"/>
              <a:t>product_code</a:t>
            </a:r>
            <a:r>
              <a:rPr lang="en-IN" dirty="0"/>
              <a:t>):</a:t>
            </a:r>
          </a:p>
          <a:p>
            <a:r>
              <a:rPr lang="en-IN" dirty="0"/>
              <a:t>        raise </a:t>
            </a:r>
            <a:r>
              <a:rPr lang="en-IN" dirty="0" err="1"/>
              <a:t>HTTPException</a:t>
            </a:r>
            <a:r>
              <a:rPr lang="en-IN" dirty="0"/>
              <a:t>(</a:t>
            </a:r>
          </a:p>
          <a:p>
            <a:r>
              <a:rPr lang="en-IN" dirty="0"/>
              <a:t>            </a:t>
            </a:r>
            <a:r>
              <a:rPr lang="en-IN" dirty="0" err="1"/>
              <a:t>status_code</a:t>
            </a:r>
            <a:r>
              <a:rPr lang="en-IN" dirty="0"/>
              <a:t>=400, </a:t>
            </a:r>
          </a:p>
          <a:p>
            <a:r>
              <a:rPr lang="en-IN" dirty="0"/>
              <a:t>            detail="Invalid product code format. Expected format: XX-0000-XX"</a:t>
            </a:r>
          </a:p>
          <a:p>
            <a:r>
              <a:rPr lang="en-IN" dirty="0"/>
              <a:t>        )</a:t>
            </a:r>
          </a:p>
          <a:p>
            <a:r>
              <a:rPr lang="en-IN" dirty="0"/>
              <a:t>    return </a:t>
            </a:r>
            <a:r>
              <a:rPr lang="en-IN" dirty="0" err="1"/>
              <a:t>product_code</a:t>
            </a:r>
            <a:endParaRPr lang="en-IN" dirty="0"/>
          </a:p>
          <a:p>
            <a:endParaRPr lang="en-IN" dirty="0"/>
          </a:p>
          <a:p>
            <a:r>
              <a:rPr lang="en-IN" dirty="0"/>
              <a:t>@app.get("/products/{product_code}")</a:t>
            </a:r>
          </a:p>
          <a:p>
            <a:r>
              <a:rPr lang="en-IN" dirty="0"/>
              <a:t>async def </a:t>
            </a:r>
            <a:r>
              <a:rPr lang="en-IN" dirty="0" err="1"/>
              <a:t>get_product</a:t>
            </a:r>
            <a:r>
              <a:rPr lang="en-IN" dirty="0"/>
              <a:t>(</a:t>
            </a:r>
            <a:r>
              <a:rPr lang="en-IN" dirty="0" err="1"/>
              <a:t>product_code</a:t>
            </a:r>
            <a:r>
              <a:rPr lang="en-IN" dirty="0"/>
              <a:t>: str = Depends(</a:t>
            </a:r>
            <a:r>
              <a:rPr lang="en-IN" dirty="0" err="1"/>
              <a:t>validate_product_code</a:t>
            </a:r>
            <a:r>
              <a:rPr lang="en-IN" dirty="0"/>
              <a:t>)):</a:t>
            </a:r>
          </a:p>
          <a:p>
            <a:r>
              <a:rPr lang="en-IN" dirty="0"/>
              <a:t>    return {"</a:t>
            </a:r>
            <a:r>
              <a:rPr lang="en-IN" dirty="0" err="1"/>
              <a:t>product_code</a:t>
            </a:r>
            <a:r>
              <a:rPr lang="en-IN" dirty="0"/>
              <a:t>": </a:t>
            </a:r>
            <a:r>
              <a:rPr lang="en-IN" dirty="0" err="1"/>
              <a:t>product_code</a:t>
            </a:r>
            <a:r>
              <a:rPr lang="en-IN" dirty="0"/>
              <a:t>, "</a:t>
            </a:r>
            <a:r>
              <a:rPr lang="en-IN" dirty="0" err="1"/>
              <a:t>is_valid</a:t>
            </a:r>
            <a:r>
              <a:rPr lang="en-IN" dirty="0"/>
              <a:t>": True}</a:t>
            </a:r>
          </a:p>
        </p:txBody>
      </p:sp>
    </p:spTree>
    <p:extLst>
      <p:ext uri="{BB962C8B-B14F-4D97-AF65-F5344CB8AC3E}">
        <p14:creationId xmlns:p14="http://schemas.microsoft.com/office/powerpoint/2010/main" val="2356128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E01FF-6F89-A15C-CBDF-A7F53A4D0C9A}"/>
              </a:ext>
            </a:extLst>
          </p:cNvPr>
          <p:cNvSpPr txBox="1"/>
          <p:nvPr/>
        </p:nvSpPr>
        <p:spPr>
          <a:xfrm>
            <a:off x="416379" y="290654"/>
            <a:ext cx="878827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38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Resource Existence Checking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One common use case for path dependencies is to check if a requested resource exists: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69DE-3809-C35C-F2BD-DC0896627921}"/>
              </a:ext>
            </a:extLst>
          </p:cNvPr>
          <p:cNvSpPr txBox="1"/>
          <p:nvPr/>
        </p:nvSpPr>
        <p:spPr>
          <a:xfrm>
            <a:off x="527178" y="1074152"/>
            <a:ext cx="836372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Simulated database</a:t>
            </a:r>
          </a:p>
          <a:p>
            <a:r>
              <a:rPr lang="en-IN" dirty="0" err="1"/>
              <a:t>fake_db</a:t>
            </a:r>
            <a:r>
              <a:rPr lang="en-IN" dirty="0"/>
              <a:t>: </a:t>
            </a:r>
            <a:r>
              <a:rPr lang="en-IN" dirty="0" err="1"/>
              <a:t>Dict</a:t>
            </a:r>
            <a:r>
              <a:rPr lang="en-IN" dirty="0"/>
              <a:t>[int, </a:t>
            </a:r>
            <a:r>
              <a:rPr lang="en-IN" dirty="0" err="1"/>
              <a:t>Dict</a:t>
            </a:r>
            <a:r>
              <a:rPr lang="en-IN" dirty="0"/>
              <a:t>] = {    1: {"name": "Laptop", "price": 999.99},</a:t>
            </a:r>
          </a:p>
          <a:p>
            <a:r>
              <a:rPr lang="en-IN" dirty="0"/>
              <a:t>    2: {"name": "Smartphone", "price": 599.99},    3: {"name": "Tablet", "price": 299.99},}</a:t>
            </a:r>
          </a:p>
          <a:p>
            <a:r>
              <a:rPr lang="en-IN" dirty="0"/>
              <a:t>async def get_item_or_404(</a:t>
            </a:r>
            <a:r>
              <a:rPr lang="en-IN" dirty="0" err="1"/>
              <a:t>item_id</a:t>
            </a:r>
            <a:r>
              <a:rPr lang="en-IN" dirty="0"/>
              <a:t>: int = Path(..., </a:t>
            </a:r>
            <a:r>
              <a:rPr lang="en-IN" dirty="0" err="1"/>
              <a:t>gt</a:t>
            </a:r>
            <a:r>
              <a:rPr lang="en-IN" dirty="0"/>
              <a:t>=0)):</a:t>
            </a:r>
          </a:p>
          <a:p>
            <a:r>
              <a:rPr lang="en-IN" dirty="0"/>
              <a:t>    if </a:t>
            </a:r>
            <a:r>
              <a:rPr lang="en-IN" dirty="0" err="1"/>
              <a:t>item_id</a:t>
            </a:r>
            <a:r>
              <a:rPr lang="en-IN" dirty="0"/>
              <a:t> not in </a:t>
            </a:r>
            <a:r>
              <a:rPr lang="en-IN" dirty="0" err="1"/>
              <a:t>fake_db</a:t>
            </a:r>
            <a:r>
              <a:rPr lang="en-IN" dirty="0"/>
              <a:t>:</a:t>
            </a:r>
          </a:p>
          <a:p>
            <a:r>
              <a:rPr lang="en-IN" dirty="0"/>
              <a:t>        raise </a:t>
            </a:r>
            <a:r>
              <a:rPr lang="en-IN" dirty="0" err="1"/>
              <a:t>HTTPException</a:t>
            </a:r>
            <a:r>
              <a:rPr lang="en-IN" dirty="0"/>
              <a:t>(</a:t>
            </a:r>
            <a:r>
              <a:rPr lang="en-IN" dirty="0" err="1"/>
              <a:t>status_code</a:t>
            </a:r>
            <a:r>
              <a:rPr lang="en-IN" dirty="0"/>
              <a:t>=404, detail="Item not found")</a:t>
            </a:r>
          </a:p>
          <a:p>
            <a:r>
              <a:rPr lang="en-IN" dirty="0"/>
              <a:t>    return </a:t>
            </a:r>
            <a:r>
              <a:rPr lang="en-IN" dirty="0" err="1"/>
              <a:t>fake_db</a:t>
            </a:r>
            <a:r>
              <a:rPr lang="en-IN" dirty="0"/>
              <a:t>[</a:t>
            </a:r>
            <a:r>
              <a:rPr lang="en-IN" dirty="0" err="1"/>
              <a:t>item_id</a:t>
            </a:r>
            <a:r>
              <a:rPr lang="en-IN" dirty="0"/>
              <a:t>]</a:t>
            </a:r>
          </a:p>
          <a:p>
            <a:r>
              <a:rPr lang="en-IN" dirty="0"/>
              <a:t>@app.get("/items/{item_id}")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</a:t>
            </a:r>
            <a:r>
              <a:rPr lang="en-IN" dirty="0"/>
              <a:t>(item: </a:t>
            </a:r>
            <a:r>
              <a:rPr lang="en-IN" dirty="0" err="1"/>
              <a:t>dict</a:t>
            </a:r>
            <a:r>
              <a:rPr lang="en-IN" dirty="0"/>
              <a:t> =</a:t>
            </a:r>
            <a:r>
              <a:rPr lang="en-IN" b="1" dirty="0"/>
              <a:t> Depends(get_item_or_404))</a:t>
            </a:r>
            <a:r>
              <a:rPr lang="en-IN" dirty="0"/>
              <a:t>:</a:t>
            </a:r>
          </a:p>
          <a:p>
            <a:r>
              <a:rPr lang="en-IN" dirty="0"/>
              <a:t>    return item</a:t>
            </a:r>
          </a:p>
          <a:p>
            <a:r>
              <a:rPr lang="en-IN" dirty="0"/>
              <a:t>@app.put("/items/{item_id}")</a:t>
            </a:r>
          </a:p>
          <a:p>
            <a:r>
              <a:rPr lang="en-IN" dirty="0"/>
              <a:t>async def </a:t>
            </a:r>
            <a:r>
              <a:rPr lang="en-IN" dirty="0" err="1"/>
              <a:t>update_item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item_data</a:t>
            </a:r>
            <a:r>
              <a:rPr lang="en-IN" dirty="0"/>
              <a:t>: </a:t>
            </a:r>
            <a:r>
              <a:rPr lang="en-IN" dirty="0" err="1"/>
              <a:t>dict</a:t>
            </a:r>
            <a:r>
              <a:rPr lang="en-IN" dirty="0"/>
              <a:t>,</a:t>
            </a:r>
          </a:p>
          <a:p>
            <a:r>
              <a:rPr lang="en-IN" dirty="0"/>
              <a:t>    </a:t>
            </a:r>
            <a:r>
              <a:rPr lang="en-IN" dirty="0" err="1"/>
              <a:t>current_item</a:t>
            </a:r>
            <a:r>
              <a:rPr lang="en-IN" dirty="0"/>
              <a:t>: </a:t>
            </a:r>
            <a:r>
              <a:rPr lang="en-IN" dirty="0" err="1"/>
              <a:t>dict</a:t>
            </a:r>
            <a:r>
              <a:rPr lang="en-IN" dirty="0"/>
              <a:t> = </a:t>
            </a:r>
            <a:r>
              <a:rPr lang="en-IN" b="1" dirty="0"/>
              <a:t>Depends(get_item_or_404)</a:t>
            </a:r>
          </a:p>
          <a:p>
            <a:r>
              <a:rPr lang="en-IN" dirty="0"/>
              <a:t>):</a:t>
            </a:r>
          </a:p>
          <a:p>
            <a:r>
              <a:rPr lang="en-IN" dirty="0"/>
              <a:t>for key, value in </a:t>
            </a:r>
            <a:r>
              <a:rPr lang="en-IN" dirty="0" err="1"/>
              <a:t>item_data.items</a:t>
            </a:r>
            <a:r>
              <a:rPr lang="en-IN" dirty="0"/>
              <a:t>():</a:t>
            </a:r>
          </a:p>
          <a:p>
            <a:r>
              <a:rPr lang="en-IN" dirty="0"/>
              <a:t>        </a:t>
            </a:r>
            <a:r>
              <a:rPr lang="en-IN" dirty="0" err="1"/>
              <a:t>current_item</a:t>
            </a:r>
            <a:r>
              <a:rPr lang="en-IN" dirty="0"/>
              <a:t>[key] = value</a:t>
            </a:r>
          </a:p>
          <a:p>
            <a:r>
              <a:rPr lang="en-IN" dirty="0"/>
              <a:t>    return </a:t>
            </a:r>
            <a:r>
              <a:rPr lang="en-IN" dirty="0" err="1"/>
              <a:t>current_item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8CDB0-743E-B0E2-FC8D-A534A01EB908}"/>
              </a:ext>
            </a:extLst>
          </p:cNvPr>
          <p:cNvSpPr txBox="1"/>
          <p:nvPr/>
        </p:nvSpPr>
        <p:spPr>
          <a:xfrm>
            <a:off x="8804599" y="3164151"/>
            <a:ext cx="26254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pattern prevents code duplication by centralizing the existence check for items across different endpoints.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127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A77526-FF20-E20D-6A05-33AEDE813F12}"/>
              </a:ext>
            </a:extLst>
          </p:cNvPr>
          <p:cNvSpPr txBox="1"/>
          <p:nvPr/>
        </p:nvSpPr>
        <p:spPr>
          <a:xfrm>
            <a:off x="271754" y="0"/>
            <a:ext cx="922681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38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Authorization Based on Path Parameters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system-ui"/>
              </a:rPr>
              <a:t>Path dependencies can also implement authorization logic based on path parameters: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96654-BB65-47A8-3768-B44ADB7B850E}"/>
              </a:ext>
            </a:extLst>
          </p:cNvPr>
          <p:cNvSpPr txBox="1"/>
          <p:nvPr/>
        </p:nvSpPr>
        <p:spPr>
          <a:xfrm>
            <a:off x="391886" y="671691"/>
            <a:ext cx="8569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async def </a:t>
            </a:r>
            <a:r>
              <a:rPr lang="en-US" dirty="0" err="1"/>
              <a:t>verify_project_access</a:t>
            </a:r>
            <a:r>
              <a:rPr lang="en-US" dirty="0"/>
              <a:t>(</a:t>
            </a:r>
          </a:p>
          <a:p>
            <a:r>
              <a:rPr lang="en-US" dirty="0"/>
              <a:t>    </a:t>
            </a:r>
            <a:r>
              <a:rPr lang="en-US" dirty="0" err="1"/>
              <a:t>project_id</a:t>
            </a:r>
            <a:r>
              <a:rPr lang="en-US" dirty="0"/>
              <a:t>: int = Path(...),</a:t>
            </a:r>
          </a:p>
          <a:p>
            <a:r>
              <a:rPr lang="en-US" dirty="0"/>
              <a:t>    </a:t>
            </a:r>
            <a:r>
              <a:rPr lang="en-US" dirty="0" err="1"/>
              <a:t>x_api_key</a:t>
            </a:r>
            <a:r>
              <a:rPr lang="en-US" dirty="0"/>
              <a:t>: Optional[str] = Header(None)</a:t>
            </a:r>
          </a:p>
          <a:p>
            <a:r>
              <a:rPr lang="en-US" dirty="0"/>
              <a:t>):</a:t>
            </a:r>
          </a:p>
          <a:p>
            <a:r>
              <a:rPr lang="en-US" dirty="0"/>
              <a:t>    # In a real app, you would check against a database</a:t>
            </a:r>
          </a:p>
          <a:p>
            <a:r>
              <a:rPr lang="en-US" dirty="0"/>
              <a:t>    </a:t>
            </a:r>
            <a:r>
              <a:rPr lang="en-US" dirty="0" err="1"/>
              <a:t>allowed_projects</a:t>
            </a:r>
            <a:r>
              <a:rPr lang="en-US" dirty="0"/>
              <a:t> = {</a:t>
            </a:r>
          </a:p>
          <a:p>
            <a:r>
              <a:rPr lang="en-US" dirty="0"/>
              <a:t>        "user1_api_key": [1, 2, 3],</a:t>
            </a:r>
          </a:p>
          <a:p>
            <a:r>
              <a:rPr lang="en-US" dirty="0"/>
              <a:t>        "user2_api_key": [2, 4, 6]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if not </a:t>
            </a:r>
            <a:r>
              <a:rPr lang="en-US" dirty="0" err="1"/>
              <a:t>x_api_key</a:t>
            </a:r>
            <a:r>
              <a:rPr lang="en-US" dirty="0"/>
              <a:t>:</a:t>
            </a:r>
          </a:p>
          <a:p>
            <a:r>
              <a:rPr lang="en-US" dirty="0"/>
              <a:t>        raise </a:t>
            </a:r>
            <a:r>
              <a:rPr lang="en-US" dirty="0" err="1"/>
              <a:t>HTTPException</a:t>
            </a:r>
            <a:r>
              <a:rPr lang="en-US" dirty="0"/>
              <a:t>(</a:t>
            </a:r>
            <a:r>
              <a:rPr lang="en-US" dirty="0" err="1"/>
              <a:t>status_code</a:t>
            </a:r>
            <a:r>
              <a:rPr lang="en-US" dirty="0"/>
              <a:t>=401, detail="API key is required")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if </a:t>
            </a:r>
            <a:r>
              <a:rPr lang="en-US" dirty="0" err="1"/>
              <a:t>x_api_key</a:t>
            </a:r>
            <a:r>
              <a:rPr lang="en-US" dirty="0"/>
              <a:t> not in </a:t>
            </a:r>
            <a:r>
              <a:rPr lang="en-US" dirty="0" err="1"/>
              <a:t>allowed_projects</a:t>
            </a:r>
            <a:r>
              <a:rPr lang="en-US" dirty="0"/>
              <a:t>:</a:t>
            </a:r>
          </a:p>
          <a:p>
            <a:r>
              <a:rPr lang="en-US" dirty="0"/>
              <a:t>        raise </a:t>
            </a:r>
            <a:r>
              <a:rPr lang="en-US" dirty="0" err="1"/>
              <a:t>HTTPException</a:t>
            </a:r>
            <a:r>
              <a:rPr lang="en-US" dirty="0"/>
              <a:t>(</a:t>
            </a:r>
            <a:r>
              <a:rPr lang="en-US" dirty="0" err="1"/>
              <a:t>status_code</a:t>
            </a:r>
            <a:r>
              <a:rPr lang="en-US" dirty="0"/>
              <a:t>=403, detail="Invalid API key")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if </a:t>
            </a:r>
            <a:r>
              <a:rPr lang="en-US" dirty="0" err="1"/>
              <a:t>project_id</a:t>
            </a:r>
            <a:r>
              <a:rPr lang="en-US" dirty="0"/>
              <a:t> not in </a:t>
            </a:r>
            <a:r>
              <a:rPr lang="en-US" dirty="0" err="1"/>
              <a:t>allowed_projects</a:t>
            </a:r>
            <a:r>
              <a:rPr lang="en-US" dirty="0"/>
              <a:t>[</a:t>
            </a:r>
            <a:r>
              <a:rPr lang="en-US" dirty="0" err="1"/>
              <a:t>x_api_key</a:t>
            </a:r>
            <a:r>
              <a:rPr lang="en-US" dirty="0"/>
              <a:t>]:</a:t>
            </a:r>
          </a:p>
          <a:p>
            <a:r>
              <a:rPr lang="en-US" dirty="0"/>
              <a:t>        raise </a:t>
            </a:r>
            <a:r>
              <a:rPr lang="en-US" dirty="0" err="1"/>
              <a:t>HTTPException</a:t>
            </a:r>
            <a:r>
              <a:rPr lang="en-US" dirty="0"/>
              <a:t>(</a:t>
            </a:r>
          </a:p>
          <a:p>
            <a:r>
              <a:rPr lang="en-US" dirty="0"/>
              <a:t>            </a:t>
            </a:r>
            <a:r>
              <a:rPr lang="en-US" dirty="0" err="1"/>
              <a:t>status_code</a:t>
            </a:r>
            <a:r>
              <a:rPr lang="en-US" dirty="0"/>
              <a:t>=403, </a:t>
            </a:r>
          </a:p>
          <a:p>
            <a:r>
              <a:rPr lang="en-US" dirty="0"/>
              <a:t>            detail="You don't have access to this project"</a:t>
            </a:r>
          </a:p>
          <a:p>
            <a:r>
              <a:rPr lang="en-US" dirty="0"/>
              <a:t>        )</a:t>
            </a:r>
          </a:p>
          <a:p>
            <a:r>
              <a:rPr lang="en-US" dirty="0"/>
              <a:t>    return </a:t>
            </a:r>
            <a:r>
              <a:rPr lang="en-US" dirty="0" err="1"/>
              <a:t>project_id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3F54A-88F2-572E-6956-BF1C4C05DC8C}"/>
              </a:ext>
            </a:extLst>
          </p:cNvPr>
          <p:cNvSpPr txBox="1"/>
          <p:nvPr/>
        </p:nvSpPr>
        <p:spPr>
          <a:xfrm>
            <a:off x="7726913" y="1440621"/>
            <a:ext cx="4370226" cy="203132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@app.get("/projects/{project_id}")</a:t>
            </a:r>
          </a:p>
          <a:p>
            <a:r>
              <a:rPr lang="en-US" dirty="0">
                <a:solidFill>
                  <a:schemeClr val="bg1"/>
                </a:solidFill>
              </a:rPr>
              <a:t>async def </a:t>
            </a:r>
            <a:r>
              <a:rPr lang="en-US" dirty="0" err="1">
                <a:solidFill>
                  <a:schemeClr val="bg1"/>
                </a:solidFill>
              </a:rPr>
              <a:t>get_project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project_id</a:t>
            </a:r>
            <a:r>
              <a:rPr lang="en-US" dirty="0">
                <a:solidFill>
                  <a:schemeClr val="bg1"/>
                </a:solidFill>
              </a:rPr>
              <a:t>: int = Depends(</a:t>
            </a:r>
            <a:r>
              <a:rPr lang="en-US" dirty="0" err="1">
                <a:solidFill>
                  <a:schemeClr val="bg1"/>
                </a:solidFill>
              </a:rPr>
              <a:t>verify_project_access</a:t>
            </a:r>
            <a:r>
              <a:rPr lang="en-US" dirty="0">
                <a:solidFill>
                  <a:schemeClr val="bg1"/>
                </a:solidFill>
              </a:rPr>
              <a:t>)):</a:t>
            </a:r>
          </a:p>
          <a:p>
            <a:r>
              <a:rPr lang="en-US" dirty="0">
                <a:solidFill>
                  <a:schemeClr val="bg1"/>
                </a:solidFill>
              </a:rPr>
              <a:t>    # Process the request only if the user has access to the project</a:t>
            </a:r>
          </a:p>
          <a:p>
            <a:r>
              <a:rPr lang="en-US" dirty="0">
                <a:solidFill>
                  <a:schemeClr val="bg1"/>
                </a:solidFill>
              </a:rPr>
              <a:t>    return {"</a:t>
            </a:r>
            <a:r>
              <a:rPr lang="en-US" dirty="0" err="1">
                <a:solidFill>
                  <a:schemeClr val="bg1"/>
                </a:solidFill>
              </a:rPr>
              <a:t>project_id</a:t>
            </a:r>
            <a:r>
              <a:rPr lang="en-US" dirty="0">
                <a:solidFill>
                  <a:schemeClr val="bg1"/>
                </a:solidFill>
              </a:rPr>
              <a:t>": </a:t>
            </a:r>
            <a:r>
              <a:rPr lang="en-US" dirty="0" err="1">
                <a:solidFill>
                  <a:schemeClr val="bg1"/>
                </a:solidFill>
              </a:rPr>
              <a:t>project_id</a:t>
            </a:r>
            <a:r>
              <a:rPr lang="en-US" dirty="0">
                <a:solidFill>
                  <a:schemeClr val="bg1"/>
                </a:solidFill>
              </a:rPr>
              <a:t>, "data": "Project data here"}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D8E78D-EF41-290E-EECB-D92085B31AC4}"/>
              </a:ext>
            </a:extLst>
          </p:cNvPr>
          <p:cNvSpPr txBox="1"/>
          <p:nvPr/>
        </p:nvSpPr>
        <p:spPr>
          <a:xfrm>
            <a:off x="8360812" y="5538791"/>
            <a:ext cx="3615029" cy="120032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checks if the user has access to a specific project based on their API key before allowing access to the endpoint.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286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A1FA-BE84-5206-5079-89C7B0B9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FB95-B3C0-FD94-FEFD-471882B7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Dependencies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BEEF1-BD5D-85EA-1BB6-4DC0657A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IN" dirty="0"/>
              <a:t>Dependencies can be used for</a:t>
            </a:r>
          </a:p>
          <a:p>
            <a:r>
              <a:rPr lang="en-IN" dirty="0"/>
              <a:t>Path params</a:t>
            </a:r>
          </a:p>
          <a:p>
            <a:r>
              <a:rPr lang="en-IN" dirty="0"/>
              <a:t>Query params</a:t>
            </a:r>
          </a:p>
          <a:p>
            <a:r>
              <a:rPr lang="en-IN" dirty="0"/>
              <a:t>Body data</a:t>
            </a:r>
          </a:p>
          <a:p>
            <a:r>
              <a:rPr lang="en-IN" dirty="0"/>
              <a:t>Header</a:t>
            </a:r>
          </a:p>
          <a:p>
            <a:r>
              <a:rPr lang="en-IN" dirty="0"/>
              <a:t>Cookie</a:t>
            </a:r>
          </a:p>
          <a:p>
            <a:r>
              <a:rPr lang="en-IN" b="1" dirty="0"/>
              <a:t>Global Dependencies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75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A2F8-C8BA-F7F9-E566-A59A25E73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124E-6B5C-3463-B884-C7F1FADA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Global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B4BBF-F9C7-15BC-AC92-91D5A720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Global dependencies execute for every request to your API, making them perfect for implementing consistent behaviors like:</a:t>
            </a:r>
          </a:p>
          <a:p>
            <a:r>
              <a:rPr lang="en-US" dirty="0"/>
              <a:t>Authentication checks</a:t>
            </a:r>
          </a:p>
          <a:p>
            <a:r>
              <a:rPr lang="en-US" dirty="0"/>
              <a:t>Request logging</a:t>
            </a:r>
          </a:p>
          <a:p>
            <a:r>
              <a:rPr lang="en-US" dirty="0"/>
              <a:t>Performance monitoring</a:t>
            </a:r>
          </a:p>
          <a:p>
            <a:r>
              <a:rPr lang="en-US" dirty="0"/>
              <a:t>User tracking</a:t>
            </a:r>
          </a:p>
          <a:p>
            <a:r>
              <a:rPr lang="en-US" dirty="0"/>
              <a:t>Cross-cutting validations</a:t>
            </a:r>
          </a:p>
          <a:p>
            <a:r>
              <a:rPr lang="en-US" b="1" dirty="0"/>
              <a:t>Useful when you need to apply the same logic or validation across multiple routes without repeating yourself.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8361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EF515-4856-A4FA-545A-89B2ACC7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9932-99AF-9C48-C6B7-1FA259AD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37" y="973668"/>
            <a:ext cx="11182739" cy="706964"/>
          </a:xfrm>
        </p:spPr>
        <p:txBody>
          <a:bodyPr/>
          <a:lstStyle/>
          <a:p>
            <a:r>
              <a:rPr lang="en-US" b="1" dirty="0"/>
              <a:t>Global Dependencies vs Regular Dependencies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F370A9-952C-DA96-4D1B-9E19DE258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7062178"/>
              </p:ext>
            </p:extLst>
          </p:nvPr>
        </p:nvGraphicFramePr>
        <p:xfrm>
          <a:off x="1155700" y="2603500"/>
          <a:ext cx="8824912" cy="1748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1698233631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1192607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Regular Dependencies</a:t>
                      </a:r>
                    </a:p>
                  </a:txBody>
                  <a:tcPr marL="43434" marR="43434" marT="43434" marB="434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Global Dependencies</a:t>
                      </a:r>
                    </a:p>
                  </a:txBody>
                  <a:tcPr marL="43434" marR="43434" marT="43434" marB="43434" anchor="ctr"/>
                </a:tc>
                <a:extLst>
                  <a:ext uri="{0D108BD9-81ED-4DB2-BD59-A6C34878D82A}">
                    <a16:rowId xmlns:a16="http://schemas.microsoft.com/office/drawing/2014/main" val="24546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Applied to specific endpoints</a:t>
                      </a:r>
                    </a:p>
                  </a:txBody>
                  <a:tcPr marL="43434" marR="43434" marT="43434" marB="434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Applied to all endpoints</a:t>
                      </a:r>
                    </a:p>
                  </a:txBody>
                  <a:tcPr marL="43434" marR="43434" marT="43434" marB="43434" anchor="ctr"/>
                </a:tc>
                <a:extLst>
                  <a:ext uri="{0D108BD9-81ED-4DB2-BD59-A6C34878D82A}">
                    <a16:rowId xmlns:a16="http://schemas.microsoft.com/office/drawing/2014/main" val="3937179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Defined in the route decorator</a:t>
                      </a:r>
                    </a:p>
                  </a:txBody>
                  <a:tcPr marL="43434" marR="43434" marT="43434" marB="434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Defined when creating the FastAPI app</a:t>
                      </a:r>
                    </a:p>
                  </a:txBody>
                  <a:tcPr marL="43434" marR="43434" marT="43434" marB="43434" anchor="ctr"/>
                </a:tc>
                <a:extLst>
                  <a:ext uri="{0D108BD9-81ED-4DB2-BD59-A6C34878D82A}">
                    <a16:rowId xmlns:a16="http://schemas.microsoft.com/office/drawing/2014/main" val="2738460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Optional for specific routes</a:t>
                      </a:r>
                    </a:p>
                  </a:txBody>
                  <a:tcPr marL="43434" marR="43434" marT="43434" marB="434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Executed for every request</a:t>
                      </a:r>
                    </a:p>
                  </a:txBody>
                  <a:tcPr marL="43434" marR="43434" marT="43434" marB="43434" anchor="ctr"/>
                </a:tc>
                <a:extLst>
                  <a:ext uri="{0D108BD9-81ED-4DB2-BD59-A6C34878D82A}">
                    <a16:rowId xmlns:a16="http://schemas.microsoft.com/office/drawing/2014/main" val="2552906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374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29ED-44B9-0FBF-C571-26623A95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4EA5-391A-08F9-57DA-55658DA3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1E51-2294-B15D-7F64-706849FB8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add global dependencies to your </a:t>
            </a:r>
            <a:r>
              <a:rPr lang="en-US" dirty="0" err="1"/>
              <a:t>FastAPI</a:t>
            </a:r>
            <a:r>
              <a:rPr lang="en-US" dirty="0"/>
              <a:t> application, use the dependencies parameter when creating your </a:t>
            </a:r>
            <a:r>
              <a:rPr lang="en-US" dirty="0" err="1"/>
              <a:t>FastAPI</a:t>
            </a:r>
            <a:r>
              <a:rPr lang="en-US" dirty="0"/>
              <a:t> app instance:</a:t>
            </a:r>
          </a:p>
          <a:p>
            <a:pPr marL="0" indent="0">
              <a:buNone/>
            </a:pPr>
            <a:r>
              <a:rPr lang="en-US" b="1" dirty="0"/>
              <a:t>from </a:t>
            </a:r>
            <a:r>
              <a:rPr lang="en-US" b="1" dirty="0" err="1"/>
              <a:t>fastapi</a:t>
            </a:r>
            <a:r>
              <a:rPr lang="en-US" b="1" dirty="0"/>
              <a:t> import Depends, </a:t>
            </a:r>
            <a:r>
              <a:rPr lang="en-US" b="1" dirty="0" err="1"/>
              <a:t>FastAPI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async def </a:t>
            </a:r>
            <a:r>
              <a:rPr lang="en-US" b="1" dirty="0" err="1"/>
              <a:t>verify_token</a:t>
            </a:r>
            <a:r>
              <a:rPr lang="en-US" b="1" dirty="0"/>
              <a:t>(</a:t>
            </a:r>
            <a:r>
              <a:rPr lang="en-US" b="1" dirty="0" err="1"/>
              <a:t>x_token</a:t>
            </a:r>
            <a:r>
              <a:rPr lang="en-US" b="1" dirty="0"/>
              <a:t>: str = Header(...)):</a:t>
            </a:r>
          </a:p>
          <a:p>
            <a:pPr marL="0" indent="0">
              <a:buNone/>
            </a:pPr>
            <a:r>
              <a:rPr lang="en-US" b="1" dirty="0"/>
              <a:t>    if </a:t>
            </a:r>
            <a:r>
              <a:rPr lang="en-US" b="1" dirty="0" err="1"/>
              <a:t>x_token</a:t>
            </a:r>
            <a:r>
              <a:rPr lang="en-US" b="1" dirty="0"/>
              <a:t> != "</a:t>
            </a:r>
            <a:r>
              <a:rPr lang="en-US" b="1" dirty="0" err="1"/>
              <a:t>valid_token</a:t>
            </a:r>
            <a:r>
              <a:rPr lang="en-US" b="1" dirty="0"/>
              <a:t>":</a:t>
            </a:r>
          </a:p>
          <a:p>
            <a:pPr marL="0" indent="0">
              <a:buNone/>
            </a:pPr>
            <a:r>
              <a:rPr lang="en-US" b="1" dirty="0"/>
              <a:t>        raise </a:t>
            </a:r>
            <a:r>
              <a:rPr lang="en-US" b="1" dirty="0" err="1"/>
              <a:t>HTTPException</a:t>
            </a:r>
            <a:r>
              <a:rPr lang="en-US" b="1" dirty="0"/>
              <a:t>(</a:t>
            </a:r>
            <a:r>
              <a:rPr lang="en-US" b="1" dirty="0" err="1"/>
              <a:t>status_code</a:t>
            </a:r>
            <a:r>
              <a:rPr lang="en-US" b="1" dirty="0"/>
              <a:t>=401, detail="Invalid X-Token")</a:t>
            </a:r>
          </a:p>
          <a:p>
            <a:pPr marL="0" indent="0">
              <a:buNone/>
            </a:pPr>
            <a:r>
              <a:rPr lang="en-US" b="1" dirty="0"/>
              <a:t>    return </a:t>
            </a:r>
            <a:r>
              <a:rPr lang="en-US" b="1" dirty="0" err="1"/>
              <a:t>x_token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app = </a:t>
            </a:r>
            <a:r>
              <a:rPr lang="en-US" b="1" dirty="0" err="1">
                <a:solidFill>
                  <a:srgbClr val="C00000"/>
                </a:solidFill>
              </a:rPr>
              <a:t>FastAPI</a:t>
            </a:r>
            <a:r>
              <a:rPr lang="en-US" b="1" dirty="0">
                <a:solidFill>
                  <a:srgbClr val="C00000"/>
                </a:solidFill>
              </a:rPr>
              <a:t>(dependencies=[Depends(</a:t>
            </a:r>
            <a:r>
              <a:rPr lang="en-US" b="1" dirty="0" err="1">
                <a:solidFill>
                  <a:srgbClr val="C00000"/>
                </a:solidFill>
              </a:rPr>
              <a:t>verify_token</a:t>
            </a:r>
            <a:r>
              <a:rPr lang="en-US" b="1" dirty="0">
                <a:solidFill>
                  <a:srgbClr val="C00000"/>
                </a:solidFill>
              </a:rPr>
              <a:t>)])</a:t>
            </a:r>
          </a:p>
          <a:p>
            <a:pPr marL="0" indent="0">
              <a:buNone/>
            </a:pPr>
            <a:r>
              <a:rPr lang="en-US" b="1" dirty="0"/>
              <a:t>@app.get("/items/")</a:t>
            </a:r>
          </a:p>
          <a:p>
            <a:pPr marL="0" indent="0">
              <a:buNone/>
            </a:pPr>
            <a:r>
              <a:rPr lang="en-US" b="1" dirty="0"/>
              <a:t>async def </a:t>
            </a:r>
            <a:r>
              <a:rPr lang="en-US" b="1" dirty="0" err="1"/>
              <a:t>read_items</a:t>
            </a:r>
            <a:r>
              <a:rPr lang="en-US" b="1" dirty="0"/>
              <a:t>():</a:t>
            </a:r>
          </a:p>
          <a:p>
            <a:pPr marL="0" indent="0">
              <a:buNone/>
            </a:pPr>
            <a:r>
              <a:rPr lang="en-US" b="1" dirty="0"/>
              <a:t>    return {"items": "This endpoint is protected by a global dependency"}</a:t>
            </a:r>
          </a:p>
          <a:p>
            <a:endParaRPr lang="en-US" dirty="0"/>
          </a:p>
          <a:p>
            <a:r>
              <a:rPr lang="en-US" dirty="0"/>
              <a:t>In this example, </a:t>
            </a:r>
            <a:r>
              <a:rPr lang="en-US" dirty="0" err="1"/>
              <a:t>verify_token</a:t>
            </a:r>
            <a:r>
              <a:rPr lang="en-US" dirty="0"/>
              <a:t> will run for every request to any endpoint in your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485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C478-C1A6-A212-F7DB-236CD7CF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FD64-4662-D08F-997D-C64E3C3B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Authentication and Authorization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269CB-54E3-559B-6230-DC2125FDA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verify_api_key</a:t>
            </a:r>
            <a:r>
              <a:rPr lang="en-US" dirty="0"/>
              <a:t>(</a:t>
            </a:r>
            <a:r>
              <a:rPr lang="en-US" dirty="0" err="1"/>
              <a:t>api_key</a:t>
            </a:r>
            <a:r>
              <a:rPr lang="en-US" dirty="0"/>
              <a:t>: str = Header(..., </a:t>
            </a:r>
            <a:r>
              <a:rPr lang="en-US" dirty="0" err="1"/>
              <a:t>convert_underscores</a:t>
            </a:r>
            <a:r>
              <a:rPr lang="en-US" dirty="0"/>
              <a:t>=False)):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api_key</a:t>
            </a:r>
            <a:r>
              <a:rPr lang="en-US" dirty="0"/>
              <a:t> != "your-secret-</a:t>
            </a:r>
            <a:r>
              <a:rPr lang="en-US" dirty="0" err="1"/>
              <a:t>api</a:t>
            </a:r>
            <a:r>
              <a:rPr lang="en-US" dirty="0"/>
              <a:t>-key":</a:t>
            </a:r>
          </a:p>
          <a:p>
            <a:pPr marL="0" indent="0">
              <a:buNone/>
            </a:pPr>
            <a:r>
              <a:rPr lang="en-US" dirty="0"/>
              <a:t>        raise </a:t>
            </a:r>
            <a:r>
              <a:rPr lang="en-US" dirty="0" err="1"/>
              <a:t>HTTPException</a:t>
            </a:r>
            <a:r>
              <a:rPr lang="en-US" dirty="0"/>
              <a:t>(</a:t>
            </a:r>
            <a:r>
              <a:rPr lang="en-US" dirty="0" err="1"/>
              <a:t>status_code</a:t>
            </a:r>
            <a:r>
              <a:rPr lang="en-US" dirty="0"/>
              <a:t>=403, detail="Invalid API Key")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api_key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app = </a:t>
            </a:r>
            <a:r>
              <a:rPr lang="en-US" b="1" dirty="0" err="1"/>
              <a:t>FastAPI</a:t>
            </a:r>
            <a:r>
              <a:rPr lang="en-US" b="1" dirty="0"/>
              <a:t>(dependencies=[Depends(</a:t>
            </a:r>
            <a:r>
              <a:rPr lang="en-US" b="1" dirty="0" err="1"/>
              <a:t>verify_api_key</a:t>
            </a:r>
            <a:r>
              <a:rPr lang="en-US" b="1" dirty="0"/>
              <a:t>)])</a:t>
            </a:r>
          </a:p>
          <a:p>
            <a:pPr marL="0" indent="0">
              <a:buNone/>
            </a:pPr>
            <a:r>
              <a:rPr lang="en-US" dirty="0"/>
              <a:t>@app.get("/users/")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get_users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# This endpoint is protected by the global dependency</a:t>
            </a:r>
          </a:p>
          <a:p>
            <a:pPr marL="0" indent="0">
              <a:buNone/>
            </a:pPr>
            <a:r>
              <a:rPr lang="en-US" dirty="0"/>
              <a:t>    return {"message": "List of users"}</a:t>
            </a:r>
          </a:p>
          <a:p>
            <a:pPr marL="0" indent="0">
              <a:buNone/>
            </a:pPr>
            <a:r>
              <a:rPr lang="en-US" dirty="0"/>
              <a:t>@app.get("/items/")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get_items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# This endpoint is also protected by the global dependency</a:t>
            </a:r>
          </a:p>
          <a:p>
            <a:pPr marL="0" indent="0">
              <a:buNone/>
            </a:pPr>
            <a:r>
              <a:rPr lang="en-US" dirty="0"/>
              <a:t>    return {"message": "List of items"}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7103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7484-9C27-C637-C701-CA663DD2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F48-EE01-DD2D-EC25-0746539E86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7849" y="208027"/>
            <a:ext cx="8761413" cy="70802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Request Logging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BE179-253B-E863-731C-3607FDAC82D7}"/>
              </a:ext>
            </a:extLst>
          </p:cNvPr>
          <p:cNvSpPr txBox="1"/>
          <p:nvPr/>
        </p:nvSpPr>
        <p:spPr>
          <a:xfrm>
            <a:off x="438538" y="1118744"/>
            <a:ext cx="1103345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async def </a:t>
            </a:r>
            <a:r>
              <a:rPr lang="en-IN" dirty="0" err="1"/>
              <a:t>log_request</a:t>
            </a:r>
            <a:r>
              <a:rPr lang="en-IN" dirty="0"/>
              <a:t>(request: Request):</a:t>
            </a:r>
          </a:p>
          <a:p>
            <a:r>
              <a:rPr lang="en-IN" dirty="0"/>
              <a:t>    </a:t>
            </a:r>
            <a:r>
              <a:rPr lang="en-IN" dirty="0" err="1"/>
              <a:t>start_time</a:t>
            </a:r>
            <a:r>
              <a:rPr lang="en-IN" dirty="0"/>
              <a:t> = </a:t>
            </a:r>
            <a:r>
              <a:rPr lang="en-IN" dirty="0" err="1"/>
              <a:t>time.time</a:t>
            </a:r>
            <a:r>
              <a:rPr lang="en-IN" dirty="0"/>
              <a:t>()</a:t>
            </a:r>
          </a:p>
          <a:p>
            <a:r>
              <a:rPr lang="en-IN" dirty="0"/>
              <a:t>    # Store the start time in the request state</a:t>
            </a:r>
          </a:p>
          <a:p>
            <a:r>
              <a:rPr lang="en-IN" dirty="0"/>
              <a:t>    </a:t>
            </a:r>
            <a:r>
              <a:rPr lang="en-IN" dirty="0" err="1"/>
              <a:t>request.state.start_time</a:t>
            </a:r>
            <a:r>
              <a:rPr lang="en-IN" dirty="0"/>
              <a:t> = </a:t>
            </a:r>
            <a:r>
              <a:rPr lang="en-IN" dirty="0" err="1"/>
              <a:t>start_time</a:t>
            </a:r>
            <a:endParaRPr lang="en-IN" dirty="0"/>
          </a:p>
          <a:p>
            <a:r>
              <a:rPr lang="en-IN" dirty="0"/>
              <a:t>    print(</a:t>
            </a:r>
            <a:r>
              <a:rPr lang="en-IN" dirty="0" err="1"/>
              <a:t>f"Request</a:t>
            </a:r>
            <a:r>
              <a:rPr lang="en-IN" dirty="0"/>
              <a:t> started: {</a:t>
            </a:r>
            <a:r>
              <a:rPr lang="en-IN" dirty="0" err="1"/>
              <a:t>request.method</a:t>
            </a:r>
            <a:r>
              <a:rPr lang="en-IN" dirty="0"/>
              <a:t>} {request.url}")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# This will be executed after the request is processed</a:t>
            </a:r>
          </a:p>
          <a:p>
            <a:r>
              <a:rPr lang="en-IN" dirty="0"/>
              <a:t>    yield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</a:t>
            </a:r>
            <a:r>
              <a:rPr lang="en-IN" dirty="0" err="1"/>
              <a:t>process_time</a:t>
            </a:r>
            <a:r>
              <a:rPr lang="en-IN" dirty="0"/>
              <a:t> = </a:t>
            </a:r>
            <a:r>
              <a:rPr lang="en-IN" dirty="0" err="1"/>
              <a:t>time.time</a:t>
            </a:r>
            <a:r>
              <a:rPr lang="en-IN" dirty="0"/>
              <a:t>() - </a:t>
            </a:r>
            <a:r>
              <a:rPr lang="en-IN" dirty="0" err="1"/>
              <a:t>start_time</a:t>
            </a:r>
            <a:endParaRPr lang="en-IN" dirty="0"/>
          </a:p>
          <a:p>
            <a:r>
              <a:rPr lang="en-IN" dirty="0"/>
              <a:t>    print(</a:t>
            </a:r>
            <a:r>
              <a:rPr lang="en-IN" dirty="0" err="1"/>
              <a:t>f"Request</a:t>
            </a:r>
            <a:r>
              <a:rPr lang="en-IN" dirty="0"/>
              <a:t> completed: {</a:t>
            </a:r>
            <a:r>
              <a:rPr lang="en-IN" dirty="0" err="1"/>
              <a:t>request.method</a:t>
            </a:r>
            <a:r>
              <a:rPr lang="en-IN" dirty="0"/>
              <a:t>} {request.url} took {process_time:.4f} seconds")</a:t>
            </a:r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(dependencies=[Depends(</a:t>
            </a:r>
            <a:r>
              <a:rPr lang="en-IN" dirty="0" err="1"/>
              <a:t>log_request</a:t>
            </a:r>
            <a:r>
              <a:rPr lang="en-IN" dirty="0"/>
              <a:t>)])</a:t>
            </a:r>
          </a:p>
          <a:p>
            <a:endParaRPr lang="en-IN" dirty="0"/>
          </a:p>
          <a:p>
            <a:r>
              <a:rPr lang="en-IN" dirty="0"/>
              <a:t>@app.get("/slow-operation/")</a:t>
            </a:r>
          </a:p>
          <a:p>
            <a:r>
              <a:rPr lang="en-IN" dirty="0"/>
              <a:t>async def </a:t>
            </a:r>
            <a:r>
              <a:rPr lang="en-IN" dirty="0" err="1"/>
              <a:t>slow_operation</a:t>
            </a:r>
            <a:r>
              <a:rPr lang="en-IN" dirty="0"/>
              <a:t>():</a:t>
            </a:r>
          </a:p>
          <a:p>
            <a:r>
              <a:rPr lang="en-IN" dirty="0"/>
              <a:t>    # Simulate a slow operation</a:t>
            </a:r>
          </a:p>
          <a:p>
            <a:r>
              <a:rPr lang="en-IN" dirty="0"/>
              <a:t>    </a:t>
            </a:r>
            <a:r>
              <a:rPr lang="en-IN" dirty="0" err="1"/>
              <a:t>time.sleep</a:t>
            </a:r>
            <a:r>
              <a:rPr lang="en-IN" dirty="0"/>
              <a:t>(2)</a:t>
            </a:r>
          </a:p>
          <a:p>
            <a:r>
              <a:rPr lang="en-IN" dirty="0"/>
              <a:t>    return {"message": "Operation complete"}</a:t>
            </a:r>
          </a:p>
        </p:txBody>
      </p:sp>
    </p:spTree>
    <p:extLst>
      <p:ext uri="{BB962C8B-B14F-4D97-AF65-F5344CB8AC3E}">
        <p14:creationId xmlns:p14="http://schemas.microsoft.com/office/powerpoint/2010/main" val="1538423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60987A-93A0-BEDF-FFAD-695FA2BFCA73}"/>
              </a:ext>
            </a:extLst>
          </p:cNvPr>
          <p:cNvSpPr txBox="1"/>
          <p:nvPr/>
        </p:nvSpPr>
        <p:spPr>
          <a:xfrm>
            <a:off x="495688" y="230006"/>
            <a:ext cx="8457033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38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C00000"/>
                </a:solidFill>
                <a:effectLst/>
                <a:latin typeface="system-ui"/>
              </a:rPr>
              <a:t>Database Session Management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C00000"/>
                </a:solidFill>
                <a:effectLst/>
                <a:latin typeface="system-ui"/>
              </a:rPr>
              <a:t>You can use global dependencies to set up and tear down database connections: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C653A-8322-86F8-1AF5-702FDECF1F1F}"/>
              </a:ext>
            </a:extLst>
          </p:cNvPr>
          <p:cNvSpPr txBox="1"/>
          <p:nvPr/>
        </p:nvSpPr>
        <p:spPr>
          <a:xfrm>
            <a:off x="564502" y="1114365"/>
            <a:ext cx="81537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Depends,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sqlalchemy.orm</a:t>
            </a:r>
            <a:r>
              <a:rPr lang="en-IN" dirty="0"/>
              <a:t> import Session</a:t>
            </a:r>
          </a:p>
          <a:p>
            <a:endParaRPr lang="en-IN" dirty="0"/>
          </a:p>
          <a:p>
            <a:r>
              <a:rPr lang="en-IN" dirty="0"/>
              <a:t># Database setup code omitted for brevity</a:t>
            </a:r>
          </a:p>
          <a:p>
            <a:r>
              <a:rPr lang="en-IN" dirty="0"/>
              <a:t># Assume we have engine and </a:t>
            </a:r>
            <a:r>
              <a:rPr lang="en-IN" dirty="0" err="1"/>
              <a:t>SessionLocal</a:t>
            </a:r>
            <a:r>
              <a:rPr lang="en-IN" dirty="0"/>
              <a:t> defined</a:t>
            </a:r>
          </a:p>
          <a:p>
            <a:endParaRPr lang="en-IN" dirty="0"/>
          </a:p>
          <a:p>
            <a:r>
              <a:rPr lang="en-IN" dirty="0"/>
              <a:t>async def </a:t>
            </a:r>
            <a:r>
              <a:rPr lang="en-IN" dirty="0" err="1"/>
              <a:t>get_db</a:t>
            </a:r>
            <a:r>
              <a:rPr lang="en-IN" dirty="0"/>
              <a:t>():</a:t>
            </a:r>
          </a:p>
          <a:p>
            <a:r>
              <a:rPr lang="en-IN" dirty="0"/>
              <a:t>    </a:t>
            </a:r>
            <a:r>
              <a:rPr lang="en-IN" dirty="0" err="1"/>
              <a:t>db</a:t>
            </a:r>
            <a:r>
              <a:rPr lang="en-IN" dirty="0"/>
              <a:t> = </a:t>
            </a:r>
            <a:r>
              <a:rPr lang="en-IN" dirty="0" err="1"/>
              <a:t>SessionLocal</a:t>
            </a:r>
            <a:r>
              <a:rPr lang="en-IN" dirty="0"/>
              <a:t>()</a:t>
            </a:r>
          </a:p>
          <a:p>
            <a:r>
              <a:rPr lang="en-IN" dirty="0"/>
              <a:t>    try:</a:t>
            </a:r>
          </a:p>
          <a:p>
            <a:r>
              <a:rPr lang="en-IN" dirty="0"/>
              <a:t>        yield </a:t>
            </a:r>
            <a:r>
              <a:rPr lang="en-IN" dirty="0" err="1"/>
              <a:t>db</a:t>
            </a:r>
            <a:endParaRPr lang="en-IN" dirty="0"/>
          </a:p>
          <a:p>
            <a:r>
              <a:rPr lang="en-IN" dirty="0"/>
              <a:t>    finally:</a:t>
            </a:r>
          </a:p>
          <a:p>
            <a:r>
              <a:rPr lang="en-IN" dirty="0"/>
              <a:t>        </a:t>
            </a:r>
            <a:r>
              <a:rPr lang="en-IN" dirty="0" err="1"/>
              <a:t>db.close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(dependencies=[Depends(</a:t>
            </a:r>
            <a:r>
              <a:rPr lang="en-IN" dirty="0" err="1"/>
              <a:t>get_db</a:t>
            </a:r>
            <a:r>
              <a:rPr lang="en-IN" dirty="0"/>
              <a:t>)])</a:t>
            </a:r>
          </a:p>
          <a:p>
            <a:endParaRPr lang="en-IN" dirty="0"/>
          </a:p>
          <a:p>
            <a:r>
              <a:rPr lang="en-IN" dirty="0"/>
              <a:t>@app.get("/users/")</a:t>
            </a:r>
          </a:p>
          <a:p>
            <a:r>
              <a:rPr lang="en-IN" dirty="0"/>
              <a:t>async def </a:t>
            </a:r>
            <a:r>
              <a:rPr lang="en-IN" dirty="0" err="1"/>
              <a:t>get_users</a:t>
            </a:r>
            <a:r>
              <a:rPr lang="en-IN" dirty="0"/>
              <a:t>(</a:t>
            </a:r>
            <a:r>
              <a:rPr lang="en-IN" dirty="0" err="1"/>
              <a:t>db</a:t>
            </a:r>
            <a:r>
              <a:rPr lang="en-IN" dirty="0"/>
              <a:t>: Session = Depends(</a:t>
            </a:r>
            <a:r>
              <a:rPr lang="en-IN" dirty="0" err="1"/>
              <a:t>get_db</a:t>
            </a:r>
            <a:r>
              <a:rPr lang="en-IN" dirty="0"/>
              <a:t>)):</a:t>
            </a:r>
          </a:p>
          <a:p>
            <a:r>
              <a:rPr lang="en-IN" dirty="0"/>
              <a:t>    # Use the </a:t>
            </a:r>
            <a:r>
              <a:rPr lang="en-IN" dirty="0" err="1"/>
              <a:t>db</a:t>
            </a:r>
            <a:r>
              <a:rPr lang="en-IN" dirty="0"/>
              <a:t> session</a:t>
            </a:r>
          </a:p>
          <a:p>
            <a:r>
              <a:rPr lang="en-IN" dirty="0"/>
              <a:t>    users = </a:t>
            </a:r>
            <a:r>
              <a:rPr lang="en-IN" dirty="0" err="1"/>
              <a:t>db.query</a:t>
            </a:r>
            <a:r>
              <a:rPr lang="en-IN" dirty="0"/>
              <a:t>(User).all()</a:t>
            </a:r>
          </a:p>
          <a:p>
            <a:r>
              <a:rPr lang="en-IN" dirty="0"/>
              <a:t>    return users</a:t>
            </a:r>
          </a:p>
        </p:txBody>
      </p:sp>
    </p:spTree>
    <p:extLst>
      <p:ext uri="{BB962C8B-B14F-4D97-AF65-F5344CB8AC3E}">
        <p14:creationId xmlns:p14="http://schemas.microsoft.com/office/powerpoint/2010/main" val="762551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0477CC-98CB-C044-728D-4A11C222C0F2}"/>
              </a:ext>
            </a:extLst>
          </p:cNvPr>
          <p:cNvSpPr txBox="1"/>
          <p:nvPr/>
        </p:nvSpPr>
        <p:spPr>
          <a:xfrm>
            <a:off x="197110" y="66704"/>
            <a:ext cx="9702670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50"/>
              </a:spcBef>
              <a:spcAft>
                <a:spcPts val="1425"/>
              </a:spcAft>
              <a:buNone/>
            </a:pPr>
            <a:r>
              <a:rPr lang="en-US" b="1" i="0" dirty="0">
                <a:solidFill>
                  <a:srgbClr val="C00000"/>
                </a:solidFill>
                <a:effectLst/>
                <a:latin typeface="system-ui"/>
              </a:rPr>
              <a:t>Excluding Routes from Global Dependencies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C00000"/>
                </a:solidFill>
                <a:effectLst/>
                <a:latin typeface="system-ui"/>
              </a:rPr>
              <a:t>Sometimes you might want certain routes (like health checks or public endpoints) to be exempt from global dependencies. </a:t>
            </a:r>
            <a:r>
              <a:rPr lang="en-US" b="0" i="0" dirty="0" err="1">
                <a:solidFill>
                  <a:srgbClr val="C00000"/>
                </a:solidFill>
                <a:effectLst/>
                <a:latin typeface="system-ui"/>
              </a:rPr>
              <a:t>FastAPI</a:t>
            </a:r>
            <a:r>
              <a:rPr lang="en-US" b="0" i="0" dirty="0">
                <a:solidFill>
                  <a:srgbClr val="C00000"/>
                </a:solidFill>
                <a:effectLst/>
                <a:latin typeface="system-ui"/>
              </a:rPr>
              <a:t> allows you to create separate sub-applications for this purpose: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4E03F-8CB3-BA04-F65E-841622FC53D3}"/>
              </a:ext>
            </a:extLst>
          </p:cNvPr>
          <p:cNvSpPr txBox="1"/>
          <p:nvPr/>
        </p:nvSpPr>
        <p:spPr>
          <a:xfrm>
            <a:off x="523681" y="1158985"/>
            <a:ext cx="109401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async def </a:t>
            </a:r>
            <a:r>
              <a:rPr lang="en-IN" dirty="0" err="1"/>
              <a:t>verify_token</a:t>
            </a:r>
            <a:r>
              <a:rPr lang="en-IN" dirty="0"/>
              <a:t>(</a:t>
            </a:r>
            <a:r>
              <a:rPr lang="en-IN" dirty="0" err="1"/>
              <a:t>x_token</a:t>
            </a:r>
            <a:r>
              <a:rPr lang="en-IN" dirty="0"/>
              <a:t>: str = Header(...)):</a:t>
            </a:r>
          </a:p>
          <a:p>
            <a:r>
              <a:rPr lang="en-IN" dirty="0"/>
              <a:t>    if </a:t>
            </a:r>
            <a:r>
              <a:rPr lang="en-IN" dirty="0" err="1"/>
              <a:t>x_token</a:t>
            </a:r>
            <a:r>
              <a:rPr lang="en-IN" dirty="0"/>
              <a:t> != "</a:t>
            </a:r>
            <a:r>
              <a:rPr lang="en-IN" dirty="0" err="1"/>
              <a:t>valid_token</a:t>
            </a:r>
            <a:r>
              <a:rPr lang="en-IN" dirty="0"/>
              <a:t>":</a:t>
            </a:r>
          </a:p>
          <a:p>
            <a:r>
              <a:rPr lang="en-IN" dirty="0"/>
              <a:t>        raise </a:t>
            </a:r>
            <a:r>
              <a:rPr lang="en-IN" dirty="0" err="1"/>
              <a:t>HTTPException</a:t>
            </a:r>
            <a:r>
              <a:rPr lang="en-IN" dirty="0"/>
              <a:t>(</a:t>
            </a:r>
            <a:r>
              <a:rPr lang="en-IN" dirty="0" err="1"/>
              <a:t>status_code</a:t>
            </a:r>
            <a:r>
              <a:rPr lang="en-IN" dirty="0"/>
              <a:t>=401, detail="Invalid X-Token")</a:t>
            </a:r>
          </a:p>
          <a:p>
            <a:r>
              <a:rPr lang="en-IN" dirty="0"/>
              <a:t>    return </a:t>
            </a:r>
            <a:r>
              <a:rPr lang="en-IN" dirty="0" err="1"/>
              <a:t>x_token</a:t>
            </a:r>
            <a:endParaRPr lang="en-IN" dirty="0"/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r>
              <a:rPr lang="en-IN" dirty="0" err="1"/>
              <a:t>secured_app</a:t>
            </a:r>
            <a:r>
              <a:rPr lang="en-IN" dirty="0"/>
              <a:t> = </a:t>
            </a:r>
            <a:r>
              <a:rPr lang="en-IN" dirty="0" err="1"/>
              <a:t>FastAPI</a:t>
            </a:r>
            <a:r>
              <a:rPr lang="en-IN" dirty="0"/>
              <a:t>(dependencies=[Depends(</a:t>
            </a:r>
            <a:r>
              <a:rPr lang="en-IN" dirty="0" err="1"/>
              <a:t>verify_token</a:t>
            </a:r>
            <a:r>
              <a:rPr lang="en-IN" dirty="0"/>
              <a:t>)])</a:t>
            </a:r>
          </a:p>
          <a:p>
            <a:endParaRPr lang="en-IN" dirty="0"/>
          </a:p>
          <a:p>
            <a:r>
              <a:rPr lang="en-IN" dirty="0"/>
              <a:t># Mount the secured app under /secured path</a:t>
            </a:r>
          </a:p>
          <a:p>
            <a:r>
              <a:rPr lang="en-IN" dirty="0" err="1"/>
              <a:t>app.mount</a:t>
            </a:r>
            <a:r>
              <a:rPr lang="en-IN" dirty="0"/>
              <a:t>("/secured", </a:t>
            </a:r>
            <a:r>
              <a:rPr lang="en-IN" dirty="0" err="1"/>
              <a:t>secured_app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This endpoint is not protected</a:t>
            </a:r>
          </a:p>
          <a:p>
            <a:r>
              <a:rPr lang="en-IN" dirty="0"/>
              <a:t>@app.get("/health/")</a:t>
            </a:r>
          </a:p>
          <a:p>
            <a:r>
              <a:rPr lang="en-IN" dirty="0"/>
              <a:t>async def </a:t>
            </a:r>
            <a:r>
              <a:rPr lang="en-IN" dirty="0" err="1"/>
              <a:t>health_check</a:t>
            </a:r>
            <a:r>
              <a:rPr lang="en-IN" dirty="0"/>
              <a:t>():</a:t>
            </a:r>
          </a:p>
          <a:p>
            <a:r>
              <a:rPr lang="en-IN" dirty="0"/>
              <a:t>    return {"status": "healthy"}</a:t>
            </a:r>
          </a:p>
          <a:p>
            <a:endParaRPr lang="en-IN" dirty="0"/>
          </a:p>
          <a:p>
            <a:r>
              <a:rPr lang="en-IN" dirty="0"/>
              <a:t># This endpoint is protected</a:t>
            </a:r>
          </a:p>
          <a:p>
            <a:r>
              <a:rPr lang="en-IN" dirty="0"/>
              <a:t>@secured_app.get("/items/")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():</a:t>
            </a:r>
          </a:p>
          <a:p>
            <a:r>
              <a:rPr lang="en-IN" dirty="0"/>
              <a:t>    return {"items": "This endpoint is protected"}</a:t>
            </a:r>
          </a:p>
        </p:txBody>
      </p:sp>
    </p:spTree>
    <p:extLst>
      <p:ext uri="{BB962C8B-B14F-4D97-AF65-F5344CB8AC3E}">
        <p14:creationId xmlns:p14="http://schemas.microsoft.com/office/powerpoint/2010/main" val="2949722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46C1-0C0F-B59A-1FF0-13A0B0B3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819A-DA86-75ED-ABC7-3317FFE03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559630" cy="706964"/>
          </a:xfrm>
        </p:spPr>
        <p:txBody>
          <a:bodyPr/>
          <a:lstStyle/>
          <a:p>
            <a:r>
              <a:rPr lang="en-US" b="1" dirty="0"/>
              <a:t>Best Practices for Global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008A2-2AC8-1C2C-A7DC-69F3260A7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b="1" dirty="0"/>
              <a:t>Keep them lightweight</a:t>
            </a:r>
            <a:r>
              <a:rPr lang="en-US" dirty="0"/>
              <a:t>: Global dependencies run for every request, so keep them efficient.</a:t>
            </a:r>
          </a:p>
          <a:p>
            <a:r>
              <a:rPr lang="en-US" b="1" dirty="0"/>
              <a:t>Handle errors appropriately</a:t>
            </a:r>
            <a:r>
              <a:rPr lang="en-US" dirty="0"/>
              <a:t>: Provide clear error messages when dependencies fail.</a:t>
            </a:r>
          </a:p>
          <a:p>
            <a:r>
              <a:rPr lang="en-US" b="1" dirty="0"/>
              <a:t>Use yield for cleanup</a:t>
            </a:r>
            <a:r>
              <a:rPr lang="en-US" dirty="0"/>
              <a:t>: When resources need cleanup (like database sessions), use yield for proper cleanup.</a:t>
            </a:r>
          </a:p>
          <a:p>
            <a:r>
              <a:rPr lang="en-US" b="1" dirty="0"/>
              <a:t>Separate public and secured APIs</a:t>
            </a:r>
            <a:r>
              <a:rPr lang="en-US" dirty="0"/>
              <a:t>: Use separate </a:t>
            </a:r>
            <a:r>
              <a:rPr lang="en-US" dirty="0" err="1"/>
              <a:t>FastAPI</a:t>
            </a:r>
            <a:r>
              <a:rPr lang="en-US" dirty="0"/>
              <a:t> instances for public and secured endpoints.</a:t>
            </a:r>
          </a:p>
          <a:p>
            <a:r>
              <a:rPr lang="en-US" b="1" dirty="0"/>
              <a:t>Consider performance</a:t>
            </a:r>
            <a:r>
              <a:rPr lang="en-US" dirty="0"/>
              <a:t>: Monitor how global dependencies affect your API's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875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99EF-BAE4-E002-8EB8-4A7C8CE2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C021-CFA7-6B4A-11BB-3925A167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Dependency Caching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19E31-9DDD-E1B2-A2AA-4DF4EB795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When building web applications with </a:t>
            </a:r>
            <a:r>
              <a:rPr lang="en-US" dirty="0" err="1"/>
              <a:t>FastAPI</a:t>
            </a:r>
            <a:r>
              <a:rPr lang="en-US" dirty="0"/>
              <a:t>, you often need to reuse the same functionality across multiple endpoints. </a:t>
            </a:r>
          </a:p>
          <a:p>
            <a:r>
              <a:rPr lang="en-US" dirty="0"/>
              <a:t>Dependency injection provides a clean way to share code between route handlers, but sometimes these dependencies perform expensive operations that shouldn't be repeated unnecessarily within the same request. </a:t>
            </a:r>
          </a:p>
          <a:p>
            <a:r>
              <a:rPr lang="en-US" dirty="0"/>
              <a:t>This is where </a:t>
            </a:r>
            <a:r>
              <a:rPr lang="en-US" b="1" dirty="0"/>
              <a:t>dependency caching</a:t>
            </a:r>
            <a:r>
              <a:rPr lang="en-US" dirty="0"/>
              <a:t> comes in.</a:t>
            </a:r>
          </a:p>
          <a:p>
            <a:r>
              <a:rPr lang="en-US" dirty="0"/>
              <a:t>Dependency caching allows you to compute a value once and reuse it multiple times within the same request scope, improving performance and reducing redundant operations.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1084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1533-91AA-7717-463A-F734F9B4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76CE-2658-BBB3-2969-03DC4784C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Caching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704C-2122-6B2B-E272-2DB830139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automatically caches dependencies with the same parameters within the same request. </a:t>
            </a:r>
          </a:p>
          <a:p>
            <a:r>
              <a:rPr lang="en-US" dirty="0"/>
              <a:t>This means that if multiple route operations or other dependencies depend on the same dependency function, that function will only be executed once per request.</a:t>
            </a:r>
          </a:p>
          <a:p>
            <a:pPr marL="0" indent="0">
              <a:buNone/>
            </a:pPr>
            <a:r>
              <a:rPr lang="en-US" dirty="0"/>
              <a:t>By default, when you declare a dependency using the Depends() function, </a:t>
            </a:r>
            <a:r>
              <a:rPr lang="en-US" dirty="0" err="1"/>
              <a:t>FastAPI</a:t>
            </a:r>
            <a:r>
              <a:rPr lang="en-US" dirty="0"/>
              <a:t> will:</a:t>
            </a:r>
          </a:p>
          <a:p>
            <a:r>
              <a:rPr lang="en-US" dirty="0"/>
              <a:t>Check if the dependency has already been called with the same parameters in the current request</a:t>
            </a:r>
          </a:p>
          <a:p>
            <a:r>
              <a:rPr lang="en-US" dirty="0"/>
              <a:t>If it has, return the previously computed value</a:t>
            </a:r>
          </a:p>
          <a:p>
            <a:r>
              <a:rPr lang="en-US" dirty="0"/>
              <a:t>If not, call the dependency function and cache its result for future use within the same request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3447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F5B3-9140-7B03-8EC1-300A376C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0B79-2405-ABA6-694D-7A95B707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Connection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BC0AF-7720-7EF0-3FE8-5177D6279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Caching a database connection within a request scope can prevent multiple connections from being established for the same request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1439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08E74D-34F0-4122-DADB-790F915602F5}"/>
              </a:ext>
            </a:extLst>
          </p:cNvPr>
          <p:cNvSpPr txBox="1"/>
          <p:nvPr/>
        </p:nvSpPr>
        <p:spPr>
          <a:xfrm>
            <a:off x="144624" y="780237"/>
            <a:ext cx="84850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Depends</a:t>
            </a:r>
          </a:p>
          <a:p>
            <a:r>
              <a:rPr lang="en-IN" dirty="0"/>
              <a:t>import databases</a:t>
            </a:r>
          </a:p>
          <a:p>
            <a:r>
              <a:rPr lang="en-IN" dirty="0"/>
              <a:t>import </a:t>
            </a:r>
            <a:r>
              <a:rPr lang="en-IN" dirty="0" err="1"/>
              <a:t>os</a:t>
            </a:r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r>
              <a:rPr lang="en-IN" dirty="0"/>
              <a:t>DATABASE_URL = </a:t>
            </a:r>
            <a:r>
              <a:rPr lang="en-IN" dirty="0" err="1"/>
              <a:t>os.getenv</a:t>
            </a:r>
            <a:r>
              <a:rPr lang="en-IN" dirty="0"/>
              <a:t>("DATABASE_URL", "</a:t>
            </a:r>
            <a:r>
              <a:rPr lang="en-IN" dirty="0" err="1"/>
              <a:t>sqlite</a:t>
            </a:r>
            <a:r>
              <a:rPr lang="en-IN" dirty="0"/>
              <a:t>:///./</a:t>
            </a:r>
            <a:r>
              <a:rPr lang="en-IN" dirty="0" err="1"/>
              <a:t>test.db</a:t>
            </a:r>
            <a:r>
              <a:rPr lang="en-IN" dirty="0"/>
              <a:t>")</a:t>
            </a:r>
          </a:p>
          <a:p>
            <a:r>
              <a:rPr lang="en-IN" dirty="0"/>
              <a:t>async def </a:t>
            </a:r>
            <a:r>
              <a:rPr lang="en-IN" dirty="0" err="1"/>
              <a:t>get_database</a:t>
            </a:r>
            <a:r>
              <a:rPr lang="en-IN" dirty="0"/>
              <a:t>():</a:t>
            </a:r>
          </a:p>
          <a:p>
            <a:r>
              <a:rPr lang="en-IN" dirty="0"/>
              <a:t>    print("Creating database connection...")</a:t>
            </a:r>
          </a:p>
          <a:p>
            <a:r>
              <a:rPr lang="en-IN" dirty="0"/>
              <a:t>    database = </a:t>
            </a:r>
            <a:r>
              <a:rPr lang="en-IN" dirty="0" err="1"/>
              <a:t>databases.Database</a:t>
            </a:r>
            <a:r>
              <a:rPr lang="en-IN" dirty="0"/>
              <a:t>(DATABASE_URL)</a:t>
            </a:r>
          </a:p>
          <a:p>
            <a:r>
              <a:rPr lang="en-IN" dirty="0"/>
              <a:t>    await </a:t>
            </a:r>
            <a:r>
              <a:rPr lang="en-IN" dirty="0" err="1"/>
              <a:t>database.connect</a:t>
            </a:r>
            <a:r>
              <a:rPr lang="en-IN" dirty="0"/>
              <a:t>()</a:t>
            </a:r>
          </a:p>
          <a:p>
            <a:r>
              <a:rPr lang="en-IN" dirty="0"/>
              <a:t>    try:</a:t>
            </a:r>
          </a:p>
          <a:p>
            <a:r>
              <a:rPr lang="en-IN" dirty="0"/>
              <a:t>        yield database</a:t>
            </a:r>
          </a:p>
          <a:p>
            <a:r>
              <a:rPr lang="en-IN" dirty="0"/>
              <a:t>    finally:</a:t>
            </a:r>
          </a:p>
          <a:p>
            <a:r>
              <a:rPr lang="en-IN" dirty="0"/>
              <a:t>        print("Closing database connection...")</a:t>
            </a:r>
          </a:p>
          <a:p>
            <a:r>
              <a:rPr lang="en-IN" dirty="0"/>
              <a:t>        await </a:t>
            </a:r>
            <a:r>
              <a:rPr lang="en-IN" dirty="0" err="1"/>
              <a:t>database.disconnect</a:t>
            </a:r>
            <a:r>
              <a:rPr lang="en-IN" dirty="0"/>
              <a:t>()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D5677C-7454-675F-6B7E-1CF208C943D2}"/>
              </a:ext>
            </a:extLst>
          </p:cNvPr>
          <p:cNvSpPr txBox="1"/>
          <p:nvPr/>
        </p:nvSpPr>
        <p:spPr>
          <a:xfrm>
            <a:off x="6187362" y="2446266"/>
            <a:ext cx="6095222" cy="424731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@app.get("/users/{user_id}")</a:t>
            </a:r>
          </a:p>
          <a:p>
            <a:r>
              <a:rPr lang="en-IN" dirty="0">
                <a:solidFill>
                  <a:schemeClr val="bg1"/>
                </a:solidFill>
              </a:rPr>
              <a:t>async def </a:t>
            </a:r>
            <a:r>
              <a:rPr lang="en-IN" dirty="0" err="1">
                <a:solidFill>
                  <a:schemeClr val="bg1"/>
                </a:solidFill>
              </a:rPr>
              <a:t>read_user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user_id</a:t>
            </a:r>
            <a:r>
              <a:rPr lang="en-IN" dirty="0">
                <a:solidFill>
                  <a:schemeClr val="bg1"/>
                </a:solidFill>
              </a:rPr>
              <a:t>: int, </a:t>
            </a:r>
            <a:r>
              <a:rPr lang="en-IN" dirty="0" err="1">
                <a:solidFill>
                  <a:schemeClr val="bg1"/>
                </a:solidFill>
              </a:rPr>
              <a:t>db</a:t>
            </a:r>
            <a:r>
              <a:rPr lang="en-IN" dirty="0">
                <a:solidFill>
                  <a:schemeClr val="bg1"/>
                </a:solidFill>
              </a:rPr>
              <a:t>: </a:t>
            </a:r>
            <a:r>
              <a:rPr lang="en-IN" dirty="0" err="1">
                <a:solidFill>
                  <a:schemeClr val="bg1"/>
                </a:solidFill>
              </a:rPr>
              <a:t>databases.Database</a:t>
            </a:r>
            <a:r>
              <a:rPr lang="en-IN" dirty="0">
                <a:solidFill>
                  <a:schemeClr val="bg1"/>
                </a:solidFill>
              </a:rPr>
              <a:t> = Depends(</a:t>
            </a:r>
            <a:r>
              <a:rPr lang="en-IN" dirty="0" err="1">
                <a:solidFill>
                  <a:schemeClr val="bg1"/>
                </a:solidFill>
              </a:rPr>
              <a:t>get_database</a:t>
            </a:r>
            <a:r>
              <a:rPr lang="en-IN" dirty="0">
                <a:solidFill>
                  <a:schemeClr val="bg1"/>
                </a:solidFill>
              </a:rPr>
              <a:t>)):</a:t>
            </a:r>
          </a:p>
          <a:p>
            <a:r>
              <a:rPr lang="en-IN" dirty="0">
                <a:solidFill>
                  <a:schemeClr val="bg1"/>
                </a:solidFill>
              </a:rPr>
              <a:t>    query = "SELECT * FROM users WHERE id = :id"</a:t>
            </a:r>
          </a:p>
          <a:p>
            <a:r>
              <a:rPr lang="en-IN" dirty="0">
                <a:solidFill>
                  <a:schemeClr val="bg1"/>
                </a:solidFill>
              </a:rPr>
              <a:t>    user = await </a:t>
            </a:r>
            <a:r>
              <a:rPr lang="en-IN" dirty="0" err="1">
                <a:solidFill>
                  <a:schemeClr val="bg1"/>
                </a:solidFill>
              </a:rPr>
              <a:t>db.fetch_one</a:t>
            </a:r>
            <a:r>
              <a:rPr lang="en-IN" dirty="0">
                <a:solidFill>
                  <a:schemeClr val="bg1"/>
                </a:solidFill>
              </a:rPr>
              <a:t>(query=query, values={"id": </a:t>
            </a:r>
            <a:r>
              <a:rPr lang="en-IN" dirty="0" err="1">
                <a:solidFill>
                  <a:schemeClr val="bg1"/>
                </a:solidFill>
              </a:rPr>
              <a:t>user_id</a:t>
            </a:r>
            <a:r>
              <a:rPr lang="en-IN" dirty="0">
                <a:solidFill>
                  <a:schemeClr val="bg1"/>
                </a:solidFill>
              </a:rPr>
              <a:t>})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</a:p>
          <a:p>
            <a:r>
              <a:rPr lang="en-IN" dirty="0">
                <a:solidFill>
                  <a:schemeClr val="bg1"/>
                </a:solidFill>
              </a:rPr>
              <a:t>    # Another operation using the same connection</a:t>
            </a:r>
          </a:p>
          <a:p>
            <a:r>
              <a:rPr lang="en-IN" dirty="0">
                <a:solidFill>
                  <a:schemeClr val="bg1"/>
                </a:solidFill>
              </a:rPr>
              <a:t>    query = "SELECT COUNT(*) as </a:t>
            </a:r>
            <a:r>
              <a:rPr lang="en-IN" dirty="0" err="1">
                <a:solidFill>
                  <a:schemeClr val="bg1"/>
                </a:solidFill>
              </a:rPr>
              <a:t>post_count</a:t>
            </a:r>
            <a:r>
              <a:rPr lang="en-IN" dirty="0">
                <a:solidFill>
                  <a:schemeClr val="bg1"/>
                </a:solidFill>
              </a:rPr>
              <a:t> FROM posts WHERE </a:t>
            </a:r>
            <a:r>
              <a:rPr lang="en-IN" dirty="0" err="1">
                <a:solidFill>
                  <a:schemeClr val="bg1"/>
                </a:solidFill>
              </a:rPr>
              <a:t>user_id</a:t>
            </a:r>
            <a:r>
              <a:rPr lang="en-IN" dirty="0">
                <a:solidFill>
                  <a:schemeClr val="bg1"/>
                </a:solidFill>
              </a:rPr>
              <a:t> = :id"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post_count</a:t>
            </a:r>
            <a:r>
              <a:rPr lang="en-IN" dirty="0">
                <a:solidFill>
                  <a:schemeClr val="bg1"/>
                </a:solidFill>
              </a:rPr>
              <a:t> = await </a:t>
            </a:r>
            <a:r>
              <a:rPr lang="en-IN" dirty="0" err="1">
                <a:solidFill>
                  <a:schemeClr val="bg1"/>
                </a:solidFill>
              </a:rPr>
              <a:t>db.fetch_one</a:t>
            </a:r>
            <a:r>
              <a:rPr lang="en-IN" dirty="0">
                <a:solidFill>
                  <a:schemeClr val="bg1"/>
                </a:solidFill>
              </a:rPr>
              <a:t>(query=query, values={"id": </a:t>
            </a:r>
            <a:r>
              <a:rPr lang="en-IN" dirty="0" err="1">
                <a:solidFill>
                  <a:schemeClr val="bg1"/>
                </a:solidFill>
              </a:rPr>
              <a:t>user_id</a:t>
            </a:r>
            <a:r>
              <a:rPr lang="en-IN" dirty="0">
                <a:solidFill>
                  <a:schemeClr val="bg1"/>
                </a:solidFill>
              </a:rPr>
              <a:t>})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</a:p>
          <a:p>
            <a:r>
              <a:rPr lang="en-IN" dirty="0">
                <a:solidFill>
                  <a:schemeClr val="bg1"/>
                </a:solidFill>
              </a:rPr>
              <a:t>    return {"user": </a:t>
            </a:r>
            <a:r>
              <a:rPr lang="en-IN" dirty="0" err="1">
                <a:solidFill>
                  <a:schemeClr val="bg1"/>
                </a:solidFill>
              </a:rPr>
              <a:t>dict</a:t>
            </a:r>
            <a:r>
              <a:rPr lang="en-IN" dirty="0">
                <a:solidFill>
                  <a:schemeClr val="bg1"/>
                </a:solidFill>
              </a:rPr>
              <a:t>(user), "</a:t>
            </a:r>
            <a:r>
              <a:rPr lang="en-IN" dirty="0" err="1">
                <a:solidFill>
                  <a:schemeClr val="bg1"/>
                </a:solidFill>
              </a:rPr>
              <a:t>post_count</a:t>
            </a:r>
            <a:r>
              <a:rPr lang="en-IN" dirty="0">
                <a:solidFill>
                  <a:schemeClr val="bg1"/>
                </a:solidFill>
              </a:rPr>
              <a:t>": </a:t>
            </a:r>
            <a:r>
              <a:rPr lang="en-IN" dirty="0" err="1">
                <a:solidFill>
                  <a:schemeClr val="bg1"/>
                </a:solidFill>
              </a:rPr>
              <a:t>dict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post_count</a:t>
            </a:r>
            <a:r>
              <a:rPr lang="en-IN" dirty="0">
                <a:solidFill>
                  <a:schemeClr val="bg1"/>
                </a:solidFill>
              </a:rPr>
              <a:t>)}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F997B-886B-1C1A-7782-DA3C2943364B}"/>
              </a:ext>
            </a:extLst>
          </p:cNvPr>
          <p:cNvSpPr txBox="1"/>
          <p:nvPr/>
        </p:nvSpPr>
        <p:spPr>
          <a:xfrm>
            <a:off x="443204" y="71054"/>
            <a:ext cx="9895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system-ui"/>
              </a:rPr>
              <a:t>B</a:t>
            </a:r>
            <a:r>
              <a:rPr lang="en-US" b="1" i="0" dirty="0">
                <a:solidFill>
                  <a:srgbClr val="C00000"/>
                </a:solidFill>
                <a:effectLst/>
                <a:latin typeface="system-ui"/>
              </a:rPr>
              <a:t>oth database queries use the same cached database connection, improving performance and resource utilization.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3718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328A-D79C-3DF2-2834-CFF8EB36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0CC2-1CB9-E439-EE52-19CABFF6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Cases for Dependency Caching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867BB-D9C8-9971-D088-D86249805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Database Connection Management</a:t>
            </a:r>
          </a:p>
          <a:p>
            <a:r>
              <a:rPr lang="en-US" dirty="0"/>
              <a:t>Caching a database connection within a request scope can prevent multiple connections from being established for the same request:</a:t>
            </a:r>
          </a:p>
          <a:p>
            <a:pPr marL="0" indent="0">
              <a:buNone/>
            </a:pPr>
            <a:r>
              <a:rPr lang="en-US" b="1" dirty="0"/>
              <a:t>2. Authentication and User Data Retrieval</a:t>
            </a:r>
          </a:p>
          <a:p>
            <a:r>
              <a:rPr lang="en-US" dirty="0"/>
              <a:t>When implementing authentication, you often need to retrieve user information once and use it in multiple places:</a:t>
            </a:r>
          </a:p>
          <a:p>
            <a:pPr marL="0" indent="0">
              <a:buNone/>
            </a:pPr>
            <a:r>
              <a:rPr lang="en-US" b="1" dirty="0"/>
              <a:t>3. External API Calls</a:t>
            </a:r>
          </a:p>
          <a:p>
            <a:r>
              <a:rPr lang="en-US" dirty="0"/>
              <a:t>When your application needs to make external API calls, caching these calls within a request can prevent redundant network requests:</a:t>
            </a:r>
          </a:p>
          <a:p>
            <a:pPr marL="0" indent="0">
              <a:buNone/>
            </a:pPr>
            <a:r>
              <a:rPr lang="en-US" b="1" dirty="0"/>
              <a:t>Using Sub-Dependencies</a:t>
            </a:r>
          </a:p>
          <a:p>
            <a:r>
              <a:rPr lang="en-US" dirty="0"/>
              <a:t>Dependencies can depend on other dependencies, and </a:t>
            </a:r>
            <a:r>
              <a:rPr lang="en-US" dirty="0" err="1"/>
              <a:t>FastAPI</a:t>
            </a:r>
            <a:r>
              <a:rPr lang="en-US" dirty="0"/>
              <a:t> will maintain proper caching for the entire dependency tree: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4117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1ABBB-15F7-DD47-0EC0-1D9A7B5D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3176-D182-4F09-D75F-880A3326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Caching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B64AF-4F7E-3A3D-9E46-3246AAACD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The dependency performs expensive computations</a:t>
            </a:r>
          </a:p>
          <a:p>
            <a:r>
              <a:rPr lang="en-US" dirty="0"/>
              <a:t>The dependency makes database queries</a:t>
            </a:r>
          </a:p>
          <a:p>
            <a:r>
              <a:rPr lang="en-US" dirty="0"/>
              <a:t>The dependency makes external API calls</a:t>
            </a:r>
          </a:p>
          <a:p>
            <a:r>
              <a:rPr lang="en-US" dirty="0"/>
              <a:t>The dependency is used multiple times in a single request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9738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6F42-D49A-0786-D061-6A1FB10E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943E-9F90-0A05-2C1D-7817D049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Disable Caching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7DD44-4ABA-0F15-F028-65CAEFC35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r>
              <a:rPr lang="en-US" dirty="0"/>
              <a:t>Need fresh data for each call</a:t>
            </a:r>
          </a:p>
          <a:p>
            <a:r>
              <a:rPr lang="en-US" dirty="0"/>
              <a:t>The dependency has side effects that should happen each time</a:t>
            </a:r>
          </a:p>
          <a:p>
            <a:r>
              <a:rPr lang="en-US" dirty="0"/>
              <a:t>The dependency function updates a value or state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86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2CA3-18D4-03F1-08A8-BFE6EB3E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C95A-A8E8-AD8D-0402-1FD80DAE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B110-DAFE-8778-842B-2C725B2B8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84377" cy="373665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220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65</TotalTime>
  <Words>5126</Words>
  <Application>Microsoft Office PowerPoint</Application>
  <PresentationFormat>Widescreen</PresentationFormat>
  <Paragraphs>587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Century Gothic</vt:lpstr>
      <vt:lpstr>SFMono-Regular</vt:lpstr>
      <vt:lpstr>system-ui</vt:lpstr>
      <vt:lpstr>Wingdings</vt:lpstr>
      <vt:lpstr>Wingdings 3</vt:lpstr>
      <vt:lpstr>Ion Boardroom</vt:lpstr>
      <vt:lpstr>FastAPI Dependency Injection</vt:lpstr>
      <vt:lpstr>Dependency Injecion</vt:lpstr>
      <vt:lpstr>What Are Dependencies in FastAPI?</vt:lpstr>
      <vt:lpstr>Basic Dependency Example</vt:lpstr>
      <vt:lpstr>How Dependency Injection Works</vt:lpstr>
      <vt:lpstr>Types of Dependencies</vt:lpstr>
      <vt:lpstr>Types of Dependencies</vt:lpstr>
      <vt:lpstr>Types of Dependencies</vt:lpstr>
      <vt:lpstr>PowerPoint Presentation</vt:lpstr>
      <vt:lpstr>Benefits of Dependencies</vt:lpstr>
      <vt:lpstr>Common Use Cases</vt:lpstr>
      <vt:lpstr>Dependency Performance Considerations</vt:lpstr>
      <vt:lpstr>Dependency Functions</vt:lpstr>
      <vt:lpstr>PowerPoint Presentation</vt:lpstr>
      <vt:lpstr>PowerPoint Presentation</vt:lpstr>
      <vt:lpstr>Shortcut for Class Dependencies</vt:lpstr>
      <vt:lpstr>PowerPoint Presentation</vt:lpstr>
      <vt:lpstr>Dependency Yielding</vt:lpstr>
      <vt:lpstr>How Dependency Yielding Works</vt:lpstr>
      <vt:lpstr>How Dependency Yielding Works</vt:lpstr>
      <vt:lpstr>Request Lifecycle with Yielding Dependencies</vt:lpstr>
      <vt:lpstr>PowerPoint Presentation</vt:lpstr>
      <vt:lpstr>PowerPoint Presentation</vt:lpstr>
      <vt:lpstr>Practical Applications of dependency yielding</vt:lpstr>
      <vt:lpstr>Best Practices and Tips</vt:lpstr>
      <vt:lpstr>Best Practices and Tips</vt:lpstr>
      <vt:lpstr>Path Dependencies</vt:lpstr>
      <vt:lpstr>Path Dependencies?</vt:lpstr>
      <vt:lpstr>Path Dependencies?</vt:lpstr>
      <vt:lpstr>PowerPoint Presentation</vt:lpstr>
      <vt:lpstr>PowerPoint Presentation</vt:lpstr>
      <vt:lpstr>PowerPoint Presentation</vt:lpstr>
      <vt:lpstr>PowerPoint Presentation</vt:lpstr>
      <vt:lpstr>Dependencies </vt:lpstr>
      <vt:lpstr>Global Dependencies</vt:lpstr>
      <vt:lpstr>Global Dependencies vs Regular Dependencies</vt:lpstr>
      <vt:lpstr>Global Dependencies</vt:lpstr>
      <vt:lpstr>Authentication and Authorization</vt:lpstr>
      <vt:lpstr>Request Logging</vt:lpstr>
      <vt:lpstr>PowerPoint Presentation</vt:lpstr>
      <vt:lpstr>PowerPoint Presentation</vt:lpstr>
      <vt:lpstr>Best Practices for Global Dependencies</vt:lpstr>
      <vt:lpstr>Dependency Caching</vt:lpstr>
      <vt:lpstr>How Caching Works</vt:lpstr>
      <vt:lpstr>Database Connection Management</vt:lpstr>
      <vt:lpstr>PowerPoint Presentation</vt:lpstr>
      <vt:lpstr>Use Cases for Dependency Caching </vt:lpstr>
      <vt:lpstr>When to Use Caching</vt:lpstr>
      <vt:lpstr>When to Disable Caching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69</cp:revision>
  <dcterms:created xsi:type="dcterms:W3CDTF">2025-12-09T20:42:52Z</dcterms:created>
  <dcterms:modified xsi:type="dcterms:W3CDTF">2025-12-10T02:58:49Z</dcterms:modified>
</cp:coreProperties>
</file>
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16" r:id="rId4"/>
    <p:sldId id="258" r:id="rId5"/>
    <p:sldId id="315" r:id="rId6"/>
    <p:sldId id="261" r:id="rId7"/>
    <p:sldId id="319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17" r:id="rId18"/>
    <p:sldId id="269" r:id="rId19"/>
    <p:sldId id="318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78" d="100"/>
          <a:sy n="78" d="100"/>
        </p:scale>
        <p:origin x="4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A282-D93E-254D-858A-74189EAC70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FastApi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D5578-7596-527B-67B3-4FB8382BF0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29926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D8A89-C3E7-6FF6-B9DE-4A99F94D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6FF6-BED1-9515-B457-44A5BF30F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r>
              <a:rPr lang="en-US" b="1" dirty="0" err="1"/>
              <a:t>FastAPI</a:t>
            </a:r>
            <a:r>
              <a:rPr lang="en-US" dirty="0"/>
              <a:t> is a modern, high-performance web framework for building APIs with Python.</a:t>
            </a:r>
          </a:p>
          <a:p>
            <a:r>
              <a:rPr lang="en-US" dirty="0"/>
              <a:t>Built on </a:t>
            </a:r>
            <a:r>
              <a:rPr lang="en-US" b="1" dirty="0"/>
              <a:t>Starlette</a:t>
            </a:r>
            <a:r>
              <a:rPr lang="en-US" dirty="0"/>
              <a:t> for web handling and </a:t>
            </a:r>
            <a:r>
              <a:rPr lang="en-US" b="1" dirty="0" err="1"/>
              <a:t>Pydantic</a:t>
            </a:r>
            <a:r>
              <a:rPr lang="en-US" dirty="0"/>
              <a:t> for data validation, making it highly efficient and easy to use. </a:t>
            </a:r>
          </a:p>
          <a:p>
            <a:r>
              <a:rPr lang="en-US" dirty="0"/>
              <a:t>Designed to leverage Python's type hints, enabling automatic validation, serialization, and interactive API documentation.</a:t>
            </a:r>
          </a:p>
          <a:p>
            <a:r>
              <a:rPr lang="en-US" dirty="0"/>
              <a:t> Ideal for building production-ready APIs, but it requires Python 3.6+ and familiarity with asynchronous programming. </a:t>
            </a:r>
          </a:p>
          <a:p>
            <a:r>
              <a:rPr lang="en-US" dirty="0"/>
              <a:t>Well-suited for microservices, machine learning model deployment, and real-time applications.</a:t>
            </a:r>
          </a:p>
          <a:p>
            <a:r>
              <a:rPr lang="en-US" dirty="0" err="1"/>
              <a:t>FastAPI’s</a:t>
            </a:r>
            <a:r>
              <a:rPr lang="en-US" dirty="0"/>
              <a:t> combination of speed, simplicity, and robust features makes it a top choice for modern API development.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58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24E0-2DB4-1864-CFBB-28B89B89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4E0F-6922-EEFF-8970-69678242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95330" cy="3899987"/>
          </a:xfrm>
        </p:spPr>
        <p:txBody>
          <a:bodyPr/>
          <a:lstStyle/>
          <a:p>
            <a:pPr fontAlgn="base"/>
            <a:r>
              <a:rPr lang="en-US" dirty="0"/>
              <a:t>Built on Starlette (for web parts) and </a:t>
            </a:r>
            <a:r>
              <a:rPr lang="en-US" dirty="0" err="1"/>
              <a:t>Pydantic</a:t>
            </a:r>
            <a:r>
              <a:rPr lang="en-US" dirty="0"/>
              <a:t> (for data validation)</a:t>
            </a:r>
          </a:p>
          <a:p>
            <a:pPr fontAlgn="base"/>
            <a:r>
              <a:rPr lang="en-US" dirty="0"/>
              <a:t> </a:t>
            </a:r>
            <a:r>
              <a:rPr lang="en-US" b="1" dirty="0"/>
              <a:t>Starlette </a:t>
            </a:r>
            <a:r>
              <a:rPr lang="en-US" dirty="0"/>
              <a:t>provides core web components such as routing, middleware and </a:t>
            </a:r>
            <a:r>
              <a:rPr lang="en-US" dirty="0" err="1"/>
              <a:t>WebSockets</a:t>
            </a:r>
            <a:r>
              <a:rPr lang="en-US" dirty="0"/>
              <a:t> </a:t>
            </a:r>
          </a:p>
          <a:p>
            <a:pPr fontAlgn="base"/>
            <a:r>
              <a:rPr lang="en-US" dirty="0"/>
              <a:t> </a:t>
            </a:r>
            <a:r>
              <a:rPr lang="en-US" b="1" dirty="0" err="1"/>
              <a:t>Pydantic</a:t>
            </a:r>
            <a:r>
              <a:rPr lang="en-US" b="1" dirty="0"/>
              <a:t> </a:t>
            </a:r>
            <a:r>
              <a:rPr lang="en-US" dirty="0"/>
              <a:t>ensures powerful data validation and parsing, all using Python type hints.</a:t>
            </a:r>
          </a:p>
          <a:p>
            <a:pPr fontAlgn="base"/>
            <a:r>
              <a:rPr lang="en-US" dirty="0"/>
              <a:t>Known for speed, ease of use and automatic generation of interactive API documentation with Swagger UI and </a:t>
            </a:r>
            <a:r>
              <a:rPr lang="en-US" dirty="0" err="1"/>
              <a:t>ReDoc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Unlike Flask or Django, </a:t>
            </a:r>
            <a:r>
              <a:rPr lang="en-US" dirty="0" err="1"/>
              <a:t>FastAPI</a:t>
            </a:r>
            <a:r>
              <a:rPr lang="en-US" dirty="0"/>
              <a:t> is specifically optimized for building APIs with automatic type checking, validation and asynchronous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72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329E-D7EA-D3A9-5E8F-E161C6CD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E2DA-7A08-FAD1-2F7A-EEF6F049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Features of </a:t>
            </a:r>
            <a:r>
              <a:rPr lang="en-IN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94BC-B782-BDAF-B130-A06DC3FBB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/>
          </a:bodyPr>
          <a:lstStyle/>
          <a:p>
            <a:r>
              <a:rPr lang="en-IN" b="1" dirty="0"/>
              <a:t>High Performance</a:t>
            </a:r>
            <a:r>
              <a:rPr lang="en-IN" dirty="0"/>
              <a:t>: Comparable to Node.js and Go, thanks to asynchronous programming and the ASGI framework.</a:t>
            </a:r>
          </a:p>
          <a:p>
            <a:r>
              <a:rPr lang="en-IN" b="1" dirty="0"/>
              <a:t>Ease of Use</a:t>
            </a:r>
            <a:r>
              <a:rPr lang="en-IN" dirty="0"/>
              <a:t>: Simplifies API development with intuitive syntax and automatic validation.</a:t>
            </a:r>
          </a:p>
          <a:p>
            <a:r>
              <a:rPr lang="en-IN" b="1" dirty="0"/>
              <a:t>Automatic Documentation</a:t>
            </a:r>
            <a:r>
              <a:rPr lang="en-IN" dirty="0"/>
              <a:t>: Generates interactive API documentation using Swagger UI and </a:t>
            </a:r>
            <a:r>
              <a:rPr lang="en-IN" dirty="0" err="1"/>
              <a:t>ReDoc</a:t>
            </a:r>
            <a:r>
              <a:rPr lang="en-IN" dirty="0"/>
              <a:t>.</a:t>
            </a:r>
          </a:p>
          <a:p>
            <a:r>
              <a:rPr lang="en-IN" b="1" dirty="0"/>
              <a:t>Asynchronous Support</a:t>
            </a:r>
            <a:r>
              <a:rPr lang="en-IN" dirty="0"/>
              <a:t>: Built with async/await for handling concurrent requests efficiently.</a:t>
            </a:r>
          </a:p>
          <a:p>
            <a:r>
              <a:rPr lang="en-IN" b="1" dirty="0"/>
              <a:t>Type Safety</a:t>
            </a:r>
            <a:r>
              <a:rPr lang="en-IN" dirty="0"/>
              <a:t>: Leverages Python type hints for request and response validation, reducing bugs.</a:t>
            </a:r>
          </a:p>
          <a:p>
            <a:r>
              <a:rPr lang="en-IN" b="1" dirty="0"/>
              <a:t>Data Validation</a:t>
            </a:r>
            <a:r>
              <a:rPr lang="en-IN" dirty="0"/>
              <a:t>: Uses </a:t>
            </a:r>
            <a:r>
              <a:rPr lang="en-IN" dirty="0" err="1"/>
              <a:t>Pydantic</a:t>
            </a:r>
            <a:r>
              <a:rPr lang="en-IN" dirty="0"/>
              <a:t> for robust data validation and parsing.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338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9997-978A-DC7A-B64E-F25173F0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F5CF-8946-726A-C60D-B9CCA75D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06830" cy="383641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FastAPI</a:t>
            </a:r>
            <a:r>
              <a:rPr lang="en-US" dirty="0"/>
              <a:t> supports advanced features like:</a:t>
            </a:r>
          </a:p>
          <a:p>
            <a:r>
              <a:rPr lang="en-US" b="1" dirty="0"/>
              <a:t>Dependency Injection</a:t>
            </a:r>
            <a:r>
              <a:rPr lang="en-US" dirty="0"/>
              <a:t>: Simplifies managing dependencies across routes.</a:t>
            </a:r>
          </a:p>
          <a:p>
            <a:r>
              <a:rPr lang="en-US" b="1" dirty="0"/>
              <a:t>Authentication</a:t>
            </a:r>
            <a:r>
              <a:rPr lang="en-US" dirty="0"/>
              <a:t>: Built-in support for OAuth2, JWT, and HTTP Basic Auth.</a:t>
            </a:r>
          </a:p>
          <a:p>
            <a:r>
              <a:rPr lang="en-US" b="1" dirty="0" err="1"/>
              <a:t>WebSockets</a:t>
            </a:r>
            <a:r>
              <a:rPr lang="en-US" dirty="0"/>
              <a:t>: Enables real-time communication for chat apps or live dashboards.</a:t>
            </a:r>
          </a:p>
          <a:p>
            <a:r>
              <a:rPr lang="en-US" b="1" dirty="0"/>
              <a:t>Database Integration</a:t>
            </a:r>
            <a:r>
              <a:rPr lang="en-US" dirty="0"/>
              <a:t>: Works seamlessly with </a:t>
            </a:r>
            <a:r>
              <a:rPr lang="en-US" dirty="0" err="1"/>
              <a:t>SQLAlchemy</a:t>
            </a:r>
            <a:r>
              <a:rPr lang="en-US" dirty="0"/>
              <a:t>, MongoDB, and other databases.</a:t>
            </a:r>
          </a:p>
          <a:p>
            <a:r>
              <a:rPr lang="en-US" b="1" dirty="0"/>
              <a:t>File Handling</a:t>
            </a:r>
            <a:r>
              <a:rPr lang="en-US" dirty="0"/>
              <a:t>: Supports file uploads and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54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E348-4D1A-23B0-6566-5D754F20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A782-FC59-1715-C018-7CB72D1D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CEF8C-6C31-0ED6-5FED-2B4FA1F09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dirty="0" err="1"/>
              <a:t>FastAPI</a:t>
            </a:r>
            <a:r>
              <a:rPr lang="en-US" dirty="0"/>
              <a:t> is widely used across industries due to its speed, simplicity, and strong validation features. Here are some common applications:</a:t>
            </a:r>
          </a:p>
          <a:p>
            <a:pPr fontAlgn="base"/>
            <a:r>
              <a:rPr lang="en-US" b="1" dirty="0"/>
              <a:t>RESTful APIs:</a:t>
            </a:r>
            <a:r>
              <a:rPr lang="en-US" dirty="0"/>
              <a:t> Build reliable and scalable APIs for web and mobile applications.</a:t>
            </a:r>
          </a:p>
          <a:p>
            <a:pPr fontAlgn="base"/>
            <a:r>
              <a:rPr lang="en-US" b="1" dirty="0"/>
              <a:t>Data Validation Services:</a:t>
            </a:r>
            <a:r>
              <a:rPr lang="en-US" dirty="0"/>
              <a:t> Use </a:t>
            </a:r>
            <a:r>
              <a:rPr lang="en-US" dirty="0" err="1"/>
              <a:t>Pydantic</a:t>
            </a:r>
            <a:r>
              <a:rPr lang="en-US" dirty="0"/>
              <a:t> models to clean and validate incoming data from users or external systems.</a:t>
            </a:r>
          </a:p>
          <a:p>
            <a:pPr fontAlgn="base"/>
            <a:r>
              <a:rPr lang="en-US" b="1" dirty="0"/>
              <a:t>File Upload &amp; Processing Systems:</a:t>
            </a:r>
            <a:r>
              <a:rPr lang="en-US" dirty="0"/>
              <a:t> Ideal for applications like image hosting, resume upload portals and document management.</a:t>
            </a:r>
          </a:p>
          <a:p>
            <a:pPr fontAlgn="base"/>
            <a:r>
              <a:rPr lang="en-US" b="1" dirty="0"/>
              <a:t>Authentication &amp; Authorization:</a:t>
            </a:r>
            <a:r>
              <a:rPr lang="en-US" dirty="0"/>
              <a:t> Implement secure login systems using JWT or OAuth2 for modern applications.</a:t>
            </a:r>
          </a:p>
          <a:p>
            <a:pPr fontAlgn="base"/>
            <a:r>
              <a:rPr lang="en-US" b="1" dirty="0"/>
              <a:t>Real-Time Applications:</a:t>
            </a:r>
            <a:r>
              <a:rPr lang="en-US" dirty="0"/>
              <a:t> With </a:t>
            </a:r>
            <a:r>
              <a:rPr lang="en-US" dirty="0" err="1"/>
              <a:t>WebSockets</a:t>
            </a:r>
            <a:r>
              <a:rPr lang="en-US" dirty="0"/>
              <a:t>, build chat apps, live dashboards and collaborative tools.</a:t>
            </a:r>
          </a:p>
          <a:p>
            <a:pPr fontAlgn="base"/>
            <a:r>
              <a:rPr lang="en-US" b="1" dirty="0"/>
              <a:t>Machine Learning &amp; AI Integration:</a:t>
            </a:r>
            <a:r>
              <a:rPr lang="en-US" dirty="0"/>
              <a:t> Serve ML models with </a:t>
            </a:r>
            <a:r>
              <a:rPr lang="en-US" dirty="0" err="1"/>
              <a:t>FastAPI</a:t>
            </a:r>
            <a:r>
              <a:rPr lang="en-US" dirty="0"/>
              <a:t> endpoints, enabling easy deployment of predictive services.</a:t>
            </a:r>
          </a:p>
          <a:p>
            <a:pPr fontAlgn="base"/>
            <a:r>
              <a:rPr lang="en-US" b="1" dirty="0"/>
              <a:t>Microservices:</a:t>
            </a:r>
            <a:r>
              <a:rPr lang="en-US" dirty="0"/>
              <a:t> Perfect for building lightweight, independent services that communicate efficiently in distributed architectures.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11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7778-7366-5BCC-691F-D00072DE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Pydantic</a:t>
            </a:r>
            <a:r>
              <a:rPr lang="en-US" b="1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CFD7A-DE58-70E2-1C45-2927989CD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605110" cy="3948885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Is a Python library designed for data validation and parsing.</a:t>
            </a:r>
          </a:p>
          <a:p>
            <a:pPr fontAlgn="base"/>
            <a:r>
              <a:rPr lang="en-US" dirty="0"/>
              <a:t>Offers a straightforward way to define data models and ensures that incoming data adheres to those models. </a:t>
            </a:r>
          </a:p>
          <a:p>
            <a:pPr fontAlgn="base"/>
            <a:r>
              <a:rPr lang="en-US" dirty="0"/>
              <a:t>This validation and parsing process simplifies the task of guaranteeing that your application receives data in the correct format, promoting robustness and data integrity. </a:t>
            </a:r>
          </a:p>
          <a:p>
            <a:pPr fontAlgn="base"/>
            <a:r>
              <a:rPr lang="en-US" dirty="0" err="1"/>
              <a:t>Pydantic</a:t>
            </a:r>
            <a:r>
              <a:rPr lang="en-US" dirty="0"/>
              <a:t> models allow you to specify the structure and expected data types for various inputs, such as API request payloads.</a:t>
            </a:r>
          </a:p>
          <a:p>
            <a:pPr fontAlgn="base"/>
            <a:r>
              <a:rPr lang="en-US" dirty="0" err="1"/>
              <a:t>FastAPI</a:t>
            </a:r>
            <a:r>
              <a:rPr lang="en-US" dirty="0"/>
              <a:t> seamlessly incorporates </a:t>
            </a:r>
            <a:r>
              <a:rPr lang="en-US" dirty="0" err="1"/>
              <a:t>Pydantic</a:t>
            </a:r>
            <a:r>
              <a:rPr lang="en-US" dirty="0"/>
              <a:t> models to carry out request and response validation, a critical aspect of any API development. </a:t>
            </a:r>
          </a:p>
          <a:p>
            <a:pPr fontAlgn="base"/>
            <a:r>
              <a:rPr lang="en-US" dirty="0"/>
              <a:t>Ensure the safety and reliability of API. </a:t>
            </a:r>
          </a:p>
          <a:p>
            <a:pPr fontAlgn="base"/>
            <a:r>
              <a:rPr lang="en-US" dirty="0" err="1"/>
              <a:t>Pydantic</a:t>
            </a:r>
            <a:r>
              <a:rPr lang="en-US" dirty="0"/>
              <a:t> models not only serve as documentation for your data structures but also play a pivotal role in the validation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E6A20-C6A6-BEC9-8757-42A54657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512B-8F9C-F5E0-7311-83923F09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F8A67-A717-C586-CEA4-B70CCA5F1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typing </a:t>
            </a: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Union</a:t>
            </a:r>
          </a:p>
          <a:p>
            <a:pPr algn="l">
              <a:buNone/>
            </a:pP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I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@app.get(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read_root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algn="l">
              <a:buNone/>
            </a:pP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	return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"message"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"Welcome to </a:t>
            </a:r>
            <a:r>
              <a:rPr lang="en-IN" b="0" i="0" dirty="0" err="1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@app.get(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"/items/{item_id}"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read_item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q: Union[str, </a:t>
            </a: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 </a:t>
            </a: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>
              <a:buNone/>
            </a:pPr>
            <a:r>
              <a:rPr lang="en-IN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	return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 err="1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"query"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q}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38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8884-2205-14A9-5DC2-3245E75B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738C-386B-8287-D13F-CAB33398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0C0D-683A-86FF-DD35-A4683E0A3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To run the API, save the code in a file (e.g., main.py) and use the following command:</a:t>
            </a:r>
          </a:p>
          <a:p>
            <a:pPr marL="0" indent="0">
              <a:buNone/>
            </a:pPr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main:app</a:t>
            </a:r>
            <a:r>
              <a:rPr lang="en-US" dirty="0"/>
              <a:t> --reload</a:t>
            </a:r>
          </a:p>
          <a:p>
            <a:endParaRPr lang="en-US" dirty="0"/>
          </a:p>
          <a:p>
            <a:r>
              <a:rPr lang="en-US" dirty="0"/>
              <a:t>This starts the server at http://127.0.0.1:8000. </a:t>
            </a:r>
          </a:p>
          <a:p>
            <a:pPr marL="0" indent="0">
              <a:buNone/>
            </a:pPr>
            <a:r>
              <a:rPr lang="en-US" dirty="0"/>
              <a:t>Can access:</a:t>
            </a:r>
          </a:p>
          <a:p>
            <a:r>
              <a:rPr lang="en-US" dirty="0"/>
              <a:t>Interactive API Docs: http://127.0.0.1:8000/docs (Swagger UI)</a:t>
            </a:r>
          </a:p>
          <a:p>
            <a:r>
              <a:rPr lang="en-US" dirty="0"/>
              <a:t>Alternative Docs: http://127.0.0.1:8000/redoc (</a:t>
            </a:r>
            <a:r>
              <a:rPr lang="en-US" dirty="0" err="1"/>
              <a:t>ReDoc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356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7F21-2F52-684F-2581-93838DAC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0864-637D-4793-50DA-878C478B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Installation for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BF62D-D5D0-E7C0-2D1B-4FF159E47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dirty="0"/>
              <a:t>Setting up </a:t>
            </a:r>
            <a:r>
              <a:rPr lang="en-US" dirty="0" err="1"/>
              <a:t>FastAPI</a:t>
            </a:r>
            <a:r>
              <a:rPr lang="en-US" dirty="0"/>
              <a:t> is simple and quick. Let’s go step by step:</a:t>
            </a:r>
          </a:p>
          <a:p>
            <a:pPr fontAlgn="base"/>
            <a:r>
              <a:rPr lang="en-US" b="1" dirty="0"/>
              <a:t>Step 1: Install </a:t>
            </a:r>
            <a:r>
              <a:rPr lang="en-US" b="1" dirty="0" err="1"/>
              <a:t>FastAPI</a:t>
            </a:r>
            <a:endParaRPr lang="en-US" b="1" dirty="0"/>
          </a:p>
          <a:p>
            <a:pPr fontAlgn="base"/>
            <a:r>
              <a:rPr lang="en-US" dirty="0"/>
              <a:t>Use pip to install the </a:t>
            </a:r>
            <a:r>
              <a:rPr lang="en-US" dirty="0" err="1"/>
              <a:t>FastAPI</a:t>
            </a:r>
            <a:r>
              <a:rPr lang="en-US" dirty="0"/>
              <a:t> framework:</a:t>
            </a:r>
          </a:p>
          <a:p>
            <a:pPr marL="0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pip install </a:t>
            </a:r>
            <a:r>
              <a:rPr lang="en-US" b="1" i="1" dirty="0" err="1">
                <a:solidFill>
                  <a:srgbClr val="FF0000"/>
                </a:solidFill>
              </a:rPr>
              <a:t>FastAPI</a:t>
            </a:r>
            <a:endParaRPr lang="en-US" b="1" i="1" dirty="0">
              <a:solidFill>
                <a:srgbClr val="FF0000"/>
              </a:solidFill>
            </a:endParaRPr>
          </a:p>
          <a:p>
            <a:pPr fontAlgn="base"/>
            <a:r>
              <a:rPr lang="en-US" b="1" dirty="0"/>
              <a:t>Step 2: Install an ASGI Server (</a:t>
            </a:r>
            <a:r>
              <a:rPr lang="en-US" b="1" dirty="0" err="1"/>
              <a:t>Uvicorn</a:t>
            </a:r>
            <a:r>
              <a:rPr lang="en-US" b="1" dirty="0"/>
              <a:t>)</a:t>
            </a:r>
          </a:p>
          <a:p>
            <a:pPr fontAlgn="base"/>
            <a:r>
              <a:rPr lang="en-US" dirty="0" err="1"/>
              <a:t>FastAPI</a:t>
            </a:r>
            <a:r>
              <a:rPr lang="en-US" dirty="0"/>
              <a:t> needs an ASGI server to run. The most common and recommended one is </a:t>
            </a:r>
            <a:r>
              <a:rPr lang="en-US" dirty="0" err="1"/>
              <a:t>Uvicorn</a:t>
            </a:r>
            <a:r>
              <a:rPr lang="en-US" dirty="0"/>
              <a:t>. So, run the following command in terminal:</a:t>
            </a:r>
          </a:p>
          <a:p>
            <a:pPr marL="0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pip install "</a:t>
            </a:r>
            <a:r>
              <a:rPr lang="en-US" b="1" i="1" dirty="0" err="1">
                <a:solidFill>
                  <a:srgbClr val="FF0000"/>
                </a:solidFill>
              </a:rPr>
              <a:t>uvicorn</a:t>
            </a:r>
            <a:r>
              <a:rPr lang="en-US" b="1" i="1" dirty="0">
                <a:solidFill>
                  <a:srgbClr val="FF0000"/>
                </a:solidFill>
              </a:rPr>
              <a:t>[standard]" </a:t>
            </a:r>
          </a:p>
          <a:p>
            <a:pPr fontAlgn="base"/>
            <a:r>
              <a:rPr lang="en-US" b="1" dirty="0"/>
              <a:t>Step 3: Write Your First </a:t>
            </a:r>
            <a:r>
              <a:rPr lang="en-US" b="1" dirty="0" err="1"/>
              <a:t>FastAPI</a:t>
            </a:r>
            <a:r>
              <a:rPr lang="en-US" b="1" dirty="0"/>
              <a:t> App</a:t>
            </a:r>
          </a:p>
          <a:p>
            <a:pPr fontAlgn="base"/>
            <a:r>
              <a:rPr lang="en-US" dirty="0"/>
              <a:t>Create a file named </a:t>
            </a:r>
            <a:r>
              <a:rPr lang="en-US" b="1" dirty="0"/>
              <a:t>main.py</a:t>
            </a:r>
            <a:r>
              <a:rPr lang="en-US" dirty="0"/>
              <a:t> </a:t>
            </a:r>
          </a:p>
          <a:p>
            <a:pPr fontAlgn="base"/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06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29B9-2C8E-41B3-2C01-40AC9FD8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2E66-11D2-348A-399B-6A642BA5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Installation for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9913-D400-8082-6661-1CF86C46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pPr fontAlgn="base"/>
            <a:r>
              <a:rPr lang="en-US" b="1" dirty="0"/>
              <a:t>Step 4: Run the </a:t>
            </a:r>
            <a:r>
              <a:rPr lang="en-US" b="1" dirty="0" err="1"/>
              <a:t>FastAPI</a:t>
            </a:r>
            <a:r>
              <a:rPr lang="en-US" b="1" dirty="0"/>
              <a:t> App</a:t>
            </a:r>
          </a:p>
          <a:p>
            <a:pPr fontAlgn="base"/>
            <a:r>
              <a:rPr lang="en-US" dirty="0"/>
              <a:t>Run the server using </a:t>
            </a:r>
            <a:r>
              <a:rPr lang="en-US" dirty="0" err="1"/>
              <a:t>Uvicorn</a:t>
            </a:r>
            <a:r>
              <a:rPr lang="en-US" dirty="0"/>
              <a:t>:</a:t>
            </a:r>
          </a:p>
          <a:p>
            <a:pPr marL="0" indent="0" fontAlgn="base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uvicorn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main:app</a:t>
            </a:r>
            <a:r>
              <a:rPr lang="en-US" b="1" i="1" dirty="0">
                <a:solidFill>
                  <a:srgbClr val="FF0000"/>
                </a:solidFill>
              </a:rPr>
              <a:t> --reload</a:t>
            </a:r>
          </a:p>
          <a:p>
            <a:pPr fontAlgn="base"/>
            <a:r>
              <a:rPr lang="en-US" dirty="0"/>
              <a:t>Here’s what each part means:</a:t>
            </a:r>
          </a:p>
          <a:p>
            <a:pPr fontAlgn="base"/>
            <a:r>
              <a:rPr lang="en-US" b="1" dirty="0"/>
              <a:t>main:</a:t>
            </a:r>
            <a:r>
              <a:rPr lang="en-US" dirty="0"/>
              <a:t> file name (main.py).</a:t>
            </a:r>
          </a:p>
          <a:p>
            <a:pPr fontAlgn="base"/>
            <a:r>
              <a:rPr lang="en-US" b="1" dirty="0"/>
              <a:t>app:</a:t>
            </a:r>
            <a:r>
              <a:rPr lang="en-US" dirty="0"/>
              <a:t> </a:t>
            </a:r>
            <a:r>
              <a:rPr lang="en-US" dirty="0" err="1"/>
              <a:t>FastAPI</a:t>
            </a:r>
            <a:r>
              <a:rPr lang="en-US" dirty="0"/>
              <a:t> instance inside the file.</a:t>
            </a:r>
          </a:p>
          <a:p>
            <a:pPr fontAlgn="base"/>
            <a:r>
              <a:rPr lang="en-US" b="1" dirty="0"/>
              <a:t>--reload:</a:t>
            </a:r>
            <a:r>
              <a:rPr lang="en-US" dirty="0"/>
              <a:t> Automatically restarts the server when you make code changes.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73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5FDAE-CA2E-E3C7-ECF8-C1AD871C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733C-D7CB-8C70-B6D1-61447299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Installation for </a:t>
            </a:r>
            <a:r>
              <a:rPr lang="en-US" b="1" dirty="0" err="1"/>
              <a:t>FastAPI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52C79-4619-5983-BA15-1F1CCBDF7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pPr fontAlgn="base"/>
            <a:r>
              <a:rPr lang="en-US" b="1" dirty="0"/>
              <a:t>Step 5: Open in Browser</a:t>
            </a:r>
          </a:p>
          <a:p>
            <a:pPr fontAlgn="base"/>
            <a:r>
              <a:rPr lang="en-US" dirty="0"/>
              <a:t>Once the server starts, you will see a message in the terminal showing that </a:t>
            </a:r>
            <a:r>
              <a:rPr lang="en-US" dirty="0" err="1"/>
              <a:t>Uvicorn</a:t>
            </a:r>
            <a:r>
              <a:rPr lang="en-US" dirty="0"/>
              <a:t> is running . This means your </a:t>
            </a:r>
            <a:r>
              <a:rPr lang="en-US" dirty="0" err="1"/>
              <a:t>FastAPI</a:t>
            </a:r>
            <a:r>
              <a:rPr lang="en-US" dirty="0"/>
              <a:t> app is up and ready</a:t>
            </a:r>
          </a:p>
          <a:p>
            <a:pPr fontAlgn="base"/>
            <a:r>
              <a:rPr lang="en-US" dirty="0"/>
              <a:t>Now, let’s test it in the browser:</a:t>
            </a:r>
          </a:p>
          <a:p>
            <a:pPr marL="0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http://127.0.0.1:8000/ -&gt; Displays your API response.</a:t>
            </a:r>
            <a:br>
              <a:rPr lang="en-US" b="1" i="1" dirty="0">
                <a:solidFill>
                  <a:srgbClr val="FF0000"/>
                </a:solidFill>
              </a:rPr>
            </a:br>
            <a:r>
              <a:rPr lang="en-US" b="1" i="1" dirty="0">
                <a:solidFill>
                  <a:srgbClr val="FF0000"/>
                </a:solidFill>
              </a:rPr>
              <a:t>http://127.0.0.1:8000/docs -&gt; Opens Swagger UI (interactive docs).</a:t>
            </a:r>
            <a:br>
              <a:rPr lang="en-US" b="1" i="1" dirty="0">
                <a:solidFill>
                  <a:srgbClr val="FF0000"/>
                </a:solidFill>
              </a:rPr>
            </a:br>
            <a:r>
              <a:rPr lang="en-US" b="1" i="1" dirty="0">
                <a:solidFill>
                  <a:srgbClr val="FF0000"/>
                </a:solidFill>
              </a:rPr>
              <a:t>http://127.0.0.1:8000/redoc -&gt; Opens </a:t>
            </a:r>
            <a:r>
              <a:rPr lang="en-US" b="1" i="1" dirty="0" err="1">
                <a:solidFill>
                  <a:srgbClr val="FF0000"/>
                </a:solidFill>
              </a:rPr>
              <a:t>ReDoc</a:t>
            </a:r>
            <a:r>
              <a:rPr lang="en-US" b="1" i="1" dirty="0">
                <a:solidFill>
                  <a:srgbClr val="FF0000"/>
                </a:solidFill>
              </a:rPr>
              <a:t> (alternative docs).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959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A3D9-CA45-A6ED-6CF1-D8F77F92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FBF2-9CC1-B17B-198D-33F626D1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</a:t>
            </a:r>
            <a:r>
              <a:rPr lang="en-US" b="1" dirty="0" err="1"/>
              <a:t>FastAPI</a:t>
            </a:r>
            <a:r>
              <a:rPr lang="en-US" b="1" dirty="0"/>
              <a:t> with Django and Flask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1333-136A-0FFD-0A4E-173A72DE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Django</a:t>
            </a:r>
          </a:p>
          <a:p>
            <a:pPr fontAlgn="base"/>
            <a:r>
              <a:rPr lang="en-US" dirty="0"/>
              <a:t>Django is a full-stack web framework written in Python.</a:t>
            </a:r>
          </a:p>
          <a:p>
            <a:pPr fontAlgn="base"/>
            <a:r>
              <a:rPr lang="en-US" dirty="0"/>
              <a:t>Follows MTV (Model-Template-View) architectural pattern and promotes DRY principle (Don’t Repeat Yourself).</a:t>
            </a:r>
          </a:p>
          <a:p>
            <a:pPr fontAlgn="base"/>
            <a:r>
              <a:rPr lang="en-US" dirty="0"/>
              <a:t>Released in 2005 by Adrian Holovaty and Simon Willison.</a:t>
            </a:r>
          </a:p>
          <a:p>
            <a:pPr fontAlgn="base"/>
            <a:r>
              <a:rPr lang="en-US" dirty="0"/>
              <a:t>Named after the jazz guitarist Django Reinhardt.</a:t>
            </a:r>
          </a:p>
          <a:p>
            <a:pPr fontAlgn="base"/>
            <a:r>
              <a:rPr lang="en-US" dirty="0"/>
              <a:t>Comes with everything built-in: authentication, ORM (Object Relational Mapper), admin panel and security features.</a:t>
            </a:r>
          </a:p>
          <a:p>
            <a:pPr fontAlgn="base"/>
            <a:r>
              <a:rPr lang="en-US" b="1" dirty="0"/>
              <a:t>When to use it?</a:t>
            </a:r>
          </a:p>
          <a:p>
            <a:pPr fontAlgn="base"/>
            <a:r>
              <a:rPr lang="en-US" b="1" dirty="0"/>
              <a:t>If you are building a large, feature-rich web application like an e-commerce platform, social media app or content management system, Django is often the best choice.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65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D9480-51DF-2725-8B07-162916A4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FA59-CF4C-25C9-2DEC-AAED96F7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</a:t>
            </a:r>
            <a:r>
              <a:rPr lang="en-US" b="1" dirty="0" err="1"/>
              <a:t>FastAPI</a:t>
            </a:r>
            <a:r>
              <a:rPr lang="en-US" b="1" dirty="0"/>
              <a:t> with Django and Flask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342F3-B732-9180-ECCE-64E09284A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pPr fontAlgn="base"/>
            <a:r>
              <a:rPr lang="en-US" b="1" dirty="0"/>
              <a:t>Flask</a:t>
            </a:r>
          </a:p>
          <a:p>
            <a:pPr fontAlgn="base"/>
            <a:r>
              <a:rPr lang="en-US" dirty="0"/>
              <a:t>Flask is a micro web framework written in Python. Unlike Django, it doesn’t come with many built-in tools; instead, it gives developers flexibility to choose their own libraries.</a:t>
            </a:r>
          </a:p>
          <a:p>
            <a:pPr fontAlgn="base"/>
            <a:r>
              <a:rPr lang="en-US" dirty="0"/>
              <a:t>Released in 2010 by Armin </a:t>
            </a:r>
            <a:r>
              <a:rPr lang="en-US" dirty="0" err="1"/>
              <a:t>Ronacher</a:t>
            </a:r>
            <a:r>
              <a:rPr lang="en-US" dirty="0"/>
              <a:t> (</a:t>
            </a:r>
            <a:r>
              <a:rPr lang="en-US" dirty="0" err="1"/>
              <a:t>Pocoo</a:t>
            </a:r>
            <a:r>
              <a:rPr lang="en-US" dirty="0"/>
              <a:t> team).</a:t>
            </a:r>
          </a:p>
          <a:p>
            <a:pPr fontAlgn="base"/>
            <a:r>
              <a:rPr lang="en-US" dirty="0"/>
              <a:t>Based on the </a:t>
            </a:r>
            <a:r>
              <a:rPr lang="en-US" dirty="0" err="1"/>
              <a:t>Werkzeug</a:t>
            </a:r>
            <a:r>
              <a:rPr lang="en-US" dirty="0"/>
              <a:t> WSGI toolkit and Jinja2 template engine.</a:t>
            </a:r>
          </a:p>
          <a:p>
            <a:pPr fontAlgn="base"/>
            <a:r>
              <a:rPr lang="en-US" dirty="0"/>
              <a:t>Known for being lightweight and beginner-friendly.</a:t>
            </a:r>
          </a:p>
          <a:p>
            <a:pPr fontAlgn="base"/>
            <a:r>
              <a:rPr lang="en-US" b="1" dirty="0"/>
              <a:t>When to use it?</a:t>
            </a:r>
          </a:p>
          <a:p>
            <a:pPr fontAlgn="base"/>
            <a:r>
              <a:rPr lang="en-US" b="1" dirty="0"/>
              <a:t>If you’re creating a small to medium web application or want more freedom and flexibility in choosing components (like ORM, authentication, etc.), Flask is a great option.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394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F8B5-2D38-EF83-48C4-C7DFFA92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E03B-6DD8-22FC-DFA9-3CC21E177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</a:t>
            </a:r>
            <a:r>
              <a:rPr lang="en-US" b="1" dirty="0" err="1"/>
              <a:t>FastAPI</a:t>
            </a:r>
            <a:r>
              <a:rPr lang="en-US" b="1" dirty="0"/>
              <a:t> with Django and Flask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3A0A3-7BD5-945B-19D0-A12698ECB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pPr fontAlgn="base"/>
            <a:r>
              <a:rPr lang="en-US" b="1" dirty="0" err="1"/>
              <a:t>FastAPI</a:t>
            </a:r>
            <a:endParaRPr lang="en-US" b="1" dirty="0"/>
          </a:p>
          <a:p>
            <a:pPr fontAlgn="base"/>
            <a:r>
              <a:rPr lang="en-US" dirty="0" err="1"/>
              <a:t>FastAPI</a:t>
            </a:r>
            <a:r>
              <a:rPr lang="en-US" dirty="0"/>
              <a:t> is a modern, high-performance web framework for building APIs with Python. It’s built on Starlette (for web handling) and </a:t>
            </a:r>
            <a:r>
              <a:rPr lang="en-US" dirty="0" err="1"/>
              <a:t>Pydantic</a:t>
            </a:r>
            <a:r>
              <a:rPr lang="en-US" dirty="0"/>
              <a:t> (for data validation).</a:t>
            </a:r>
          </a:p>
          <a:p>
            <a:pPr fontAlgn="base"/>
            <a:r>
              <a:rPr lang="en-US" dirty="0"/>
              <a:t>Released in 2018 by Sebastián Ramírez.</a:t>
            </a:r>
          </a:p>
          <a:p>
            <a:pPr fontAlgn="base"/>
            <a:r>
              <a:rPr lang="en-US" dirty="0"/>
              <a:t>Uses Python type hints to automatically validate input data.</a:t>
            </a:r>
          </a:p>
          <a:p>
            <a:pPr fontAlgn="base"/>
            <a:r>
              <a:rPr lang="en-US" dirty="0"/>
              <a:t>Fully supports asynchronous programming, making it extremely fast.</a:t>
            </a:r>
          </a:p>
          <a:p>
            <a:pPr fontAlgn="base"/>
            <a:r>
              <a:rPr lang="en-US" b="1" dirty="0"/>
              <a:t>When to use it?</a:t>
            </a:r>
          </a:p>
          <a:p>
            <a:pPr fontAlgn="base"/>
            <a:r>
              <a:rPr lang="en-US" b="1" dirty="0"/>
              <a:t>If you are working on REST APIs, microservices or machine learning model deployment, </a:t>
            </a:r>
            <a:r>
              <a:rPr lang="en-US" b="1" dirty="0" err="1"/>
              <a:t>FastAPI</a:t>
            </a:r>
            <a:r>
              <a:rPr lang="en-US" b="1" dirty="0"/>
              <a:t> is an excellent choice due to its speed and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848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6766-1177-2A7A-26DA-7BFF0BB2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739E-7697-76F5-DDE9-57E0C4B0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</a:t>
            </a:r>
            <a:r>
              <a:rPr lang="en-US" b="1" dirty="0" err="1"/>
              <a:t>FastAPI</a:t>
            </a:r>
            <a:r>
              <a:rPr lang="en-US" b="1" dirty="0"/>
              <a:t> with Django and Flask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59410A-7A2F-571A-C4AC-9C4BEBA0B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814886"/>
              </p:ext>
            </p:extLst>
          </p:nvPr>
        </p:nvGraphicFramePr>
        <p:xfrm>
          <a:off x="508543" y="2596505"/>
          <a:ext cx="10899452" cy="4180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657">
                  <a:extLst>
                    <a:ext uri="{9D8B030D-6E8A-4147-A177-3AD203B41FA5}">
                      <a16:colId xmlns:a16="http://schemas.microsoft.com/office/drawing/2014/main" val="4052810720"/>
                    </a:ext>
                  </a:extLst>
                </a:gridCol>
                <a:gridCol w="3215069">
                  <a:extLst>
                    <a:ext uri="{9D8B030D-6E8A-4147-A177-3AD203B41FA5}">
                      <a16:colId xmlns:a16="http://schemas.microsoft.com/office/drawing/2014/main" val="1055393765"/>
                    </a:ext>
                  </a:extLst>
                </a:gridCol>
                <a:gridCol w="2724863">
                  <a:extLst>
                    <a:ext uri="{9D8B030D-6E8A-4147-A177-3AD203B41FA5}">
                      <a16:colId xmlns:a16="http://schemas.microsoft.com/office/drawing/2014/main" val="146904635"/>
                    </a:ext>
                  </a:extLst>
                </a:gridCol>
                <a:gridCol w="2724863">
                  <a:extLst>
                    <a:ext uri="{9D8B030D-6E8A-4147-A177-3AD203B41FA5}">
                      <a16:colId xmlns:a16="http://schemas.microsoft.com/office/drawing/2014/main" val="4163969570"/>
                    </a:ext>
                  </a:extLst>
                </a:gridCol>
              </a:tblGrid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Django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FastAPI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Flask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848098748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Type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Full-stack web framework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Micro-web framework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Micro-web framework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1437880230"/>
                  </a:ext>
                </a:extLst>
              </a:tr>
              <a:tr h="1198523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Performance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Fast for building large web application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>
                          <a:effectLst/>
                        </a:rPr>
                        <a:t>Very Fast for building APIs and Microservices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>
                          <a:effectLst/>
                        </a:rPr>
                        <a:t>Slower because of manual validation and synchronized programming.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3073292374"/>
                  </a:ext>
                </a:extLst>
              </a:tr>
              <a:tr h="93569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Scalability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Scalable but it's ORM and template engine can make it slower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>
                          <a:effectLst/>
                        </a:rPr>
                        <a:t>Highly Scalable, as it uses asynchronize code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>
                          <a:effectLst/>
                        </a:rPr>
                        <a:t>Difficult to scale as there is no in-built support for ORM or caching.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3507369750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Learning Curve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Complex for beginners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Simple for beginners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Moderate for beginners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3713993452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Database Tools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Built-in ORM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Limited, no built-in support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Limited, no built-in support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125239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44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433D-24ED-0600-2D7B-73804440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4854-20EE-AC89-2295-4BF7EF16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</a:t>
            </a:r>
            <a:r>
              <a:rPr lang="en-US" b="1" dirty="0" err="1"/>
              <a:t>FastAPI</a:t>
            </a:r>
            <a:r>
              <a:rPr lang="en-US" b="1" dirty="0"/>
              <a:t> with Django and Flask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DC0981-26D9-D8CF-0F15-7190702F4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629149"/>
              </p:ext>
            </p:extLst>
          </p:nvPr>
        </p:nvGraphicFramePr>
        <p:xfrm>
          <a:off x="210263" y="2254216"/>
          <a:ext cx="11843191" cy="4644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1217">
                  <a:extLst>
                    <a:ext uri="{9D8B030D-6E8A-4147-A177-3AD203B41FA5}">
                      <a16:colId xmlns:a16="http://schemas.microsoft.com/office/drawing/2014/main" val="4052810720"/>
                    </a:ext>
                  </a:extLst>
                </a:gridCol>
                <a:gridCol w="2965518">
                  <a:extLst>
                    <a:ext uri="{9D8B030D-6E8A-4147-A177-3AD203B41FA5}">
                      <a16:colId xmlns:a16="http://schemas.microsoft.com/office/drawing/2014/main" val="1055393765"/>
                    </a:ext>
                  </a:extLst>
                </a:gridCol>
                <a:gridCol w="2853391">
                  <a:extLst>
                    <a:ext uri="{9D8B030D-6E8A-4147-A177-3AD203B41FA5}">
                      <a16:colId xmlns:a16="http://schemas.microsoft.com/office/drawing/2014/main" val="146904635"/>
                    </a:ext>
                  </a:extLst>
                </a:gridCol>
                <a:gridCol w="3193065">
                  <a:extLst>
                    <a:ext uri="{9D8B030D-6E8A-4147-A177-3AD203B41FA5}">
                      <a16:colId xmlns:a16="http://schemas.microsoft.com/office/drawing/2014/main" val="4163969570"/>
                    </a:ext>
                  </a:extLst>
                </a:gridCol>
              </a:tblGrid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Django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FastAPI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Flask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848098748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 dirty="0">
                          <a:effectLst/>
                        </a:rPr>
                        <a:t>Asynchronous Support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Possible with help of </a:t>
                      </a:r>
                      <a:r>
                        <a:rPr lang="en-US" sz="1600" b="0" dirty="0" err="1">
                          <a:effectLst/>
                        </a:rPr>
                        <a:t>Asyncio</a:t>
                      </a:r>
                      <a:r>
                        <a:rPr lang="en-US" sz="1600" b="0" dirty="0">
                          <a:effectLst/>
                        </a:rPr>
                        <a:t> but slower.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Excellent, built-in async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No native async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1437880230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ORM (Object-relational mapping)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Yes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No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No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2061910090"/>
                  </a:ext>
                </a:extLst>
              </a:tr>
              <a:tr h="662547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 dirty="0">
                          <a:effectLst/>
                        </a:rPr>
                        <a:t>Community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Large and active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Growing fast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Large and active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3073292374"/>
                  </a:ext>
                </a:extLst>
              </a:tr>
              <a:tr h="59656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Documentation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 dirty="0">
                          <a:effectLst/>
                        </a:rPr>
                        <a:t>Extensive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Clear but smaller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600" b="0">
                          <a:effectLst/>
                        </a:rPr>
                        <a:t>Large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3507369750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Advantages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Great for building secure, scalable and feature-rich applications.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>
                          <a:effectLst/>
                        </a:rPr>
                        <a:t>Best for fast APIs and microservices with automatic validation.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>
                          <a:effectLst/>
                        </a:rPr>
                        <a:t>Very flexible and simple for small to medium projects.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3713993452"/>
                  </a:ext>
                </a:extLst>
              </a:tr>
              <a:tr h="51165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b="1">
                          <a:effectLst/>
                        </a:rPr>
                        <a:t>Disadvantages</a:t>
                      </a:r>
                    </a:p>
                  </a:txBody>
                  <a:tcPr marL="38100" marR="38100" marT="26979" marB="26979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Can be too complex for beginners and small projects.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Smaller community (but growing) and less built-in tools.</a:t>
                      </a:r>
                    </a:p>
                  </a:txBody>
                  <a:tcPr marL="38100" marR="38100" marT="53340" marB="5334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No built-in support for ORM, caching or async programming.</a:t>
                      </a:r>
                    </a:p>
                  </a:txBody>
                  <a:tcPr marL="38100" marR="38100" marT="53340" marB="53340" anchor="ctr"/>
                </a:tc>
                <a:extLst>
                  <a:ext uri="{0D108BD9-81ED-4DB2-BD59-A6C34878D82A}">
                    <a16:rowId xmlns:a16="http://schemas.microsoft.com/office/drawing/2014/main" val="125239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644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747F-2A3D-6A02-819B-BE5074F6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C91E-D590-C07F-E3D9-5CCA3134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388E7-5D07-CEBB-373A-E4B063917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r>
              <a:rPr lang="en-US" b="1" dirty="0"/>
              <a:t>REST (Representational State Transfer)</a:t>
            </a:r>
            <a:r>
              <a:rPr lang="en-US" dirty="0"/>
              <a:t> is an architectural style for designing web services.</a:t>
            </a:r>
          </a:p>
          <a:p>
            <a:r>
              <a:rPr lang="en-US" dirty="0"/>
              <a:t>Defines a set of principles that make communication between clients and servers simple, standardized and scalable.</a:t>
            </a:r>
          </a:p>
          <a:p>
            <a:r>
              <a:rPr lang="en-US" dirty="0"/>
              <a:t>REST ensures stateless communication, meaning each request from client contains all the information needed to process it, without relying on previous interactions. </a:t>
            </a:r>
          </a:p>
          <a:p>
            <a:r>
              <a:rPr lang="en-US" dirty="0"/>
              <a:t>Makes REST services reliable, scalable and widely used for web APIs.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196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0D3523-D1A6-C49E-5AFA-909D8F100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3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5320-107C-3E09-384F-4BC8849F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138D-00EE-71DD-7B81-B6B96831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Concepts of REST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14456-FE2B-2376-92C2-5F81C650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1.</a:t>
            </a:r>
            <a:r>
              <a:rPr lang="en-US" b="1" dirty="0"/>
              <a:t> Resources as data:</a:t>
            </a:r>
            <a:r>
              <a:rPr lang="en-US" dirty="0"/>
              <a:t> Information is organized into resources (such as users, products or documents).</a:t>
            </a:r>
          </a:p>
          <a:p>
            <a:pPr marL="0" indent="0" fontAlgn="base">
              <a:buNone/>
            </a:pPr>
            <a:r>
              <a:rPr lang="en-US" dirty="0"/>
              <a:t>2.</a:t>
            </a:r>
            <a:r>
              <a:rPr lang="en-US" b="1" dirty="0"/>
              <a:t> Unique URLs (endpoints):</a:t>
            </a:r>
            <a:r>
              <a:rPr lang="en-US" dirty="0"/>
              <a:t> Each resource is identified and accessed through a specific URL.</a:t>
            </a:r>
          </a:p>
          <a:p>
            <a:pPr marL="0" indent="0" fontAlgn="base">
              <a:buNone/>
            </a:pPr>
            <a:r>
              <a:rPr lang="en-US" dirty="0"/>
              <a:t>3.</a:t>
            </a:r>
            <a:r>
              <a:rPr lang="en-US" b="1" dirty="0"/>
              <a:t> Standard HTTP methods:</a:t>
            </a:r>
            <a:r>
              <a:rPr lang="en-US" dirty="0"/>
              <a:t> Operations on resources are performed using well-defined methods:</a:t>
            </a:r>
          </a:p>
          <a:p>
            <a:pPr fontAlgn="base"/>
            <a:r>
              <a:rPr lang="en-US" b="1" dirty="0"/>
              <a:t>GET:</a:t>
            </a:r>
            <a:r>
              <a:rPr lang="en-US" dirty="0"/>
              <a:t> Retrieve data</a:t>
            </a:r>
          </a:p>
          <a:p>
            <a:pPr fontAlgn="base"/>
            <a:r>
              <a:rPr lang="en-US" b="1" dirty="0"/>
              <a:t>POST:</a:t>
            </a:r>
            <a:r>
              <a:rPr lang="en-US" dirty="0"/>
              <a:t> Create new data</a:t>
            </a:r>
          </a:p>
          <a:p>
            <a:pPr fontAlgn="base"/>
            <a:r>
              <a:rPr lang="en-US" b="1" dirty="0"/>
              <a:t>PUT:</a:t>
            </a:r>
            <a:r>
              <a:rPr lang="en-US" dirty="0"/>
              <a:t> Update existing data</a:t>
            </a:r>
          </a:p>
          <a:p>
            <a:pPr fontAlgn="base"/>
            <a:r>
              <a:rPr lang="en-US" b="1" dirty="0"/>
              <a:t>DELETE:</a:t>
            </a:r>
            <a:r>
              <a:rPr lang="en-US" dirty="0"/>
              <a:t> Remove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44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0A13-4F73-6F8B-BE06-DE48ECB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9BC9-39E7-F843-A658-164C5493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REST APIs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040B9-A5B9-E0FE-BD6A-F1807F9C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REST APIs can be grouped into different types based on who can use them and how they are designed:</a:t>
            </a:r>
          </a:p>
          <a:p>
            <a:pPr fontAlgn="base"/>
            <a:r>
              <a:rPr lang="en-US" b="1" dirty="0"/>
              <a:t>Open APIs (Public APIs):</a:t>
            </a:r>
            <a:r>
              <a:rPr lang="en-US" dirty="0"/>
              <a:t> Publicly available for anyone to use. </a:t>
            </a:r>
          </a:p>
          <a:p>
            <a:pPr lvl="1" fontAlgn="base"/>
            <a:r>
              <a:rPr lang="en-US" dirty="0"/>
              <a:t>Allow external developers or users to access certain data or services. </a:t>
            </a:r>
          </a:p>
          <a:p>
            <a:pPr lvl="1" fontAlgn="base"/>
            <a:r>
              <a:rPr lang="en-US" dirty="0"/>
              <a:t>Often used to share information like weather updates, exchange rates or news feeds.</a:t>
            </a:r>
          </a:p>
          <a:p>
            <a:pPr fontAlgn="base"/>
            <a:r>
              <a:rPr lang="en-US" b="1" dirty="0"/>
              <a:t>Internal APIs (Private APIs):</a:t>
            </a:r>
            <a:r>
              <a:rPr lang="en-US" dirty="0"/>
              <a:t> Accessible only within an organization. </a:t>
            </a:r>
          </a:p>
          <a:p>
            <a:pPr lvl="1" fontAlgn="base"/>
            <a:r>
              <a:rPr lang="en-US" dirty="0"/>
              <a:t>Ae not exposed to public and are meant to improve internal workflows. </a:t>
            </a:r>
          </a:p>
          <a:p>
            <a:pPr lvl="1" fontAlgn="base"/>
            <a:r>
              <a:rPr lang="en-US" dirty="0"/>
              <a:t>Commonly used for internal systems such as employee management, finance or inventory tools.</a:t>
            </a:r>
          </a:p>
          <a:p>
            <a:pPr fontAlgn="base"/>
            <a:r>
              <a:rPr lang="en-US" b="1" dirty="0"/>
              <a:t>Partner APIs:</a:t>
            </a:r>
            <a:r>
              <a:rPr lang="en-US" dirty="0"/>
              <a:t> Shared between specific business partners or organizations. </a:t>
            </a:r>
          </a:p>
          <a:p>
            <a:pPr lvl="1" fontAlgn="base"/>
            <a:r>
              <a:rPr lang="en-US" dirty="0"/>
              <a:t>Access is controlled and requires proper authentication or agreements. </a:t>
            </a:r>
          </a:p>
          <a:p>
            <a:pPr lvl="1" fontAlgn="base"/>
            <a:r>
              <a:rPr lang="en-US" dirty="0"/>
              <a:t>Often used in cases like payment gateways, shipping integrations or vendor collaborations.</a:t>
            </a:r>
          </a:p>
          <a:p>
            <a:pPr fontAlgn="base"/>
            <a:r>
              <a:rPr lang="en-US" b="1" dirty="0"/>
              <a:t>Composite APIs:</a:t>
            </a:r>
            <a:r>
              <a:rPr lang="en-US" dirty="0"/>
              <a:t> Combine multiple API requests into a single call. </a:t>
            </a:r>
          </a:p>
          <a:p>
            <a:pPr lvl="1" fontAlgn="base"/>
            <a:r>
              <a:rPr lang="en-US" dirty="0"/>
              <a:t>Useful when a client needs data from different services at once. </a:t>
            </a:r>
          </a:p>
          <a:p>
            <a:pPr lvl="1" fontAlgn="base"/>
            <a:r>
              <a:rPr lang="en-US" dirty="0"/>
              <a:t>For example, a travel booking system may fetch flight, hotel and car rental details in one request.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9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8125-435A-1060-EFF6-1A3BFDF0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E82E-0170-4547-F503-967B060A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 API with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2076-9882-71E0-73F9-2B3BE03FF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 err="1"/>
              <a:t>FastAPI</a:t>
            </a:r>
            <a:r>
              <a:rPr lang="en-US" dirty="0"/>
              <a:t> is a web framework for Python that makes building REST APIs simple. </a:t>
            </a:r>
          </a:p>
          <a:p>
            <a:pPr fontAlgn="base"/>
            <a:r>
              <a:rPr lang="en-US" dirty="0"/>
              <a:t>Combines speed, ease of use and helpful built-in features that make it popular among developers. </a:t>
            </a:r>
          </a:p>
          <a:p>
            <a:pPr fontAlgn="base"/>
            <a:r>
              <a:rPr lang="en-US" b="1" dirty="0"/>
              <a:t>High Performance:</a:t>
            </a:r>
            <a:r>
              <a:rPr lang="en-US" dirty="0"/>
              <a:t> Built on Starlette for handling web requests and </a:t>
            </a:r>
            <a:r>
              <a:rPr lang="en-US" dirty="0" err="1"/>
              <a:t>Pydantic</a:t>
            </a:r>
            <a:r>
              <a:rPr lang="en-US" dirty="0"/>
              <a:t> for data validation, making it extremely fast.</a:t>
            </a:r>
          </a:p>
          <a:p>
            <a:pPr fontAlgn="base"/>
            <a:r>
              <a:rPr lang="en-US" b="1" dirty="0"/>
              <a:t>Developer-Friendly:</a:t>
            </a:r>
            <a:r>
              <a:rPr lang="en-US" dirty="0"/>
              <a:t> Automatically checks data types and validates inputs, reducing errors and saving time.</a:t>
            </a:r>
          </a:p>
          <a:p>
            <a:pPr fontAlgn="base"/>
            <a:r>
              <a:rPr lang="en-US" b="1" dirty="0"/>
              <a:t>Interactive Documentation: </a:t>
            </a:r>
            <a:r>
              <a:rPr lang="en-US" dirty="0"/>
              <a:t>Generates API documentation automatically at </a:t>
            </a:r>
            <a:r>
              <a:rPr lang="en-US" b="1" dirty="0"/>
              <a:t>/docs</a:t>
            </a:r>
            <a:r>
              <a:rPr lang="en-US" dirty="0"/>
              <a:t> (Swagger UI) and </a:t>
            </a:r>
            <a:r>
              <a:rPr lang="en-US" b="1" dirty="0"/>
              <a:t>/</a:t>
            </a:r>
            <a:r>
              <a:rPr lang="en-US" b="1" dirty="0" err="1"/>
              <a:t>redoc</a:t>
            </a:r>
            <a:r>
              <a:rPr lang="en-US" dirty="0"/>
              <a:t>, so developers can test and explore endpoints with no extra setup.</a:t>
            </a:r>
          </a:p>
          <a:p>
            <a:pPr fontAlgn="base"/>
            <a:r>
              <a:rPr lang="en-US" dirty="0"/>
              <a:t>With just a few lines of code, anyone can create a fully functional REST API. </a:t>
            </a:r>
          </a:p>
          <a:p>
            <a:pPr fontAlgn="base"/>
            <a:r>
              <a:rPr lang="en-US" b="1" dirty="0" err="1"/>
              <a:t>FastAPI</a:t>
            </a:r>
            <a:r>
              <a:rPr lang="en-US" b="1" dirty="0"/>
              <a:t> keeps things simple for beginners while still offering advanced features for production 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115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44B4B-9023-16D4-8E33-C48A9E9CC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005E-CA48-8EB5-238B-7CB97285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 API vs Other APIs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B7D6-9BA3-1AF1-DA41-241F05632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While REST is one of the most popular styles, there are other approaches to building APIs. Each has its own strengths depending on the use case:</a:t>
            </a:r>
          </a:p>
          <a:p>
            <a:pPr fontAlgn="base"/>
            <a:r>
              <a:rPr lang="en-US" b="1" dirty="0"/>
              <a:t>SOAP (Simple Object Access Protocol):</a:t>
            </a:r>
            <a:r>
              <a:rPr lang="en-US" dirty="0"/>
              <a:t> Uses XML as message format. </a:t>
            </a:r>
          </a:p>
          <a:p>
            <a:pPr lvl="1" fontAlgn="base"/>
            <a:r>
              <a:rPr lang="en-US" dirty="0"/>
              <a:t>Has very strict standards and built-in features like security and transaction handling. </a:t>
            </a:r>
          </a:p>
          <a:p>
            <a:pPr lvl="1" fontAlgn="base"/>
            <a:r>
              <a:rPr lang="en-US" dirty="0"/>
              <a:t>Reliable but heavy, often used in enterprise applications (e.g., banking, finance).</a:t>
            </a:r>
          </a:p>
          <a:p>
            <a:pPr fontAlgn="base"/>
            <a:r>
              <a:rPr lang="en-US" b="1" dirty="0" err="1"/>
              <a:t>GraphQL</a:t>
            </a:r>
            <a:r>
              <a:rPr lang="en-US" b="1" dirty="0"/>
              <a:t>:</a:t>
            </a:r>
            <a:r>
              <a:rPr lang="en-US" dirty="0"/>
              <a:t> Allows clients to request exactly the data they need, no more and no less.</a:t>
            </a:r>
          </a:p>
          <a:p>
            <a:pPr lvl="1" fontAlgn="base"/>
            <a:r>
              <a:rPr lang="en-US" dirty="0"/>
              <a:t> Reduces multiple API calls by combining queries into one request. </a:t>
            </a:r>
          </a:p>
          <a:p>
            <a:pPr lvl="1" fontAlgn="base"/>
            <a:r>
              <a:rPr lang="en-US" dirty="0"/>
              <a:t>Great for modern web and mobile apps where flexibility is important.</a:t>
            </a:r>
          </a:p>
          <a:p>
            <a:pPr fontAlgn="base"/>
            <a:r>
              <a:rPr lang="en-US" b="1" dirty="0" err="1"/>
              <a:t>gRPC</a:t>
            </a:r>
            <a:r>
              <a:rPr lang="en-US" b="1" dirty="0"/>
              <a:t> (Google Remote Procedure Call):</a:t>
            </a:r>
            <a:r>
              <a:rPr lang="en-US" dirty="0"/>
              <a:t> Uses Protocol Buffers (binary format), making it extremely fast and efficient. </a:t>
            </a:r>
          </a:p>
          <a:p>
            <a:pPr lvl="1" fontAlgn="base"/>
            <a:r>
              <a:rPr lang="en-US" dirty="0"/>
              <a:t>Designed for real-time communication between microservices. </a:t>
            </a:r>
          </a:p>
          <a:p>
            <a:pPr lvl="1" fontAlgn="base"/>
            <a:r>
              <a:rPr lang="en-US" dirty="0"/>
              <a:t>Works best in large distributed systems where performance is critical.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819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3EED7-F879-EF19-FC6B-9495E0AE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3AC4-B3EE-D830-D4FD-CC078F08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REST?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15447-4445-06BA-848F-7F7702A31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pPr fontAlgn="base"/>
            <a:r>
              <a:rPr lang="en-US" dirty="0"/>
              <a:t>REST is simple, widely supported and easy to understand. </a:t>
            </a:r>
          </a:p>
          <a:p>
            <a:pPr fontAlgn="base"/>
            <a:r>
              <a:rPr lang="en-US" dirty="0"/>
              <a:t>Works seamlessly over HTTP and is ideal for both beginners and large-scale applications.</a:t>
            </a:r>
          </a:p>
          <a:p>
            <a:pPr fontAlgn="base"/>
            <a:r>
              <a:rPr lang="en-US" dirty="0"/>
              <a:t>Has become the most common choice for building APIs today.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050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2323-7E57-8921-019A-951D68EC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5EB1-6622-44BB-A451-B72EFDC7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REST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3B88-E478-4CC3-5E5B-9042E55EB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REST APIs are widely used because they follow a set of strong design principles that make them reliable and efficient:</a:t>
            </a:r>
          </a:p>
          <a:p>
            <a:pPr fontAlgn="base"/>
            <a:r>
              <a:rPr lang="en-US" b="1" dirty="0"/>
              <a:t>Stateless:</a:t>
            </a:r>
            <a:r>
              <a:rPr lang="en-US" dirty="0"/>
              <a:t> Each request from client must contain all the information needed to process it. </a:t>
            </a:r>
          </a:p>
          <a:p>
            <a:pPr lvl="1" fontAlgn="base"/>
            <a:r>
              <a:rPr lang="en-US" dirty="0"/>
              <a:t>Server does not store any client state between requests, which makes system simpler and more scalable.</a:t>
            </a:r>
          </a:p>
          <a:p>
            <a:pPr fontAlgn="base"/>
            <a:r>
              <a:rPr lang="en-US" b="1" dirty="0"/>
              <a:t>Scalable: </a:t>
            </a:r>
            <a:r>
              <a:rPr lang="en-US" dirty="0"/>
              <a:t>Since server does not need to manage sessions, it can handle a large number of clients efficiently. </a:t>
            </a:r>
          </a:p>
          <a:p>
            <a:pPr lvl="1" fontAlgn="base"/>
            <a:r>
              <a:rPr lang="en-US" dirty="0"/>
              <a:t>Makes REST APIs suitable for applications that serve millions of users.</a:t>
            </a:r>
          </a:p>
          <a:p>
            <a:pPr fontAlgn="base"/>
            <a:r>
              <a:rPr lang="en-US" b="1" dirty="0"/>
              <a:t>Uniform Interface:</a:t>
            </a:r>
            <a:r>
              <a:rPr lang="en-US" dirty="0"/>
              <a:t> A consistent way to access resources using standard HTTP methods (GET, POST, PUT, DELETE). </a:t>
            </a:r>
          </a:p>
          <a:p>
            <a:pPr lvl="1" fontAlgn="base"/>
            <a:r>
              <a:rPr lang="en-US" dirty="0"/>
              <a:t>Ensures that different clients (web, mobile, IoT devices) can interact with the API in the same way.</a:t>
            </a:r>
          </a:p>
          <a:p>
            <a:pPr fontAlgn="base"/>
            <a:r>
              <a:rPr lang="en-US" b="1" dirty="0"/>
              <a:t>Cacheable:</a:t>
            </a:r>
            <a:r>
              <a:rPr lang="en-US" dirty="0"/>
              <a:t> Responses from the server can be cached by clients or intermediaries.</a:t>
            </a:r>
          </a:p>
          <a:p>
            <a:pPr lvl="1" fontAlgn="base"/>
            <a:r>
              <a:rPr lang="en-US" dirty="0"/>
              <a:t> This reduces repeated calls to the server, improving performance and reducing load.</a:t>
            </a:r>
          </a:p>
          <a:p>
            <a:pPr fontAlgn="base"/>
            <a:r>
              <a:rPr lang="en-US" b="1" dirty="0"/>
              <a:t>Layered System: </a:t>
            </a:r>
            <a:r>
              <a:rPr lang="en-US" dirty="0"/>
              <a:t>The client does not need to know the internal structure of the server. </a:t>
            </a:r>
          </a:p>
          <a:p>
            <a:pPr lvl="1" fontAlgn="base"/>
            <a:r>
              <a:rPr lang="en-US" dirty="0"/>
              <a:t>REST APIs can use multiple layers (like load balancers, security layers or proxy servers) without affecting how the client interacts with the service.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755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B05C-D20D-8504-C204-97ED0E55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9BAE-3825-5C13-A733-ECBC5F0C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Examples of REST API Usage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B5C3-7D54-8F83-171C-B8834DC0B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REST APIs power many of the applications we use every day:</a:t>
            </a:r>
          </a:p>
          <a:p>
            <a:pPr fontAlgn="base"/>
            <a:r>
              <a:rPr lang="en-US" b="1" dirty="0"/>
              <a:t>Social Media:</a:t>
            </a:r>
            <a:r>
              <a:rPr lang="en-US" dirty="0"/>
              <a:t> Retrieving posts, likes and comments in apps like Instagram or Twitter.</a:t>
            </a:r>
          </a:p>
          <a:p>
            <a:pPr fontAlgn="base"/>
            <a:r>
              <a:rPr lang="en-US" b="1" dirty="0"/>
              <a:t>Online Payments:</a:t>
            </a:r>
            <a:r>
              <a:rPr lang="en-US" dirty="0"/>
              <a:t> Services like Stripe or PayPal process secure transactions through REST APIs.</a:t>
            </a:r>
          </a:p>
          <a:p>
            <a:pPr fontAlgn="base"/>
            <a:r>
              <a:rPr lang="en-US" b="1" dirty="0"/>
              <a:t>E-commerce:</a:t>
            </a:r>
            <a:r>
              <a:rPr lang="en-US" dirty="0"/>
              <a:t> Managing shopping carts, product listings and order tracking.</a:t>
            </a:r>
          </a:p>
          <a:p>
            <a:pPr fontAlgn="base"/>
            <a:r>
              <a:rPr lang="en-US" b="1" dirty="0"/>
              <a:t>Weather Services:</a:t>
            </a:r>
            <a:r>
              <a:rPr lang="en-US" dirty="0"/>
              <a:t> Delivering real-time weather updates and forecasts to apps.</a:t>
            </a:r>
          </a:p>
          <a:p>
            <a:pPr fontAlgn="base"/>
            <a:r>
              <a:rPr lang="en-US" dirty="0"/>
              <a:t>Whenever an app communicates with the internet to fetch or send data, a REST API is usually at work behind the scenes.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013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9714-4D00-09FD-34CF-375798D0E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2ED0-7977-853A-75D9-A6369A6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B070-0497-2750-F834-9DC255BB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79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95123-AA6E-0C5B-CAD9-1AF8EF4D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049B-EFD2-0AB6-8C87-7011EA0D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5945-C90F-7ECD-701E-2E8C58D5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449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8AC9-F941-B1E3-2F6B-5EE26788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833C-A3CD-4C18-B49A-D3CE5A68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728C0-BCBA-1EA1-A3E8-00CC24238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870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97FD-89E6-CFBF-F883-DC9D74FC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724B-516A-4142-1B8F-C60978597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C6CCB-4F68-04AC-AE52-A63A3FDC0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387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1515-58E3-5ACD-725D-50DE597E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63EA-E11A-028A-EE2D-C8A901BA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AA39B-2AA1-3FBC-247F-1EA3FDAD3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835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9EA9B-5464-559B-6FF0-595BEBFB3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FB3C-B886-EF83-7E72-33D4D161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2E500-1179-6497-2C1E-677709CD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217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7217-A055-7D93-EE6E-B7AACF11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F7B9-3C4A-D87A-8670-D49F389E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68C51-56C3-553D-DBB3-AB54F3EBF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916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9435-5E28-B50C-8E88-3956D062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2070-1FBD-394C-8EEB-739E4CF7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EE31E-1A20-7FD2-BCA9-CC5679C42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182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B798-4B16-C0EA-280F-433E5478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3ED2-3056-5C59-5769-CDEA1D73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6A57-26F5-D24F-7CE8-1B5CEC9B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402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A360-6D91-00CA-2AFA-E78A9FC8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0435-510A-D0C2-1D7D-DAF1D05A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E4A85-F39E-9935-511E-670F83B55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222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9E6A-F767-26DA-0352-C17DC84A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C72A-A56A-5633-1890-33D7F021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A2BF1-0DF3-3273-9135-851ABAFBB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682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51F0C-55EE-3842-927C-9F128B1E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7118-AFC0-90ED-568D-26DC09C8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EBC98-0A93-07F1-62F7-BFC8E54C1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544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7CAF-B4AC-2F99-2250-EDD7896C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834-565F-917E-A310-BF50FD9B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398A-F735-89E7-B296-63F18B482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625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4A66-F44C-4B50-3AFB-BAF4A62D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909D-4E77-F7D7-0D83-EBE0DAE47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C0B1-F0BD-0E92-B2B0-CA4FC4C0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546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867D-0904-DE9B-E35F-42B140AB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65F-AC6B-544B-AEBA-9AAA9B04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8942F-5CFB-8B08-82DA-7ACDBEE7E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140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4CE1-94FF-94C1-17C4-3264FFD75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375C-1300-7751-DDA7-A78E2054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295F9-7915-4215-A041-52686C8F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750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632FA-0A7F-5143-5C4F-F6962140C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AA30-0611-022E-4E61-E2D92101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5281-78F0-C163-9503-B3828A096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075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23BF-A8C5-FEFD-3510-36E5FEE4E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59E0-796D-74D7-E738-6958E0F6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079B-DB5B-B950-ED92-FE8D5C5B1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5656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8467-EF25-A437-325B-D2AE6BF0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6E0A-40D2-D99E-B3E3-32C3D8A9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2885B-97DF-7F3C-1162-35DD9375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702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5757-E408-F3F2-3CB0-434B9253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DCBD-257F-DF48-EE2C-9D6AF77A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F1FE1-A716-DB88-2731-C4FB01215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213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7F60A-5B0E-291F-BDD8-D9C52112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31E2-C4A3-E400-F987-DBEB659F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6C4F-55FB-D753-DF79-DC9A20EA2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422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527F-B47A-4FE0-4BA1-C8CE9A7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5FCD-1D0A-C547-22D5-3D5FB19D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BEEF-DE09-FE46-5A68-2C505654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6943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FD20-7E31-6A03-2A15-17343932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7C4A-FFFB-01F7-9323-0F65434B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F4BA4-91B4-46F3-E961-7702356B9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7721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AC99-4C44-AA7B-3F28-F57AA32E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15D9-2210-1700-CDF1-FD598AF8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1868-7FE3-488F-7C5C-0282BB350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067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B9F9-482A-F600-0937-8355CA34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6D3B-4982-CC1F-A760-3067399BA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7871D-3D7C-8542-43E7-CAEBBA4CB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0512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A765-6EE0-188C-03F7-AA77705E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6020-50AE-4375-9789-0606B5F8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006CA-0790-7D48-89C4-624CD8EE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4528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2B0E-9E6D-0D9B-ACCC-0226639B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65EC-5AF0-D5FF-9970-A09990FE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0C65-A06D-E245-8A6D-FB3B6088A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9218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D1DE-1326-2BC3-1BD9-EB13A0C8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C7B9-3F40-ABD5-BCA7-E992D3AF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6498-E190-A74C-B3D5-3CF650784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003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2866-C4C3-75F6-D1F1-E788C05C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92DF-851A-4FA1-C275-56D21435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678F-305D-97A9-C12C-713D1F4D1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2613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8CF9-1BE7-F941-E48E-3E19DA4F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3077-BF42-DEBF-B44A-A63A30D1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F41D-CE04-0401-C483-87C28B3F2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6064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C76C-4FAF-B935-1908-9FA0F40B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F4A7-6F70-C04D-8383-7FE568AA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CCC1F-8F30-6922-82F4-72C2CF311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603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4F6D-C69B-FE0A-CB5B-259CEEF4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648A-1E91-BE2B-A562-2BAD6E78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6672-D1BD-1AF3-43F0-4E7C72E9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52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9715-B582-D70B-BD1A-9943FDEC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5FAE-1B04-B2EC-C083-A677EEA1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B6C77-2DDA-40F0-7FA8-2AAC5A3D5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6000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7E83-EEE3-C8E2-7812-FC1D4548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C078-FEE5-38E3-1ECA-9BA0B52A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93F39-A379-9A71-CC46-A403E0EB1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3719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137C-5DA0-199A-AA73-EDF59CB8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F6D-2C20-474A-DCF7-058C91FD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ECF04-2891-72F9-D63A-C5F5F45AB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2026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2F10-00A4-E4B5-FDF0-420D81CF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798E1-97C5-4945-08B0-13F30EA7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FDA06-E7EF-07CA-0156-5F4A20C8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0623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FC3D-5E53-CA0D-2755-F78EEE40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36DA-916A-834D-A5AF-2B5F6B9B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2604-89BB-7B3E-01B0-AB2C437F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076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8452-09B9-CFBD-B3C8-5B1EC2B4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0B2F-BCAA-5724-6C59-4753C32F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EA15-2E3C-F123-A102-5349682EB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77683" cy="382995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632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{B53089E5-822E-48AC-9A6C-7CBF9DB55077}tf02900722</Template>
  <TotalTime>2354</TotalTime>
  <Words>2522</Words>
  <Application>Microsoft Office PowerPoint</Application>
  <PresentationFormat>Widescreen</PresentationFormat>
  <Paragraphs>236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Century Gothic</vt:lpstr>
      <vt:lpstr>Consolas</vt:lpstr>
      <vt:lpstr>Wingdings 3</vt:lpstr>
      <vt:lpstr>Ion Boardroom</vt:lpstr>
      <vt:lpstr>Introduction to FastApi</vt:lpstr>
      <vt:lpstr>Introduction to FastAPI</vt:lpstr>
      <vt:lpstr>Fast Api</vt:lpstr>
      <vt:lpstr>Key Features of FastAPI</vt:lpstr>
      <vt:lpstr>Advanced Features</vt:lpstr>
      <vt:lpstr>Applications of FastAPI</vt:lpstr>
      <vt:lpstr>What is Pydantic?</vt:lpstr>
      <vt:lpstr>Simple Example</vt:lpstr>
      <vt:lpstr>Running the API</vt:lpstr>
      <vt:lpstr>Installation for FastAPI</vt:lpstr>
      <vt:lpstr>Installation for FastAPI</vt:lpstr>
      <vt:lpstr>Installation for FastAPI</vt:lpstr>
      <vt:lpstr>Comparison of FastAPI with Django and Flask </vt:lpstr>
      <vt:lpstr>Comparison of FastAPI with Django and Flask </vt:lpstr>
      <vt:lpstr>Comparison of FastAPI with Django and Flask </vt:lpstr>
      <vt:lpstr>Comparison of FastAPI with Django and Flask </vt:lpstr>
      <vt:lpstr>Comparison of FastAPI with Django and Flask </vt:lpstr>
      <vt:lpstr>REST</vt:lpstr>
      <vt:lpstr>PowerPoint Presentation</vt:lpstr>
      <vt:lpstr>Key Concepts of REST</vt:lpstr>
      <vt:lpstr>Types of REST APIs</vt:lpstr>
      <vt:lpstr>REST API with FastAPI</vt:lpstr>
      <vt:lpstr>REST API vs Other APIs</vt:lpstr>
      <vt:lpstr>Why REST?</vt:lpstr>
      <vt:lpstr>Features of REST API</vt:lpstr>
      <vt:lpstr>Real-World Examples of REST API Usage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25</cp:revision>
  <dcterms:created xsi:type="dcterms:W3CDTF">2025-12-06T03:38:20Z</dcterms:created>
  <dcterms:modified xsi:type="dcterms:W3CDTF">2025-12-07T18:52:24Z</dcterms:modified>
</cp:coreProperties>
</file>
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5" r:id="rId5"/>
    <p:sldId id="259" r:id="rId6"/>
    <p:sldId id="260" r:id="rId7"/>
    <p:sldId id="261" r:id="rId8"/>
    <p:sldId id="276" r:id="rId9"/>
    <p:sldId id="274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290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E0276FE-4A77-431E-B5E5-546AD6E42DDD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FDE98C9-0D39-4189-83D8-E0393D2A9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371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276FE-4A77-431E-B5E5-546AD6E42DDD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98C9-0D39-4189-83D8-E0393D2A9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668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276FE-4A77-431E-B5E5-546AD6E42DDD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98C9-0D39-4189-83D8-E0393D2A9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15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276FE-4A77-431E-B5E5-546AD6E42DDD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98C9-0D39-4189-83D8-E0393D2A9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642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276FE-4A77-431E-B5E5-546AD6E42DDD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98C9-0D39-4189-83D8-E0393D2A9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70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276FE-4A77-431E-B5E5-546AD6E42DDD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98C9-0D39-4189-83D8-E0393D2A9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570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276FE-4A77-431E-B5E5-546AD6E42DDD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98C9-0D39-4189-83D8-E0393D2A9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700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276FE-4A77-431E-B5E5-546AD6E42DDD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98C9-0D39-4189-83D8-E0393D2A9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826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276FE-4A77-431E-B5E5-546AD6E42DDD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98C9-0D39-4189-83D8-E0393D2A9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228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276FE-4A77-431E-B5E5-546AD6E42DDD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98C9-0D39-4189-83D8-E0393D2A9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880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276FE-4A77-431E-B5E5-546AD6E42DDD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98C9-0D39-4189-83D8-E0393D2A9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311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276FE-4A77-431E-B5E5-546AD6E42DDD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98C9-0D39-4189-83D8-E0393D2A9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910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276FE-4A77-431E-B5E5-546AD6E42DDD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98C9-0D39-4189-83D8-E0393D2A9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922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276FE-4A77-431E-B5E5-546AD6E42DDD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98C9-0D39-4189-83D8-E0393D2A9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7187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276FE-4A77-431E-B5E5-546AD6E42DDD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98C9-0D39-4189-83D8-E0393D2A9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658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E0276FE-4A77-431E-B5E5-546AD6E42DDD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98C9-0D39-4189-83D8-E0393D2A9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9533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E0276FE-4A77-431E-B5E5-546AD6E42DDD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98C9-0D39-4189-83D8-E0393D2A9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448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E0276FE-4A77-431E-B5E5-546AD6E42DDD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FDE98C9-0D39-4189-83D8-E0393D2A9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13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DB256-3D9F-28A9-C311-E44036BAA0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Middlewares</a:t>
            </a:r>
            <a:r>
              <a:rPr lang="en-IN" dirty="0"/>
              <a:t> in </a:t>
            </a:r>
            <a:r>
              <a:rPr lang="en-IN" dirty="0" err="1"/>
              <a:t>fastapi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244DF1-D856-7688-CB91-A4274F87E5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Anju munoth</a:t>
            </a:r>
          </a:p>
        </p:txBody>
      </p:sp>
    </p:spTree>
    <p:extLst>
      <p:ext uri="{BB962C8B-B14F-4D97-AF65-F5344CB8AC3E}">
        <p14:creationId xmlns:p14="http://schemas.microsoft.com/office/powerpoint/2010/main" val="4166848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6DD11-6FAC-88BC-7AF2-D19C78162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Middleware?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252C-3004-B30C-247F-6A7B3F3F9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38940" cy="3741316"/>
          </a:xfrm>
        </p:spPr>
        <p:txBody>
          <a:bodyPr>
            <a:normAutofit/>
          </a:bodyPr>
          <a:lstStyle/>
          <a:p>
            <a:r>
              <a:rPr lang="en-US" dirty="0"/>
              <a:t>Middleware is a software component that sits between the server receiving a request and the route handlers that process it. </a:t>
            </a:r>
          </a:p>
          <a:p>
            <a:r>
              <a:rPr lang="en-US" dirty="0"/>
              <a:t>Think of middleware as a series of functions that run </a:t>
            </a:r>
            <a:r>
              <a:rPr lang="en-US" b="1" dirty="0"/>
              <a:t>before</a:t>
            </a:r>
            <a:r>
              <a:rPr lang="en-US" dirty="0"/>
              <a:t> your route handlers process the request or </a:t>
            </a:r>
            <a:r>
              <a:rPr lang="en-US" b="1" dirty="0"/>
              <a:t>after</a:t>
            </a:r>
            <a:r>
              <a:rPr lang="en-US" dirty="0"/>
              <a:t> your route handlers generate a response.</a:t>
            </a:r>
          </a:p>
          <a:p>
            <a:r>
              <a:rPr lang="en-US" dirty="0"/>
              <a:t>In </a:t>
            </a:r>
            <a:r>
              <a:rPr lang="en-US" dirty="0" err="1"/>
              <a:t>FastAPI</a:t>
            </a:r>
            <a:r>
              <a:rPr lang="en-US" dirty="0"/>
              <a:t>, middleware allows you to:</a:t>
            </a:r>
          </a:p>
          <a:p>
            <a:r>
              <a:rPr lang="en-US" dirty="0"/>
              <a:t>Execute code for every request before it's processed by your route handlers</a:t>
            </a:r>
          </a:p>
          <a:p>
            <a:r>
              <a:rPr lang="en-US" dirty="0"/>
              <a:t>Execute code for every response after it's generated by your route handlers</a:t>
            </a:r>
          </a:p>
          <a:p>
            <a:r>
              <a:rPr lang="en-US" dirty="0"/>
              <a:t>Modify incoming requests</a:t>
            </a:r>
          </a:p>
          <a:p>
            <a:r>
              <a:rPr lang="en-US" dirty="0"/>
              <a:t>Modify outgoing responses</a:t>
            </a:r>
          </a:p>
          <a:p>
            <a:r>
              <a:rPr lang="en-US" dirty="0"/>
              <a:t>Handle cross-cutting concerns like authentication, logging, or CORS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4267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1EC23-E558-E9A4-FFED-757428ABD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27630-C4E8-6CD6-4EB2-3D6C7EC16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Middleware Works in </a:t>
            </a:r>
            <a:r>
              <a:rPr lang="en-US" b="1" dirty="0" err="1"/>
              <a:t>FastAPI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E9AA4-7DC1-A61D-DEF3-44D73004E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38940" cy="3741316"/>
          </a:xfrm>
        </p:spPr>
        <p:txBody>
          <a:bodyPr/>
          <a:lstStyle/>
          <a:p>
            <a:r>
              <a:rPr lang="en-US" dirty="0"/>
              <a:t>Middleware is implemented using the ASGI (Asynchronous Server Gateway Interface) specification. </a:t>
            </a:r>
          </a:p>
          <a:p>
            <a:r>
              <a:rPr lang="en-US" dirty="0"/>
              <a:t>When a request comes in, it flows through all registered middleware in the order they were added before reaching your route handlers. </a:t>
            </a:r>
          </a:p>
          <a:p>
            <a:r>
              <a:rPr lang="en-US" dirty="0"/>
              <a:t>After your route handler generates a response, the middleware is executed again in reverse order.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6807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9D3FB-7897-6751-50C6-5A969524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Understanding Middleware in </a:t>
            </a:r>
            <a:r>
              <a:rPr lang="en-US" b="1" dirty="0" err="1"/>
              <a:t>FastAPI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8430E-F105-BEB5-C481-7F0AF60F0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56385" cy="3969916"/>
          </a:xfrm>
        </p:spPr>
        <p:txBody>
          <a:bodyPr>
            <a:normAutofit/>
          </a:bodyPr>
          <a:lstStyle/>
          <a:p>
            <a:r>
              <a:rPr lang="en-US" dirty="0"/>
              <a:t>Middleware receives every request before it's processed by your route handlers</a:t>
            </a:r>
          </a:p>
          <a:p>
            <a:r>
              <a:rPr lang="en-US" dirty="0"/>
              <a:t>It can perform operations on the request</a:t>
            </a:r>
          </a:p>
          <a:p>
            <a:r>
              <a:rPr lang="en-US" dirty="0"/>
              <a:t>It then passes the request to the next middleware or route handler</a:t>
            </a:r>
          </a:p>
          <a:p>
            <a:r>
              <a:rPr lang="en-US" dirty="0"/>
              <a:t>After the response is generated, middleware can also modify the response before it's sent back to the client</a:t>
            </a:r>
          </a:p>
          <a:p>
            <a:r>
              <a:rPr lang="en-US" dirty="0"/>
              <a:t>Middleware is executed in reverse order for responses (last registered middleware processes the response first)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4982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1915A-B9DD-2E06-8B28-28D8FC5C5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48A6E-2DB1-B55B-95B8-7065BF658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23AAD-AE6A-849D-5F27-12CA63402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876" y="2458875"/>
            <a:ext cx="5637732" cy="3741316"/>
          </a:xfrm>
          <a:solidFill>
            <a:schemeClr val="accent2"/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@app.middleware("http")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async def </a:t>
            </a:r>
            <a:r>
              <a:rPr lang="en-US" dirty="0" err="1">
                <a:solidFill>
                  <a:schemeClr val="bg1"/>
                </a:solidFill>
              </a:rPr>
              <a:t>my_middleware</a:t>
            </a:r>
            <a:r>
              <a:rPr lang="en-US" dirty="0">
                <a:solidFill>
                  <a:schemeClr val="bg1"/>
                </a:solidFill>
              </a:rPr>
              <a:t>(request: Request, </a:t>
            </a:r>
            <a:r>
              <a:rPr lang="en-US" dirty="0" err="1">
                <a:solidFill>
                  <a:schemeClr val="bg1"/>
                </a:solidFill>
              </a:rPr>
              <a:t>call_next</a:t>
            </a:r>
            <a:r>
              <a:rPr lang="en-US" dirty="0">
                <a:solidFill>
                  <a:schemeClr val="bg1"/>
                </a:solidFill>
              </a:rPr>
              <a:t>):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# Code to run before the request is processed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response = await </a:t>
            </a:r>
            <a:r>
              <a:rPr lang="en-US" dirty="0" err="1">
                <a:solidFill>
                  <a:schemeClr val="bg1"/>
                </a:solidFill>
              </a:rPr>
              <a:t>call_next</a:t>
            </a:r>
            <a:r>
              <a:rPr lang="en-US" dirty="0">
                <a:solidFill>
                  <a:schemeClr val="bg1"/>
                </a:solidFill>
              </a:rPr>
              <a:t>(request)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# Code to run after the request is processed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return response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34A949-949B-322D-8CE4-ABB0BDB35D9B}"/>
              </a:ext>
            </a:extLst>
          </p:cNvPr>
          <p:cNvSpPr txBox="1"/>
          <p:nvPr/>
        </p:nvSpPr>
        <p:spPr>
          <a:xfrm>
            <a:off x="6096778" y="3183052"/>
            <a:ext cx="6095222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25"/>
              </a:spcAft>
              <a:buNone/>
            </a:pPr>
            <a:r>
              <a:rPr lang="en-US" b="0" i="0" dirty="0">
                <a:effectLst/>
                <a:latin typeface="system-ui"/>
              </a:rPr>
              <a:t>Let's break down the components:</a:t>
            </a:r>
          </a:p>
          <a:p>
            <a:pPr algn="l">
              <a:spcAft>
                <a:spcPts val="1140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SFMono-Regular"/>
              </a:rPr>
              <a:t>@app.middleware("http")</a:t>
            </a:r>
            <a:r>
              <a:rPr lang="en-US" b="0" i="0" dirty="0">
                <a:effectLst/>
                <a:latin typeface="system-ui"/>
              </a:rPr>
              <a:t> - A decorator that registers a function as middleware</a:t>
            </a:r>
          </a:p>
          <a:p>
            <a:pPr algn="l">
              <a:spcBef>
                <a:spcPts val="285"/>
              </a:spcBef>
              <a:spcAft>
                <a:spcPts val="1140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SFMono-Regular"/>
              </a:rPr>
              <a:t>request</a:t>
            </a:r>
            <a:r>
              <a:rPr lang="en-US" b="0" i="0" dirty="0">
                <a:effectLst/>
                <a:latin typeface="system-ui"/>
              </a:rPr>
              <a:t> - The incoming request object</a:t>
            </a:r>
          </a:p>
          <a:p>
            <a:pPr algn="l">
              <a:spcBef>
                <a:spcPts val="285"/>
              </a:spcBef>
              <a:spcAft>
                <a:spcPts val="1140"/>
              </a:spcAft>
              <a:buFont typeface="+mj-lt"/>
              <a:buAutoNum type="arabicPeriod"/>
            </a:pPr>
            <a:r>
              <a:rPr lang="en-US" b="0" i="0" dirty="0" err="1">
                <a:effectLst/>
                <a:latin typeface="SFMono-Regular"/>
              </a:rPr>
              <a:t>call_next</a:t>
            </a:r>
            <a:r>
              <a:rPr lang="en-US" b="0" i="0" dirty="0">
                <a:effectLst/>
                <a:latin typeface="system-ui"/>
              </a:rPr>
              <a:t> - A function that passes the request to the next middleware or route handler</a:t>
            </a:r>
          </a:p>
          <a:p>
            <a:pPr algn="l">
              <a:spcBef>
                <a:spcPts val="285"/>
              </a:spcBef>
              <a:spcAft>
                <a:spcPts val="1140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SFMono-Regular"/>
              </a:rPr>
              <a:t>response</a:t>
            </a:r>
            <a:r>
              <a:rPr lang="en-US" b="0" i="0" dirty="0">
                <a:effectLst/>
                <a:latin typeface="system-ui"/>
              </a:rPr>
              <a:t> - The response generated by your route handler or the next middleware</a:t>
            </a:r>
          </a:p>
        </p:txBody>
      </p:sp>
    </p:spTree>
    <p:extLst>
      <p:ext uri="{BB962C8B-B14F-4D97-AF65-F5344CB8AC3E}">
        <p14:creationId xmlns:p14="http://schemas.microsoft.com/office/powerpoint/2010/main" val="792813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B1E7A-49CF-4767-B58F-3BA5FA10E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7E252-495D-320B-D749-CBE410D9B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CORS Middleware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B66A2-277F-5B77-23FF-0C767F8B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38940" cy="374131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Cross-Origin Resource Sharing (CORS) middleware allows you to control which domains can access your API:</a:t>
            </a:r>
          </a:p>
          <a:p>
            <a:r>
              <a:rPr lang="en-IN" i="1" dirty="0"/>
              <a:t>from</a:t>
            </a:r>
            <a:r>
              <a:rPr lang="en-IN" dirty="0"/>
              <a:t> </a:t>
            </a:r>
            <a:r>
              <a:rPr lang="en-IN" dirty="0" err="1"/>
              <a:t>fastapi.middleware.cors</a:t>
            </a:r>
            <a:r>
              <a:rPr lang="en-IN" dirty="0"/>
              <a:t> </a:t>
            </a:r>
            <a:r>
              <a:rPr lang="en-IN" i="1" dirty="0"/>
              <a:t>import</a:t>
            </a:r>
            <a:r>
              <a:rPr lang="en-IN" dirty="0"/>
              <a:t> </a:t>
            </a:r>
            <a:r>
              <a:rPr lang="en-IN" dirty="0" err="1"/>
              <a:t>CORSMiddleware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()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app.add_middleware</a:t>
            </a:r>
            <a:r>
              <a:rPr lang="en-IN" dirty="0"/>
              <a:t>(</a:t>
            </a:r>
            <a:br>
              <a:rPr lang="en-IN" dirty="0"/>
            </a:br>
            <a:r>
              <a:rPr lang="en-IN" dirty="0" err="1"/>
              <a:t>CORSMiddleware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 err="1"/>
              <a:t>allow_origins</a:t>
            </a:r>
            <a:r>
              <a:rPr lang="en-IN" dirty="0"/>
              <a:t>=["https://frontend.example.com"],</a:t>
            </a:r>
            <a:br>
              <a:rPr lang="en-IN" dirty="0"/>
            </a:br>
            <a:r>
              <a:rPr lang="en-IN" dirty="0" err="1"/>
              <a:t>allow_credentials</a:t>
            </a:r>
            <a:r>
              <a:rPr lang="en-IN" dirty="0"/>
              <a:t>=True,</a:t>
            </a:r>
            <a:br>
              <a:rPr lang="en-IN" dirty="0"/>
            </a:br>
            <a:r>
              <a:rPr lang="en-IN" dirty="0" err="1"/>
              <a:t>allow_methods</a:t>
            </a:r>
            <a:r>
              <a:rPr lang="en-IN" dirty="0"/>
              <a:t>=["*"],</a:t>
            </a:r>
            <a:br>
              <a:rPr lang="en-IN" dirty="0"/>
            </a:br>
            <a:r>
              <a:rPr lang="en-IN" dirty="0" err="1"/>
              <a:t>allow_headers</a:t>
            </a:r>
            <a:r>
              <a:rPr lang="en-IN" dirty="0"/>
              <a:t>=["*"],</a:t>
            </a:r>
            <a:br>
              <a:rPr lang="en-IN" dirty="0"/>
            </a:br>
            <a:r>
              <a:rPr lang="en-IN" dirty="0"/>
              <a:t>)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9264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58C08-C072-D453-0A7B-ECD314CC9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FFF6D-B710-E33B-1A75-CB3398B5C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Order of Middleware Execution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E9D05-8703-E68C-A99D-1F73BC0CA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38940" cy="3741316"/>
          </a:xfrm>
        </p:spPr>
        <p:txBody>
          <a:bodyPr>
            <a:normAutofit fontScale="92500"/>
          </a:bodyPr>
          <a:lstStyle/>
          <a:p>
            <a:r>
              <a:rPr lang="en-US" dirty="0"/>
              <a:t>The order in which you add middleware matters.</a:t>
            </a:r>
          </a:p>
          <a:p>
            <a:r>
              <a:rPr lang="en-US" dirty="0"/>
              <a:t> Middleware is executed in the order they are added</a:t>
            </a:r>
          </a:p>
          <a:p>
            <a:r>
              <a:rPr lang="en-US" dirty="0"/>
              <a:t>middleware executes in a "nested" pattern, with the last middleware added being the first to process the request.</a:t>
            </a:r>
          </a:p>
          <a:p>
            <a:r>
              <a:rPr lang="en-US" dirty="0"/>
              <a:t>Middleware is executed in the </a:t>
            </a:r>
            <a:r>
              <a:rPr lang="en-US" b="1" dirty="0"/>
              <a:t>reverse order</a:t>
            </a:r>
            <a:r>
              <a:rPr lang="en-US" dirty="0"/>
              <a:t> of registration</a:t>
            </a:r>
          </a:p>
          <a:p>
            <a:r>
              <a:rPr lang="en-US" dirty="0"/>
              <a:t>For incoming requests, middleware is processed from the outside in (last added → first added)</a:t>
            </a:r>
          </a:p>
          <a:p>
            <a:r>
              <a:rPr lang="en-US" dirty="0"/>
              <a:t>For outgoing responses, middleware is processed from the inside out (first added → last added)</a:t>
            </a:r>
          </a:p>
          <a:p>
            <a:r>
              <a:rPr lang="en-US" dirty="0"/>
              <a:t>This flow creates a "nesting doll" pattern that can be visualized as:</a:t>
            </a:r>
          </a:p>
          <a:p>
            <a:pPr marL="0" indent="0">
              <a:buNone/>
            </a:pPr>
            <a:r>
              <a:rPr lang="en-US" b="1" dirty="0"/>
              <a:t>Request → Middleware 3 → Middleware 2 → Middleware 1 → Route Handler → Middleware 1 → Middleware 2 → Middleware 3 → Response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8966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F693A-DA3A-42C5-4D9B-B7298468E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Middleware Order Matters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0C6D3-9665-2332-5CFF-1AC625403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70381" cy="375064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Execution order of middleware is crucial for several reasons:</a:t>
            </a:r>
          </a:p>
          <a:p>
            <a:r>
              <a:rPr lang="en-US" b="1" dirty="0"/>
              <a:t>Dependencies between middleware</a:t>
            </a:r>
            <a:r>
              <a:rPr lang="en-US" dirty="0"/>
              <a:t>: One middleware might depend on data processed by another</a:t>
            </a:r>
          </a:p>
          <a:p>
            <a:r>
              <a:rPr lang="en-US" b="1" dirty="0"/>
              <a:t>Authentication and authorization</a:t>
            </a:r>
            <a:r>
              <a:rPr lang="en-US" dirty="0"/>
              <a:t>: Security checks should typically happen before processing the request body</a:t>
            </a:r>
          </a:p>
          <a:p>
            <a:r>
              <a:rPr lang="en-US" b="1" dirty="0"/>
              <a:t>Performance optimization</a:t>
            </a:r>
            <a:r>
              <a:rPr lang="en-US" dirty="0"/>
              <a:t>: Expensive operations should be placed strategically</a:t>
            </a:r>
          </a:p>
          <a:p>
            <a:r>
              <a:rPr lang="en-US" b="1" dirty="0"/>
              <a:t>Error handling</a:t>
            </a:r>
            <a:r>
              <a:rPr lang="en-US" dirty="0"/>
              <a:t>: How errors propagate through your middleware stack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8027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43F1D8-22B2-AFEF-0791-44E75E64EE9E}"/>
              </a:ext>
            </a:extLst>
          </p:cNvPr>
          <p:cNvSpPr txBox="1"/>
          <p:nvPr/>
        </p:nvSpPr>
        <p:spPr>
          <a:xfrm>
            <a:off x="737118" y="328848"/>
            <a:ext cx="840571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from </a:t>
            </a:r>
            <a:r>
              <a:rPr lang="en-IN" dirty="0" err="1"/>
              <a:t>fastapi</a:t>
            </a:r>
            <a:r>
              <a:rPr lang="en-IN" dirty="0"/>
              <a:t> import </a:t>
            </a:r>
            <a:r>
              <a:rPr lang="en-IN" dirty="0" err="1"/>
              <a:t>FastAPI</a:t>
            </a:r>
            <a:r>
              <a:rPr lang="en-IN" dirty="0"/>
              <a:t>, Request</a:t>
            </a:r>
          </a:p>
          <a:p>
            <a:endParaRPr lang="en-IN" dirty="0"/>
          </a:p>
          <a:p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@app.middleware("http")</a:t>
            </a:r>
          </a:p>
          <a:p>
            <a:r>
              <a:rPr lang="en-IN" dirty="0"/>
              <a:t>async def middleware1(request: Request, </a:t>
            </a:r>
            <a:r>
              <a:rPr lang="en-IN" dirty="0" err="1"/>
              <a:t>call_next</a:t>
            </a:r>
            <a:r>
              <a:rPr lang="en-IN" dirty="0"/>
              <a:t>):</a:t>
            </a:r>
          </a:p>
          <a:p>
            <a:r>
              <a:rPr lang="en-IN" dirty="0"/>
              <a:t>    print("Middleware 1 - Before")</a:t>
            </a:r>
          </a:p>
          <a:p>
            <a:r>
              <a:rPr lang="en-IN" dirty="0"/>
              <a:t>    response = await </a:t>
            </a:r>
            <a:r>
              <a:rPr lang="en-IN" dirty="0" err="1"/>
              <a:t>call_next</a:t>
            </a:r>
            <a:r>
              <a:rPr lang="en-IN" dirty="0"/>
              <a:t>(request)</a:t>
            </a:r>
          </a:p>
          <a:p>
            <a:r>
              <a:rPr lang="en-IN" dirty="0"/>
              <a:t>    print("Middleware 1 - After")</a:t>
            </a:r>
          </a:p>
          <a:p>
            <a:r>
              <a:rPr lang="en-IN" dirty="0"/>
              <a:t>    return response</a:t>
            </a:r>
          </a:p>
          <a:p>
            <a:endParaRPr lang="en-IN" dirty="0"/>
          </a:p>
          <a:p>
            <a:r>
              <a:rPr lang="en-IN" dirty="0"/>
              <a:t>@app.middleware("http")</a:t>
            </a:r>
          </a:p>
          <a:p>
            <a:r>
              <a:rPr lang="en-IN" dirty="0"/>
              <a:t>async def middleware2(request: Request, </a:t>
            </a:r>
            <a:r>
              <a:rPr lang="en-IN" dirty="0" err="1"/>
              <a:t>call_next</a:t>
            </a:r>
            <a:r>
              <a:rPr lang="en-IN" dirty="0"/>
              <a:t>):</a:t>
            </a:r>
          </a:p>
          <a:p>
            <a:r>
              <a:rPr lang="en-IN" dirty="0"/>
              <a:t>    print("Middleware 2 - Before")</a:t>
            </a:r>
          </a:p>
          <a:p>
            <a:r>
              <a:rPr lang="en-IN" dirty="0"/>
              <a:t>    response = await </a:t>
            </a:r>
            <a:r>
              <a:rPr lang="en-IN" dirty="0" err="1"/>
              <a:t>call_next</a:t>
            </a:r>
            <a:r>
              <a:rPr lang="en-IN" dirty="0"/>
              <a:t>(request)</a:t>
            </a:r>
          </a:p>
          <a:p>
            <a:r>
              <a:rPr lang="en-IN" dirty="0"/>
              <a:t>    print("Middleware 2 - After")</a:t>
            </a:r>
          </a:p>
          <a:p>
            <a:r>
              <a:rPr lang="en-IN" dirty="0"/>
              <a:t>    return response</a:t>
            </a:r>
          </a:p>
          <a:p>
            <a:endParaRPr lang="en-IN" dirty="0"/>
          </a:p>
          <a:p>
            <a:r>
              <a:rPr lang="en-IN" dirty="0"/>
              <a:t>@app.get("/")</a:t>
            </a:r>
          </a:p>
          <a:p>
            <a:r>
              <a:rPr lang="en-IN" dirty="0"/>
              <a:t>async def root():</a:t>
            </a:r>
          </a:p>
          <a:p>
            <a:r>
              <a:rPr lang="en-IN" dirty="0"/>
              <a:t>    print("Route handler executed")</a:t>
            </a:r>
          </a:p>
          <a:p>
            <a:r>
              <a:rPr lang="en-IN" dirty="0"/>
              <a:t>    return {"message": "Hello World"}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DCFC8E-0EF9-D857-A32E-B69062A1B695}"/>
              </a:ext>
            </a:extLst>
          </p:cNvPr>
          <p:cNvSpPr txBox="1"/>
          <p:nvPr/>
        </p:nvSpPr>
        <p:spPr>
          <a:xfrm>
            <a:off x="7590453" y="2323569"/>
            <a:ext cx="4230266" cy="221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25"/>
              </a:spcAft>
              <a:buNone/>
            </a:pPr>
            <a:r>
              <a:rPr lang="en-US" b="0" i="0" dirty="0">
                <a:solidFill>
                  <a:srgbClr val="C00000"/>
                </a:solidFill>
                <a:effectLst/>
                <a:latin typeface="system-ui"/>
              </a:rPr>
              <a:t>When you make a request to this app, the console will show:</a:t>
            </a:r>
          </a:p>
          <a:p>
            <a:pPr algn="l" rtl="0">
              <a:spcAft>
                <a:spcPts val="1425"/>
              </a:spcAft>
              <a:buNone/>
            </a:pPr>
            <a:r>
              <a:rPr lang="en-US" b="0" i="0" dirty="0">
                <a:solidFill>
                  <a:srgbClr val="C00000"/>
                </a:solidFill>
                <a:effectLst/>
                <a:latin typeface="Courier New" panose="02070309020205020404" pitchFamily="49" charset="0"/>
              </a:rPr>
              <a:t>Middleware 2 - Before</a:t>
            </a:r>
            <a:br>
              <a:rPr lang="en-US" b="0" i="0" dirty="0">
                <a:solidFill>
                  <a:srgbClr val="C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i="0" dirty="0">
                <a:solidFill>
                  <a:srgbClr val="C00000"/>
                </a:solidFill>
                <a:effectLst/>
                <a:latin typeface="Courier New" panose="02070309020205020404" pitchFamily="49" charset="0"/>
              </a:rPr>
              <a:t>Middleware 1 - Before</a:t>
            </a:r>
            <a:br>
              <a:rPr lang="en-US" b="0" i="0" dirty="0">
                <a:solidFill>
                  <a:srgbClr val="C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i="0" dirty="0">
                <a:solidFill>
                  <a:srgbClr val="C00000"/>
                </a:solidFill>
                <a:effectLst/>
                <a:latin typeface="Courier New" panose="02070309020205020404" pitchFamily="49" charset="0"/>
              </a:rPr>
              <a:t>Route handler executed</a:t>
            </a:r>
            <a:br>
              <a:rPr lang="en-US" b="0" i="0" dirty="0">
                <a:solidFill>
                  <a:srgbClr val="C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i="0" dirty="0">
                <a:solidFill>
                  <a:srgbClr val="C00000"/>
                </a:solidFill>
                <a:effectLst/>
                <a:latin typeface="Courier New" panose="02070309020205020404" pitchFamily="49" charset="0"/>
              </a:rPr>
              <a:t>Middleware 1 - After</a:t>
            </a:r>
            <a:br>
              <a:rPr lang="en-US" b="0" i="0" dirty="0">
                <a:solidFill>
                  <a:srgbClr val="C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i="0" dirty="0">
                <a:solidFill>
                  <a:srgbClr val="C00000"/>
                </a:solidFill>
                <a:effectLst/>
                <a:latin typeface="Courier New" panose="02070309020205020404" pitchFamily="49" charset="0"/>
              </a:rPr>
              <a:t>Middleware 2 - After</a:t>
            </a:r>
            <a:endParaRPr lang="en-US" b="0" i="0" dirty="0">
              <a:solidFill>
                <a:srgbClr val="C00000"/>
              </a:solidFill>
              <a:effectLst/>
              <a:latin typeface="SFMon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082642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43E87-86A7-16EB-62BB-92CF5075D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57B0D-1FED-CC5A-011C-C5651BC18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Middleware in </a:t>
            </a:r>
            <a:r>
              <a:rPr lang="en-US" dirty="0" err="1"/>
              <a:t>FastAPI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43F3-EF2A-A24E-A311-229410460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38940" cy="3741316"/>
          </a:xfrm>
        </p:spPr>
        <p:txBody>
          <a:bodyPr/>
          <a:lstStyle/>
          <a:p>
            <a:r>
              <a:rPr lang="en-US" dirty="0"/>
              <a:t>provides a powerful way to add functionality across your entire application without repeating code in every route handler. </a:t>
            </a:r>
          </a:p>
          <a:p>
            <a:pPr marL="0" indent="0">
              <a:buNone/>
            </a:pPr>
            <a:r>
              <a:rPr lang="en-US" dirty="0"/>
              <a:t>Key points to remember:</a:t>
            </a:r>
          </a:p>
          <a:p>
            <a:r>
              <a:rPr lang="en-US" dirty="0"/>
              <a:t>Middleware runs before and after your route handlers</a:t>
            </a:r>
          </a:p>
          <a:p>
            <a:r>
              <a:rPr lang="en-US" dirty="0"/>
              <a:t>Middleware can modify both requests and responses</a:t>
            </a:r>
          </a:p>
          <a:p>
            <a:r>
              <a:rPr lang="en-US" dirty="0"/>
              <a:t>Multiple middleware are executed in the order they were added</a:t>
            </a:r>
          </a:p>
          <a:p>
            <a:r>
              <a:rPr lang="en-US" dirty="0" err="1"/>
              <a:t>FastAPI</a:t>
            </a:r>
            <a:r>
              <a:rPr lang="en-US" dirty="0"/>
              <a:t> provides built-in middleware for common tasks like CORS and compression</a:t>
            </a:r>
          </a:p>
          <a:p>
            <a:r>
              <a:rPr lang="en-US" dirty="0"/>
              <a:t>Custom middleware can be created for authentication, logging, and other cross-cutting concerns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6676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749B3-B1D2-1F60-6687-05416787E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2F5E0-33DE-2607-178A-A5BB13921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Error Handling in </a:t>
            </a:r>
            <a:r>
              <a:rPr lang="en-US" b="1" dirty="0" err="1"/>
              <a:t>FastAPI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2E79B-E5CF-6D2C-7916-471F86EA3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38940" cy="3741316"/>
          </a:xfrm>
        </p:spPr>
        <p:txBody>
          <a:bodyPr>
            <a:normAutofit/>
          </a:bodyPr>
          <a:lstStyle/>
          <a:p>
            <a:r>
              <a:rPr lang="en-US" b="1" dirty="0"/>
              <a:t>Default Exception Handlers</a:t>
            </a:r>
            <a:r>
              <a:rPr lang="en-US" dirty="0"/>
              <a:t>: </a:t>
            </a:r>
            <a:r>
              <a:rPr lang="en-US" dirty="0" err="1"/>
              <a:t>FastAPI</a:t>
            </a:r>
            <a:r>
              <a:rPr lang="en-US" dirty="0"/>
              <a:t> comes with built-in exception handlers for common HTTP errors.</a:t>
            </a:r>
          </a:p>
          <a:p>
            <a:r>
              <a:rPr lang="en-US" b="1" dirty="0"/>
              <a:t>Exception Handlers</a:t>
            </a:r>
            <a:r>
              <a:rPr lang="en-US" dirty="0"/>
              <a:t>: You can define custom exception handlers for specific exception types.</a:t>
            </a:r>
          </a:p>
          <a:p>
            <a:r>
              <a:rPr lang="en-US" b="1" dirty="0"/>
              <a:t>Error Handling Middleware</a:t>
            </a:r>
            <a:r>
              <a:rPr lang="en-US" dirty="0"/>
              <a:t>: This provides a global approach to intercept and process exceptions.</a:t>
            </a:r>
          </a:p>
          <a:p>
            <a:r>
              <a:rPr lang="en-US" dirty="0"/>
              <a:t>While the first two approaches are useful for specific situations, middleware-based error handling offers a more centralized solution, ensuring consistent error responses across your entire application.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0830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323CB-2FE8-8989-B102-B44B28FA5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38C6BD1-6211-62E4-06B2-F025A8FB72A3}"/>
              </a:ext>
            </a:extLst>
          </p:cNvPr>
          <p:cNvSpPr txBox="1"/>
          <p:nvPr/>
        </p:nvSpPr>
        <p:spPr>
          <a:xfrm>
            <a:off x="769775" y="275783"/>
            <a:ext cx="1093547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Basic Error Handling with </a:t>
            </a:r>
            <a:r>
              <a:rPr lang="en-US" b="1" dirty="0" err="1"/>
              <a:t>FastAPI</a:t>
            </a:r>
            <a:endParaRPr lang="en-US" b="1" dirty="0"/>
          </a:p>
          <a:p>
            <a:r>
              <a:rPr lang="en-US" dirty="0" err="1"/>
              <a:t>FastAPI's</a:t>
            </a:r>
            <a:r>
              <a:rPr lang="en-US" dirty="0"/>
              <a:t> default error handling is quite good out of the box. When an exception occurs, it returns an appropriate HTTP status code and a JSON response: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from </a:t>
            </a:r>
            <a:r>
              <a:rPr lang="en-US" b="1" dirty="0" err="1">
                <a:solidFill>
                  <a:srgbClr val="C00000"/>
                </a:solidFill>
              </a:rPr>
              <a:t>fastapi</a:t>
            </a:r>
            <a:r>
              <a:rPr lang="en-US" b="1" dirty="0">
                <a:solidFill>
                  <a:srgbClr val="C00000"/>
                </a:solidFill>
              </a:rPr>
              <a:t> import </a:t>
            </a:r>
            <a:r>
              <a:rPr lang="en-US" b="1" dirty="0" err="1">
                <a:solidFill>
                  <a:srgbClr val="C00000"/>
                </a:solidFill>
              </a:rPr>
              <a:t>FastAPI</a:t>
            </a:r>
            <a:r>
              <a:rPr lang="en-US" b="1" dirty="0">
                <a:solidFill>
                  <a:srgbClr val="C00000"/>
                </a:solidFill>
              </a:rPr>
              <a:t>, </a:t>
            </a:r>
            <a:r>
              <a:rPr lang="en-US" b="1" dirty="0" err="1">
                <a:solidFill>
                  <a:srgbClr val="C00000"/>
                </a:solidFill>
              </a:rPr>
              <a:t>HTTPException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app = </a:t>
            </a:r>
            <a:r>
              <a:rPr lang="en-US" b="1" dirty="0" err="1">
                <a:solidFill>
                  <a:srgbClr val="C00000"/>
                </a:solidFill>
              </a:rPr>
              <a:t>FastAPI</a:t>
            </a:r>
            <a:r>
              <a:rPr lang="en-US" b="1" dirty="0">
                <a:solidFill>
                  <a:srgbClr val="C00000"/>
                </a:solidFill>
              </a:rPr>
              <a:t>()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@app.get("/items/{item_id}")</a:t>
            </a:r>
          </a:p>
          <a:p>
            <a:r>
              <a:rPr lang="en-US" b="1" dirty="0">
                <a:solidFill>
                  <a:srgbClr val="C00000"/>
                </a:solidFill>
              </a:rPr>
              <a:t>async def </a:t>
            </a:r>
            <a:r>
              <a:rPr lang="en-US" b="1" dirty="0" err="1">
                <a:solidFill>
                  <a:srgbClr val="C00000"/>
                </a:solidFill>
              </a:rPr>
              <a:t>read_item</a:t>
            </a:r>
            <a:r>
              <a:rPr lang="en-US" b="1" dirty="0">
                <a:solidFill>
                  <a:srgbClr val="C00000"/>
                </a:solidFill>
              </a:rPr>
              <a:t>(</a:t>
            </a:r>
            <a:r>
              <a:rPr lang="en-US" b="1" dirty="0" err="1">
                <a:solidFill>
                  <a:srgbClr val="C00000"/>
                </a:solidFill>
              </a:rPr>
              <a:t>item_id</a:t>
            </a:r>
            <a:r>
              <a:rPr lang="en-US" b="1" dirty="0">
                <a:solidFill>
                  <a:srgbClr val="C00000"/>
                </a:solidFill>
              </a:rPr>
              <a:t>: int):</a:t>
            </a:r>
          </a:p>
          <a:p>
            <a:r>
              <a:rPr lang="en-US" b="1" dirty="0">
                <a:solidFill>
                  <a:srgbClr val="C00000"/>
                </a:solidFill>
              </a:rPr>
              <a:t>    if </a:t>
            </a:r>
            <a:r>
              <a:rPr lang="en-US" b="1" dirty="0" err="1">
                <a:solidFill>
                  <a:srgbClr val="C00000"/>
                </a:solidFill>
              </a:rPr>
              <a:t>item_id</a:t>
            </a:r>
            <a:r>
              <a:rPr lang="en-US" b="1" dirty="0">
                <a:solidFill>
                  <a:srgbClr val="C00000"/>
                </a:solidFill>
              </a:rPr>
              <a:t> == 42:</a:t>
            </a:r>
          </a:p>
          <a:p>
            <a:r>
              <a:rPr lang="en-US" b="1" dirty="0">
                <a:solidFill>
                  <a:srgbClr val="C00000"/>
                </a:solidFill>
              </a:rPr>
              <a:t>        raise </a:t>
            </a:r>
            <a:r>
              <a:rPr lang="en-US" b="1" dirty="0" err="1">
                <a:solidFill>
                  <a:srgbClr val="C00000"/>
                </a:solidFill>
              </a:rPr>
              <a:t>HTTPException</a:t>
            </a:r>
            <a:r>
              <a:rPr lang="en-US" b="1" dirty="0">
                <a:solidFill>
                  <a:srgbClr val="C00000"/>
                </a:solidFill>
              </a:rPr>
              <a:t>(</a:t>
            </a:r>
            <a:r>
              <a:rPr lang="en-US" b="1" dirty="0" err="1">
                <a:solidFill>
                  <a:srgbClr val="C00000"/>
                </a:solidFill>
              </a:rPr>
              <a:t>status_code</a:t>
            </a:r>
            <a:r>
              <a:rPr lang="en-US" b="1" dirty="0">
                <a:solidFill>
                  <a:srgbClr val="C00000"/>
                </a:solidFill>
              </a:rPr>
              <a:t>=404, detail="Item not found")</a:t>
            </a:r>
          </a:p>
          <a:p>
            <a:r>
              <a:rPr lang="en-US" b="1" dirty="0">
                <a:solidFill>
                  <a:srgbClr val="C00000"/>
                </a:solidFill>
              </a:rPr>
              <a:t>    return {"</a:t>
            </a:r>
            <a:r>
              <a:rPr lang="en-US" b="1" dirty="0" err="1">
                <a:solidFill>
                  <a:srgbClr val="C00000"/>
                </a:solidFill>
              </a:rPr>
              <a:t>item_id</a:t>
            </a:r>
            <a:r>
              <a:rPr lang="en-US" b="1" dirty="0">
                <a:solidFill>
                  <a:srgbClr val="C00000"/>
                </a:solidFill>
              </a:rPr>
              <a:t>": </a:t>
            </a:r>
            <a:r>
              <a:rPr lang="en-US" b="1" dirty="0" err="1">
                <a:solidFill>
                  <a:srgbClr val="C00000"/>
                </a:solidFill>
              </a:rPr>
              <a:t>item_id</a:t>
            </a:r>
            <a:r>
              <a:rPr lang="en-US" b="1" dirty="0">
                <a:solidFill>
                  <a:srgbClr val="C00000"/>
                </a:solidFill>
              </a:rPr>
              <a:t>}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dirty="0"/>
              <a:t>When a client requests /items/42, they'll receive:</a:t>
            </a:r>
          </a:p>
          <a:p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"detail": "Item not found"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With a 404 status code. But what if you need more sophisticated error handling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1652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DE9D8-DF3C-BB6F-D068-244E335FA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E6A3-618E-259F-99B3-E9D1B2EDD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Pitfalls and Troubleshooting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13D34-0B52-A118-D1DC-A6918F1CA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38940" cy="37413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working with middleware order, be aware of these common issues:</a:t>
            </a:r>
          </a:p>
          <a:p>
            <a:r>
              <a:rPr lang="en-US" b="1" dirty="0"/>
              <a:t>CORS middleware position</a:t>
            </a:r>
            <a:r>
              <a:rPr lang="en-US" dirty="0"/>
              <a:t>: Always add CORS middleware first (so it's executed last in the request flow)</a:t>
            </a:r>
          </a:p>
          <a:p>
            <a:r>
              <a:rPr lang="en-US" b="1" dirty="0"/>
              <a:t>Authentication before validation</a:t>
            </a:r>
            <a:r>
              <a:rPr lang="en-US" dirty="0"/>
              <a:t>: Ensure authentication middleware runs before request validation to avoid unnecessary processing</a:t>
            </a:r>
          </a:p>
          <a:p>
            <a:r>
              <a:rPr lang="en-US" b="1" dirty="0"/>
              <a:t>Error handling</a:t>
            </a:r>
            <a:r>
              <a:rPr lang="en-US" dirty="0"/>
              <a:t>: Make sure exceptions from inner middleware are properly caught by outer middleware</a:t>
            </a:r>
          </a:p>
          <a:p>
            <a:r>
              <a:rPr lang="en-US" b="1" dirty="0"/>
              <a:t>Testing middleware individually</a:t>
            </a:r>
            <a:r>
              <a:rPr lang="en-US" dirty="0"/>
              <a:t>: Test each middleware in isolation before combining them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1019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FB36A-CD69-1CA8-7088-FAF20B03B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62142-D01F-338F-09CD-C186EE08F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8488B-924E-574C-150C-88C4EAEA1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38940" cy="37413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0364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0EE59-B161-8827-3702-A50F7FCA9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BF6BB-34C1-1041-3B32-4C3168151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AA1E9-3A43-1E2D-12C5-388E9543B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38940" cy="37413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629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887A3-9B0D-4353-95E0-57E4353EC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FD172-75D2-A118-D1D0-D452008F5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D3B7-037D-E0D7-79EF-717A723FD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38940" cy="37413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9226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B2F79-7AB3-DD07-B3B0-2C473414F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32893-3285-425F-2E54-F1EB1DA4A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C061E-C757-7799-A41A-774E0FB66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38940" cy="37413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5954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7492E-B77C-DDA1-D2B2-AC89EE225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1BD6C-95BF-5CF8-AB3C-7D2768055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25CCD-8D56-0783-841B-F9B6703F3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38940" cy="37413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1240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1B391-8CE9-D950-8651-B3032D694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56E13-C7E3-8DED-BA5F-B25A3E103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9F733-9663-69FF-A8DC-A3EC63069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38940" cy="37413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9611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E080-E064-D3BE-C36F-DD1A2EAB8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E8CF-BEEE-F885-45D1-8AAAE41EC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9A8C0-34C3-74D9-5891-0DB51E31E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38940" cy="37413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2671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BDD27-3F8D-F96B-BAC8-DE8E2F8E1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01D83-A02D-A40F-03B1-41F5BB1CA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7881F-AC3B-6067-CD81-F65F43B77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38940" cy="37413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48492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</TotalTime>
  <Words>1158</Words>
  <Application>Microsoft Office PowerPoint</Application>
  <PresentationFormat>Widescreen</PresentationFormat>
  <Paragraphs>120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Century Gothic</vt:lpstr>
      <vt:lpstr>Courier New</vt:lpstr>
      <vt:lpstr>SFMono-Regular</vt:lpstr>
      <vt:lpstr>system-ui</vt:lpstr>
      <vt:lpstr>Wingdings 3</vt:lpstr>
      <vt:lpstr>Ion Boardroom</vt:lpstr>
      <vt:lpstr>Middlewares in fastapi</vt:lpstr>
      <vt:lpstr>What is Middleware?</vt:lpstr>
      <vt:lpstr>How Middleware Works in FastAPI</vt:lpstr>
      <vt:lpstr>Understanding Middleware in FastAPI</vt:lpstr>
      <vt:lpstr>Basic structure</vt:lpstr>
      <vt:lpstr>CORS Middleware</vt:lpstr>
      <vt:lpstr>Order of Middleware Execution</vt:lpstr>
      <vt:lpstr>Why Middleware Order Matters</vt:lpstr>
      <vt:lpstr>PowerPoint Presentation</vt:lpstr>
      <vt:lpstr>Middleware in FastAPI</vt:lpstr>
      <vt:lpstr>Error Handling in FastAPI</vt:lpstr>
      <vt:lpstr>PowerPoint Presentation</vt:lpstr>
      <vt:lpstr>Common Pitfalls and Troubleshooting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 munoth</dc:creator>
  <cp:lastModifiedBy>anju munoth</cp:lastModifiedBy>
  <cp:revision>14</cp:revision>
  <dcterms:created xsi:type="dcterms:W3CDTF">2025-12-10T02:58:54Z</dcterms:created>
  <dcterms:modified xsi:type="dcterms:W3CDTF">2025-12-10T03:14:29Z</dcterms:modified>
</cp:coreProperties>
</file>
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326" r:id="rId19"/>
    <p:sldId id="273" r:id="rId20"/>
    <p:sldId id="322" r:id="rId21"/>
    <p:sldId id="327" r:id="rId22"/>
    <p:sldId id="329" r:id="rId23"/>
    <p:sldId id="330" r:id="rId24"/>
    <p:sldId id="331" r:id="rId25"/>
    <p:sldId id="332" r:id="rId26"/>
    <p:sldId id="323" r:id="rId27"/>
    <p:sldId id="324" r:id="rId28"/>
    <p:sldId id="325" r:id="rId29"/>
    <p:sldId id="333" r:id="rId30"/>
    <p:sldId id="334" r:id="rId31"/>
    <p:sldId id="274" r:id="rId32"/>
    <p:sldId id="328" r:id="rId33"/>
    <p:sldId id="335" r:id="rId34"/>
    <p:sldId id="336" r:id="rId35"/>
    <p:sldId id="337" r:id="rId36"/>
    <p:sldId id="279" r:id="rId37"/>
    <p:sldId id="280" r:id="rId38"/>
    <p:sldId id="281" r:id="rId39"/>
    <p:sldId id="275" r:id="rId40"/>
    <p:sldId id="276" r:id="rId41"/>
    <p:sldId id="277" r:id="rId42"/>
    <p:sldId id="278" r:id="rId43"/>
    <p:sldId id="282" r:id="rId44"/>
    <p:sldId id="283" r:id="rId45"/>
    <p:sldId id="284" r:id="rId46"/>
    <p:sldId id="285" r:id="rId47"/>
    <p:sldId id="286" r:id="rId48"/>
    <p:sldId id="338" r:id="rId49"/>
    <p:sldId id="339" r:id="rId50"/>
    <p:sldId id="287" r:id="rId51"/>
    <p:sldId id="288" r:id="rId52"/>
    <p:sldId id="289" r:id="rId53"/>
    <p:sldId id="290" r:id="rId54"/>
    <p:sldId id="291" r:id="rId55"/>
    <p:sldId id="292" r:id="rId56"/>
    <p:sldId id="293" r:id="rId57"/>
    <p:sldId id="294" r:id="rId58"/>
    <p:sldId id="295" r:id="rId59"/>
    <p:sldId id="296" r:id="rId60"/>
    <p:sldId id="297" r:id="rId61"/>
    <p:sldId id="298" r:id="rId62"/>
    <p:sldId id="299" r:id="rId63"/>
    <p:sldId id="300" r:id="rId64"/>
    <p:sldId id="301" r:id="rId65"/>
    <p:sldId id="302" r:id="rId66"/>
    <p:sldId id="303" r:id="rId67"/>
    <p:sldId id="304" r:id="rId68"/>
    <p:sldId id="305" r:id="rId69"/>
    <p:sldId id="306" r:id="rId70"/>
    <p:sldId id="307" r:id="rId71"/>
    <p:sldId id="308" r:id="rId72"/>
    <p:sldId id="309" r:id="rId73"/>
    <p:sldId id="310" r:id="rId74"/>
    <p:sldId id="311" r:id="rId75"/>
    <p:sldId id="312" r:id="rId76"/>
    <p:sldId id="313" r:id="rId77"/>
    <p:sldId id="314" r:id="rId78"/>
    <p:sldId id="315" r:id="rId79"/>
    <p:sldId id="316" r:id="rId80"/>
    <p:sldId id="317" r:id="rId81"/>
    <p:sldId id="318" r:id="rId82"/>
    <p:sldId id="319" r:id="rId83"/>
    <p:sldId id="320" r:id="rId84"/>
    <p:sldId id="321" r:id="rId8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290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../Examples/paginationExample.py" TargetMode="External"/><Relationship Id="rId2" Type="http://schemas.openxmlformats.org/officeDocument/2006/relationships/hyperlink" Target="../Examples/productFilter.py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9E4AB-4032-D577-4702-56922EE59A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Request and Response in fast </a:t>
            </a:r>
            <a:r>
              <a:rPr lang="en-IN" dirty="0" err="1"/>
              <a:t>api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A9B1D5-854E-A3E9-EF9A-AC5B4D5BB9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Anju munoth</a:t>
            </a:r>
          </a:p>
        </p:txBody>
      </p:sp>
    </p:spTree>
    <p:extLst>
      <p:ext uri="{BB962C8B-B14F-4D97-AF65-F5344CB8AC3E}">
        <p14:creationId xmlns:p14="http://schemas.microsoft.com/office/powerpoint/2010/main" val="2447106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5AE86-29A6-A1D4-C22A-F17A80D9D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FastAPI</a:t>
            </a:r>
            <a:r>
              <a:rPr lang="en-IN" b="1" dirty="0"/>
              <a:t> Path Operations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4FF71-7FEF-9424-C8D3-70FA58FA2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r>
              <a:rPr lang="en-US" dirty="0"/>
              <a:t>Path operations are the core building blocks of any </a:t>
            </a:r>
            <a:r>
              <a:rPr lang="en-US" dirty="0" err="1"/>
              <a:t>FastAPI</a:t>
            </a:r>
            <a:r>
              <a:rPr lang="en-US" dirty="0"/>
              <a:t> application. </a:t>
            </a:r>
          </a:p>
          <a:p>
            <a:r>
              <a:rPr lang="en-US" dirty="0"/>
              <a:t>In web development terminology, a "path operation" refers to the combination of a </a:t>
            </a:r>
            <a:r>
              <a:rPr lang="en-US" b="1" dirty="0"/>
              <a:t>path</a:t>
            </a:r>
            <a:r>
              <a:rPr lang="en-US" dirty="0"/>
              <a:t> (URL) and an </a:t>
            </a:r>
            <a:r>
              <a:rPr lang="en-US" b="1" dirty="0"/>
              <a:t>operation</a:t>
            </a:r>
            <a:r>
              <a:rPr lang="en-US" dirty="0"/>
              <a:t> (HTTP method such as GET, POST, PUT, DELETE).</a:t>
            </a:r>
          </a:p>
          <a:p>
            <a:r>
              <a:rPr lang="en-US" dirty="0"/>
              <a:t> In </a:t>
            </a:r>
            <a:r>
              <a:rPr lang="en-US" dirty="0" err="1"/>
              <a:t>FastAPI</a:t>
            </a:r>
            <a:r>
              <a:rPr lang="en-US" dirty="0"/>
              <a:t>, these are implemented as Python functions decorated with the appropriate HTTP method decorator.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147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8AE14-6F41-140C-87D9-B7D7C9F5B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8165A-9E63-CFBF-99C8-758D822A3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Path Operations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B9685-184D-367B-17BE-F1FE7A89A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r>
              <a:rPr lang="en-US" dirty="0"/>
              <a:t>Simplest path operation - defining a route that responds to GET requests.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0" i="1" dirty="0">
                <a:solidFill>
                  <a:schemeClr val="tx1"/>
                </a:solidFill>
                <a:effectLst/>
                <a:latin typeface="SFMono-Regular"/>
              </a:rPr>
              <a:t>from</a:t>
            </a:r>
            <a:r>
              <a:rPr lang="en-US" b="0" i="0" dirty="0">
                <a:solidFill>
                  <a:schemeClr val="tx1"/>
                </a:solidFill>
                <a:effectLst/>
                <a:latin typeface="SFMono-Regular"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SFMono-Regular"/>
              </a:rPr>
              <a:t>fastapi</a:t>
            </a:r>
            <a:r>
              <a:rPr lang="en-US" b="0" i="0" dirty="0">
                <a:solidFill>
                  <a:schemeClr val="tx1"/>
                </a:solidFill>
                <a:effectLst/>
                <a:latin typeface="SFMono-Regular"/>
              </a:rPr>
              <a:t> </a:t>
            </a:r>
            <a:r>
              <a:rPr lang="en-US" b="0" i="1" dirty="0">
                <a:solidFill>
                  <a:schemeClr val="tx1"/>
                </a:solidFill>
                <a:effectLst/>
                <a:latin typeface="SFMono-Regular"/>
              </a:rPr>
              <a:t>import</a:t>
            </a:r>
            <a:r>
              <a:rPr lang="en-US" b="0" i="0" dirty="0">
                <a:solidFill>
                  <a:schemeClr val="tx1"/>
                </a:solidFill>
                <a:effectLst/>
                <a:latin typeface="SFMono-Regular"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SFMono-Regular"/>
              </a:rPr>
              <a:t>FastAPI</a:t>
            </a:r>
            <a:br>
              <a:rPr lang="en-US" b="0" i="0" dirty="0">
                <a:solidFill>
                  <a:schemeClr val="tx1"/>
                </a:solidFill>
                <a:effectLst/>
                <a:latin typeface="SFMono-Regular"/>
              </a:rPr>
            </a:br>
            <a:br>
              <a:rPr lang="en-US" b="0" i="0" dirty="0">
                <a:solidFill>
                  <a:schemeClr val="tx1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chemeClr val="tx1"/>
                </a:solidFill>
                <a:effectLst/>
                <a:latin typeface="SFMono-Regular"/>
              </a:rPr>
              <a:t>app =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SFMono-Regular"/>
              </a:rPr>
              <a:t>FastAPI</a:t>
            </a:r>
            <a:r>
              <a:rPr lang="en-US" b="0" i="0" dirty="0">
                <a:solidFill>
                  <a:schemeClr val="tx1"/>
                </a:solidFill>
                <a:effectLst/>
                <a:latin typeface="SFMono-Regular"/>
              </a:rPr>
              <a:t>()</a:t>
            </a:r>
            <a:br>
              <a:rPr lang="en-US" b="0" i="0" dirty="0">
                <a:solidFill>
                  <a:schemeClr val="tx1"/>
                </a:solidFill>
                <a:effectLst/>
                <a:latin typeface="SFMono-Regular"/>
              </a:rPr>
            </a:br>
            <a:br>
              <a:rPr lang="en-US" b="0" i="0" dirty="0">
                <a:solidFill>
                  <a:schemeClr val="tx1"/>
                </a:solidFill>
                <a:effectLst/>
                <a:latin typeface="SFMono-Regular"/>
              </a:rPr>
            </a:br>
            <a:r>
              <a:rPr lang="en-US" b="0" i="0" dirty="0">
                <a:solidFill>
                  <a:schemeClr val="tx1"/>
                </a:solidFill>
                <a:effectLst/>
                <a:latin typeface="SFMono-Regular"/>
              </a:rPr>
              <a:t>@app.get("/")</a:t>
            </a:r>
            <a:br>
              <a:rPr lang="en-US" b="0" i="0" dirty="0">
                <a:solidFill>
                  <a:schemeClr val="tx1"/>
                </a:solidFill>
                <a:effectLst/>
                <a:latin typeface="SFMono-Regular"/>
              </a:rPr>
            </a:br>
            <a:r>
              <a:rPr lang="en-US" b="0" i="1" dirty="0">
                <a:solidFill>
                  <a:schemeClr val="tx1"/>
                </a:solidFill>
                <a:effectLst/>
                <a:latin typeface="SFMono-Regular"/>
              </a:rPr>
              <a:t>def</a:t>
            </a:r>
            <a:r>
              <a:rPr lang="en-US" b="0" i="0" dirty="0">
                <a:solidFill>
                  <a:schemeClr val="tx1"/>
                </a:solidFill>
                <a:effectLst/>
                <a:latin typeface="SFMono-Regular"/>
              </a:rPr>
              <a:t>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SFMono-Regular"/>
              </a:rPr>
              <a:t>read_root</a:t>
            </a:r>
            <a:r>
              <a:rPr lang="en-US" b="0" i="0" dirty="0">
                <a:solidFill>
                  <a:schemeClr val="tx1"/>
                </a:solidFill>
                <a:effectLst/>
                <a:latin typeface="SFMono-Regular"/>
              </a:rPr>
              <a:t>():</a:t>
            </a:r>
            <a:br>
              <a:rPr lang="en-US" b="0" i="0" dirty="0">
                <a:solidFill>
                  <a:schemeClr val="tx1"/>
                </a:solidFill>
                <a:effectLst/>
                <a:latin typeface="SFMono-Regular"/>
              </a:rPr>
            </a:br>
            <a:r>
              <a:rPr lang="en-US" b="0" i="1" dirty="0">
                <a:solidFill>
                  <a:schemeClr val="tx1"/>
                </a:solidFill>
                <a:effectLst/>
                <a:latin typeface="SFMono-Regular"/>
              </a:rPr>
              <a:t>return</a:t>
            </a:r>
            <a:r>
              <a:rPr lang="en-US" b="0" i="0" dirty="0">
                <a:solidFill>
                  <a:schemeClr val="tx1"/>
                </a:solidFill>
                <a:effectLst/>
                <a:latin typeface="SFMono-Regular"/>
              </a:rPr>
              <a:t> {"message": "Hello World"}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249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A1E51-1521-0F5A-9C2D-C85EB217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B4334-1C55-8E0D-865C-03BD3DF8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HTTP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F8A49-B715-F5CC-958A-5FD9C6766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>
            <a:normAutofit/>
          </a:bodyPr>
          <a:lstStyle/>
          <a:p>
            <a:r>
              <a:rPr lang="en-US" sz="800" dirty="0" err="1"/>
              <a:t>FastAPI</a:t>
            </a:r>
            <a:r>
              <a:rPr lang="en-US" sz="800" dirty="0"/>
              <a:t> provides decorators for all standard HTTP methods:</a:t>
            </a:r>
          </a:p>
          <a:p>
            <a:pPr marL="0" indent="0">
              <a:buNone/>
            </a:pPr>
            <a:r>
              <a:rPr lang="en-US" sz="800" dirty="0">
                <a:solidFill>
                  <a:schemeClr val="accent3"/>
                </a:solidFill>
              </a:rPr>
              <a:t>@app.get("/items")</a:t>
            </a:r>
          </a:p>
          <a:p>
            <a:pPr marL="0" indent="0">
              <a:buNone/>
            </a:pPr>
            <a:r>
              <a:rPr lang="en-US" sz="800" dirty="0">
                <a:solidFill>
                  <a:schemeClr val="accent3"/>
                </a:solidFill>
              </a:rPr>
              <a:t>def </a:t>
            </a:r>
            <a:r>
              <a:rPr lang="en-US" sz="800" dirty="0" err="1">
                <a:solidFill>
                  <a:schemeClr val="accent3"/>
                </a:solidFill>
              </a:rPr>
              <a:t>read_items</a:t>
            </a:r>
            <a:r>
              <a:rPr lang="en-US" sz="800" dirty="0">
                <a:solidFill>
                  <a:schemeClr val="accent3"/>
                </a:solidFill>
              </a:rPr>
              <a:t>():</a:t>
            </a:r>
          </a:p>
          <a:p>
            <a:pPr marL="0" indent="0">
              <a:buNone/>
            </a:pPr>
            <a:r>
              <a:rPr lang="en-US" sz="800" dirty="0">
                <a:solidFill>
                  <a:schemeClr val="accent3"/>
                </a:solidFill>
              </a:rPr>
              <a:t>    return {"items": ["item1", "item2"]}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</a:rPr>
              <a:t>@app.post("/items")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</a:rPr>
              <a:t>def </a:t>
            </a:r>
            <a:r>
              <a:rPr lang="en-US" sz="800" dirty="0" err="1">
                <a:solidFill>
                  <a:srgbClr val="00B050"/>
                </a:solidFill>
              </a:rPr>
              <a:t>create_item</a:t>
            </a:r>
            <a:r>
              <a:rPr lang="en-US" sz="800" dirty="0">
                <a:solidFill>
                  <a:srgbClr val="00B050"/>
                </a:solidFill>
              </a:rPr>
              <a:t>():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</a:rPr>
              <a:t>    return {"message": "Item created"}</a:t>
            </a:r>
          </a:p>
          <a:p>
            <a:pPr marL="0" indent="0">
              <a:buNone/>
            </a:pPr>
            <a:r>
              <a:rPr lang="en-US" sz="800" dirty="0">
                <a:solidFill>
                  <a:schemeClr val="accent3"/>
                </a:solidFill>
              </a:rPr>
              <a:t>@app.put("/items/{item_id}")</a:t>
            </a:r>
          </a:p>
          <a:p>
            <a:pPr marL="0" indent="0">
              <a:buNone/>
            </a:pPr>
            <a:r>
              <a:rPr lang="en-US" sz="800" dirty="0">
                <a:solidFill>
                  <a:schemeClr val="accent3"/>
                </a:solidFill>
              </a:rPr>
              <a:t>def </a:t>
            </a:r>
            <a:r>
              <a:rPr lang="en-US" sz="800" dirty="0" err="1">
                <a:solidFill>
                  <a:schemeClr val="accent3"/>
                </a:solidFill>
              </a:rPr>
              <a:t>update_item</a:t>
            </a:r>
            <a:r>
              <a:rPr lang="en-US" sz="800" dirty="0">
                <a:solidFill>
                  <a:schemeClr val="accent3"/>
                </a:solidFill>
              </a:rPr>
              <a:t>(</a:t>
            </a:r>
            <a:r>
              <a:rPr lang="en-US" sz="800" dirty="0" err="1">
                <a:solidFill>
                  <a:schemeClr val="accent3"/>
                </a:solidFill>
              </a:rPr>
              <a:t>item_id</a:t>
            </a:r>
            <a:r>
              <a:rPr lang="en-US" sz="800" dirty="0">
                <a:solidFill>
                  <a:schemeClr val="accent3"/>
                </a:solidFill>
              </a:rPr>
              <a:t>: int):</a:t>
            </a:r>
          </a:p>
          <a:p>
            <a:pPr marL="0" indent="0">
              <a:buNone/>
            </a:pPr>
            <a:r>
              <a:rPr lang="en-US" sz="800" dirty="0">
                <a:solidFill>
                  <a:schemeClr val="accent3"/>
                </a:solidFill>
              </a:rPr>
              <a:t>    return {"message": </a:t>
            </a:r>
            <a:r>
              <a:rPr lang="en-US" sz="800" dirty="0" err="1">
                <a:solidFill>
                  <a:schemeClr val="accent3"/>
                </a:solidFill>
              </a:rPr>
              <a:t>f"Item</a:t>
            </a:r>
            <a:r>
              <a:rPr lang="en-US" sz="800" dirty="0">
                <a:solidFill>
                  <a:schemeClr val="accent3"/>
                </a:solidFill>
              </a:rPr>
              <a:t> {</a:t>
            </a:r>
            <a:r>
              <a:rPr lang="en-US" sz="800" dirty="0" err="1">
                <a:solidFill>
                  <a:schemeClr val="accent3"/>
                </a:solidFill>
              </a:rPr>
              <a:t>item_id</a:t>
            </a:r>
            <a:r>
              <a:rPr lang="en-US" sz="800" dirty="0">
                <a:solidFill>
                  <a:schemeClr val="accent3"/>
                </a:solidFill>
              </a:rPr>
              <a:t>} updated"}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</a:rPr>
              <a:t>@app.delete("/items/{item_id}")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</a:rPr>
              <a:t>def </a:t>
            </a:r>
            <a:r>
              <a:rPr lang="en-US" sz="800" dirty="0" err="1">
                <a:solidFill>
                  <a:srgbClr val="00B050"/>
                </a:solidFill>
              </a:rPr>
              <a:t>delete_item</a:t>
            </a:r>
            <a:r>
              <a:rPr lang="en-US" sz="800" dirty="0">
                <a:solidFill>
                  <a:srgbClr val="00B050"/>
                </a:solidFill>
              </a:rPr>
              <a:t>(</a:t>
            </a:r>
            <a:r>
              <a:rPr lang="en-US" sz="800" dirty="0" err="1">
                <a:solidFill>
                  <a:srgbClr val="00B050"/>
                </a:solidFill>
              </a:rPr>
              <a:t>item_id</a:t>
            </a:r>
            <a:r>
              <a:rPr lang="en-US" sz="800" dirty="0">
                <a:solidFill>
                  <a:srgbClr val="00B050"/>
                </a:solidFill>
              </a:rPr>
              <a:t>: int):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</a:rPr>
              <a:t>    return {"message": </a:t>
            </a:r>
            <a:r>
              <a:rPr lang="en-US" sz="800" dirty="0" err="1">
                <a:solidFill>
                  <a:srgbClr val="00B050"/>
                </a:solidFill>
              </a:rPr>
              <a:t>f"Item</a:t>
            </a:r>
            <a:r>
              <a:rPr lang="en-US" sz="800" dirty="0">
                <a:solidFill>
                  <a:srgbClr val="00B050"/>
                </a:solidFill>
              </a:rPr>
              <a:t> {</a:t>
            </a:r>
            <a:r>
              <a:rPr lang="en-US" sz="800" dirty="0" err="1">
                <a:solidFill>
                  <a:srgbClr val="00B050"/>
                </a:solidFill>
              </a:rPr>
              <a:t>item_id</a:t>
            </a:r>
            <a:r>
              <a:rPr lang="en-US" sz="800" dirty="0">
                <a:solidFill>
                  <a:srgbClr val="00B050"/>
                </a:solidFill>
              </a:rPr>
              <a:t>} deleted"}</a:t>
            </a:r>
          </a:p>
          <a:p>
            <a:r>
              <a:rPr lang="en-US" sz="1400" dirty="0"/>
              <a:t>Each decorator corresponds to a specific HTTP method and defines how your API responds to different types of requests.</a:t>
            </a:r>
          </a:p>
        </p:txBody>
      </p:sp>
    </p:spTree>
    <p:extLst>
      <p:ext uri="{BB962C8B-B14F-4D97-AF65-F5344CB8AC3E}">
        <p14:creationId xmlns:p14="http://schemas.microsoft.com/office/powerpoint/2010/main" val="2720463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77903-5D18-238E-34E9-4DFB7EB31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E8460-4F1E-55C9-C10E-5D0CDCBA6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Path Parameters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A29C2-013D-E009-94F9-ABB655376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Path parameters allow you to capture values from the URL path. They are defined using curly braces {} in the path string:</a:t>
            </a:r>
          </a:p>
          <a:p>
            <a:pPr marL="0" indent="0">
              <a:buNone/>
            </a:pPr>
            <a:r>
              <a:rPr lang="en-IN" i="1" dirty="0"/>
              <a:t>from</a:t>
            </a:r>
            <a:r>
              <a:rPr lang="en-IN" dirty="0"/>
              <a:t> </a:t>
            </a:r>
            <a:r>
              <a:rPr lang="en-IN" dirty="0" err="1"/>
              <a:t>fastapi</a:t>
            </a:r>
            <a:r>
              <a:rPr lang="en-IN" dirty="0"/>
              <a:t> </a:t>
            </a:r>
            <a:r>
              <a:rPr lang="en-IN" i="1" dirty="0"/>
              <a:t>import</a:t>
            </a:r>
            <a:r>
              <a:rPr lang="en-IN" dirty="0"/>
              <a:t> </a:t>
            </a:r>
            <a:r>
              <a:rPr lang="en-IN" dirty="0" err="1"/>
              <a:t>FastAPI</a:t>
            </a:r>
            <a:br>
              <a:rPr lang="en-IN" dirty="0"/>
            </a:br>
            <a:r>
              <a:rPr lang="en-IN" dirty="0"/>
              <a:t>app = </a:t>
            </a:r>
            <a:r>
              <a:rPr lang="en-IN" dirty="0" err="1"/>
              <a:t>FastAPI</a:t>
            </a:r>
            <a:r>
              <a:rPr lang="en-IN" dirty="0"/>
              <a:t>()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@app.get("/users/{user_id}")</a:t>
            </a:r>
            <a:br>
              <a:rPr lang="en-IN" dirty="0"/>
            </a:br>
            <a:r>
              <a:rPr lang="en-IN" i="1" dirty="0"/>
              <a:t>def</a:t>
            </a:r>
            <a:r>
              <a:rPr lang="en-IN" dirty="0"/>
              <a:t> </a:t>
            </a:r>
            <a:r>
              <a:rPr lang="en-IN" dirty="0" err="1"/>
              <a:t>read_user</a:t>
            </a:r>
            <a:r>
              <a:rPr lang="en-IN" dirty="0"/>
              <a:t>(</a:t>
            </a:r>
            <a:r>
              <a:rPr lang="en-IN" dirty="0" err="1"/>
              <a:t>user_id</a:t>
            </a:r>
            <a:r>
              <a:rPr lang="en-IN" dirty="0"/>
              <a:t>: int):</a:t>
            </a:r>
            <a:br>
              <a:rPr lang="en-IN" dirty="0"/>
            </a:br>
            <a:r>
              <a:rPr lang="en-IN" i="1" dirty="0"/>
              <a:t>return</a:t>
            </a:r>
            <a:r>
              <a:rPr lang="en-IN" dirty="0"/>
              <a:t> {"</a:t>
            </a:r>
            <a:r>
              <a:rPr lang="en-IN" dirty="0" err="1"/>
              <a:t>user_id</a:t>
            </a:r>
            <a:r>
              <a:rPr lang="en-IN" dirty="0"/>
              <a:t>": </a:t>
            </a:r>
            <a:r>
              <a:rPr lang="en-IN" dirty="0" err="1"/>
              <a:t>user_id</a:t>
            </a: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US" dirty="0"/>
              <a:t>When you access /users/123, </a:t>
            </a:r>
            <a:r>
              <a:rPr lang="en-US" dirty="0" err="1"/>
              <a:t>FastAPI</a:t>
            </a:r>
            <a:r>
              <a:rPr lang="en-US" dirty="0"/>
              <a:t> will:</a:t>
            </a:r>
          </a:p>
          <a:p>
            <a:r>
              <a:rPr lang="en-US" dirty="0"/>
              <a:t>Match the URL to the path /users/{</a:t>
            </a:r>
            <a:r>
              <a:rPr lang="en-US" dirty="0" err="1"/>
              <a:t>user_id</a:t>
            </a:r>
            <a:r>
              <a:rPr lang="en-US" dirty="0"/>
              <a:t>}</a:t>
            </a:r>
          </a:p>
          <a:p>
            <a:r>
              <a:rPr lang="en-US" dirty="0"/>
              <a:t>Extract the value 123 from the URL</a:t>
            </a:r>
          </a:p>
          <a:p>
            <a:r>
              <a:rPr lang="en-US" dirty="0"/>
              <a:t>Convert it to an integer (as specified in the function parameter)</a:t>
            </a:r>
          </a:p>
          <a:p>
            <a:r>
              <a:rPr lang="en-US" dirty="0"/>
              <a:t>Call the function with </a:t>
            </a:r>
            <a:r>
              <a:rPr lang="en-US" dirty="0" err="1"/>
              <a:t>user_id</a:t>
            </a:r>
            <a:r>
              <a:rPr lang="en-US" dirty="0"/>
              <a:t>=123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If you try to access /users/</a:t>
            </a:r>
            <a:r>
              <a:rPr lang="en-US" dirty="0" err="1"/>
              <a:t>abc</a:t>
            </a:r>
            <a:r>
              <a:rPr lang="en-US" dirty="0"/>
              <a:t>, </a:t>
            </a:r>
            <a:r>
              <a:rPr lang="en-US" dirty="0" err="1"/>
              <a:t>FastAPI</a:t>
            </a:r>
            <a:r>
              <a:rPr lang="en-US" dirty="0"/>
              <a:t> will return an error because "</a:t>
            </a:r>
            <a:r>
              <a:rPr lang="en-US" dirty="0" err="1"/>
              <a:t>abc</a:t>
            </a:r>
            <a:r>
              <a:rPr lang="en-US" dirty="0"/>
              <a:t>" can't be converted to an integer.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8958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FCC3C-C6E6-E737-13AD-DF23C4A57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CE359-BBD2-7A5D-8950-486766C8B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 Path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A5DB8-0D31-A09D-2C45-5AFAADF21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Can define multiple path parameters in a single path: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3"/>
                </a:solidFill>
              </a:rPr>
              <a:t>@app.get("/users/{user_id}/posts/{post_id}")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3"/>
                </a:solidFill>
              </a:rPr>
              <a:t>def </a:t>
            </a:r>
            <a:r>
              <a:rPr lang="en-IN" b="1" dirty="0" err="1">
                <a:solidFill>
                  <a:schemeClr val="accent3"/>
                </a:solidFill>
              </a:rPr>
              <a:t>read_user_post</a:t>
            </a:r>
            <a:r>
              <a:rPr lang="en-IN" b="1" dirty="0">
                <a:solidFill>
                  <a:schemeClr val="accent3"/>
                </a:solidFill>
              </a:rPr>
              <a:t>(</a:t>
            </a:r>
            <a:r>
              <a:rPr lang="en-IN" b="1" dirty="0" err="1">
                <a:solidFill>
                  <a:schemeClr val="accent3"/>
                </a:solidFill>
              </a:rPr>
              <a:t>user_id</a:t>
            </a:r>
            <a:r>
              <a:rPr lang="en-IN" b="1" dirty="0">
                <a:solidFill>
                  <a:schemeClr val="accent3"/>
                </a:solidFill>
              </a:rPr>
              <a:t>: int, </a:t>
            </a:r>
            <a:r>
              <a:rPr lang="en-IN" b="1" dirty="0" err="1">
                <a:solidFill>
                  <a:schemeClr val="accent3"/>
                </a:solidFill>
              </a:rPr>
              <a:t>post_id</a:t>
            </a:r>
            <a:r>
              <a:rPr lang="en-IN" b="1" dirty="0">
                <a:solidFill>
                  <a:schemeClr val="accent3"/>
                </a:solidFill>
              </a:rPr>
              <a:t>: int):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3"/>
                </a:solidFill>
              </a:rPr>
              <a:t>    return {"</a:t>
            </a:r>
            <a:r>
              <a:rPr lang="en-IN" b="1" dirty="0" err="1">
                <a:solidFill>
                  <a:schemeClr val="accent3"/>
                </a:solidFill>
              </a:rPr>
              <a:t>user_id</a:t>
            </a:r>
            <a:r>
              <a:rPr lang="en-IN" b="1" dirty="0">
                <a:solidFill>
                  <a:schemeClr val="accent3"/>
                </a:solidFill>
              </a:rPr>
              <a:t>": </a:t>
            </a:r>
            <a:r>
              <a:rPr lang="en-IN" b="1" dirty="0" err="1">
                <a:solidFill>
                  <a:schemeClr val="accent3"/>
                </a:solidFill>
              </a:rPr>
              <a:t>user_id</a:t>
            </a:r>
            <a:r>
              <a:rPr lang="en-IN" b="1" dirty="0">
                <a:solidFill>
                  <a:schemeClr val="accent3"/>
                </a:solidFill>
              </a:rPr>
              <a:t>, "</a:t>
            </a:r>
            <a:r>
              <a:rPr lang="en-IN" b="1" dirty="0" err="1">
                <a:solidFill>
                  <a:schemeClr val="accent3"/>
                </a:solidFill>
              </a:rPr>
              <a:t>post_id</a:t>
            </a:r>
            <a:r>
              <a:rPr lang="en-IN" b="1" dirty="0">
                <a:solidFill>
                  <a:schemeClr val="accent3"/>
                </a:solidFill>
              </a:rPr>
              <a:t>": </a:t>
            </a:r>
            <a:r>
              <a:rPr lang="en-IN" b="1" dirty="0" err="1">
                <a:solidFill>
                  <a:schemeClr val="accent3"/>
                </a:solidFill>
              </a:rPr>
              <a:t>post_id</a:t>
            </a:r>
            <a:r>
              <a:rPr lang="en-IN" b="1" dirty="0">
                <a:solidFill>
                  <a:schemeClr val="accent3"/>
                </a:solidFill>
              </a:rPr>
              <a:t>}</a:t>
            </a:r>
          </a:p>
          <a:p>
            <a:endParaRPr lang="en-IN" dirty="0"/>
          </a:p>
          <a:p>
            <a:r>
              <a:rPr lang="en-IN" dirty="0"/>
              <a:t>Accessing /users/123/posts/456 would return: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"</a:t>
            </a:r>
            <a:r>
              <a:rPr lang="en-IN" dirty="0" err="1"/>
              <a:t>user_id</a:t>
            </a:r>
            <a:r>
              <a:rPr lang="en-IN" dirty="0"/>
              <a:t>": 123,</a:t>
            </a:r>
          </a:p>
          <a:p>
            <a:pPr marL="0" indent="0">
              <a:buNone/>
            </a:pPr>
            <a:r>
              <a:rPr lang="en-IN" dirty="0"/>
              <a:t>  "</a:t>
            </a:r>
            <a:r>
              <a:rPr lang="en-IN" dirty="0" err="1"/>
              <a:t>post_id</a:t>
            </a:r>
            <a:r>
              <a:rPr lang="en-IN" dirty="0"/>
              <a:t>": 456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52437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C8565-C37E-026E-52D5-F72B7EA4D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5E9BC-1228-0130-D1D8-EAE9A6FFD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Path Parameters with Type Validation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12FC5-F943-8CA0-5734-89DA8BF7E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/>
              <a:t>FastAPI</a:t>
            </a:r>
            <a:r>
              <a:rPr lang="en-US" dirty="0"/>
              <a:t> uses Python type hints to validate path parameters: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from </a:t>
            </a:r>
            <a:r>
              <a:rPr lang="en-US" b="1" dirty="0" err="1">
                <a:solidFill>
                  <a:schemeClr val="accent3"/>
                </a:solidFill>
              </a:rPr>
              <a:t>uuid</a:t>
            </a:r>
            <a:r>
              <a:rPr lang="en-US" b="1" dirty="0">
                <a:solidFill>
                  <a:schemeClr val="accent3"/>
                </a:solidFill>
              </a:rPr>
              <a:t> import UUID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from datetime import datetime, date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@app.get("/items/{item_id}")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def </a:t>
            </a:r>
            <a:r>
              <a:rPr lang="en-US" b="1" dirty="0" err="1">
                <a:solidFill>
                  <a:schemeClr val="accent3"/>
                </a:solidFill>
              </a:rPr>
              <a:t>read_item</a:t>
            </a:r>
            <a:r>
              <a:rPr lang="en-US" b="1" dirty="0">
                <a:solidFill>
                  <a:schemeClr val="accent3"/>
                </a:solidFill>
              </a:rPr>
              <a:t>(</a:t>
            </a:r>
            <a:r>
              <a:rPr lang="en-US" b="1" dirty="0" err="1">
                <a:solidFill>
                  <a:schemeClr val="accent3"/>
                </a:solidFill>
              </a:rPr>
              <a:t>item_id</a:t>
            </a:r>
            <a:r>
              <a:rPr lang="en-US" b="1" dirty="0">
                <a:solidFill>
                  <a:schemeClr val="accent3"/>
                </a:solidFill>
              </a:rPr>
              <a:t>: int):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    return {"</a:t>
            </a:r>
            <a:r>
              <a:rPr lang="en-US" b="1" dirty="0" err="1">
                <a:solidFill>
                  <a:schemeClr val="accent3"/>
                </a:solidFill>
              </a:rPr>
              <a:t>item_id</a:t>
            </a:r>
            <a:r>
              <a:rPr lang="en-US" b="1" dirty="0">
                <a:solidFill>
                  <a:schemeClr val="accent3"/>
                </a:solidFill>
              </a:rPr>
              <a:t>": </a:t>
            </a:r>
            <a:r>
              <a:rPr lang="en-US" b="1" dirty="0" err="1">
                <a:solidFill>
                  <a:schemeClr val="accent3"/>
                </a:solidFill>
              </a:rPr>
              <a:t>item_id</a:t>
            </a:r>
            <a:r>
              <a:rPr lang="en-US" b="1" dirty="0">
                <a:solidFill>
                  <a:schemeClr val="accent3"/>
                </a:solidFill>
              </a:rPr>
              <a:t>, "type": "integer"}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@app.get("/items_str/{item_id}")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def </a:t>
            </a:r>
            <a:r>
              <a:rPr lang="en-US" b="1" dirty="0" err="1">
                <a:solidFill>
                  <a:schemeClr val="accent3"/>
                </a:solidFill>
              </a:rPr>
              <a:t>read_item_str</a:t>
            </a:r>
            <a:r>
              <a:rPr lang="en-US" b="1" dirty="0">
                <a:solidFill>
                  <a:schemeClr val="accent3"/>
                </a:solidFill>
              </a:rPr>
              <a:t>(</a:t>
            </a:r>
            <a:r>
              <a:rPr lang="en-US" b="1" dirty="0" err="1">
                <a:solidFill>
                  <a:schemeClr val="accent3"/>
                </a:solidFill>
              </a:rPr>
              <a:t>item_id</a:t>
            </a:r>
            <a:r>
              <a:rPr lang="en-US" b="1" dirty="0">
                <a:solidFill>
                  <a:schemeClr val="accent3"/>
                </a:solidFill>
              </a:rPr>
              <a:t>: str):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    return {"</a:t>
            </a:r>
            <a:r>
              <a:rPr lang="en-US" b="1" dirty="0" err="1">
                <a:solidFill>
                  <a:schemeClr val="accent3"/>
                </a:solidFill>
              </a:rPr>
              <a:t>item_id</a:t>
            </a:r>
            <a:r>
              <a:rPr lang="en-US" b="1" dirty="0">
                <a:solidFill>
                  <a:schemeClr val="accent3"/>
                </a:solidFill>
              </a:rPr>
              <a:t>": </a:t>
            </a:r>
            <a:r>
              <a:rPr lang="en-US" b="1" dirty="0" err="1">
                <a:solidFill>
                  <a:schemeClr val="accent3"/>
                </a:solidFill>
              </a:rPr>
              <a:t>item_id</a:t>
            </a:r>
            <a:r>
              <a:rPr lang="en-US" b="1" dirty="0">
                <a:solidFill>
                  <a:schemeClr val="accent3"/>
                </a:solidFill>
              </a:rPr>
              <a:t>, "type": "string"}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@app.get("/items_uuid/{item_id}")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def </a:t>
            </a:r>
            <a:r>
              <a:rPr lang="en-US" b="1" dirty="0" err="1">
                <a:solidFill>
                  <a:schemeClr val="accent3"/>
                </a:solidFill>
              </a:rPr>
              <a:t>read_item_uuid</a:t>
            </a:r>
            <a:r>
              <a:rPr lang="en-US" b="1" dirty="0">
                <a:solidFill>
                  <a:schemeClr val="accent3"/>
                </a:solidFill>
              </a:rPr>
              <a:t>(</a:t>
            </a:r>
            <a:r>
              <a:rPr lang="en-US" b="1" dirty="0" err="1">
                <a:solidFill>
                  <a:schemeClr val="accent3"/>
                </a:solidFill>
              </a:rPr>
              <a:t>item_id</a:t>
            </a:r>
            <a:r>
              <a:rPr lang="en-US" b="1" dirty="0">
                <a:solidFill>
                  <a:schemeClr val="accent3"/>
                </a:solidFill>
              </a:rPr>
              <a:t>: UUID):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    return {"</a:t>
            </a:r>
            <a:r>
              <a:rPr lang="en-US" b="1" dirty="0" err="1">
                <a:solidFill>
                  <a:schemeClr val="accent3"/>
                </a:solidFill>
              </a:rPr>
              <a:t>item_id</a:t>
            </a:r>
            <a:r>
              <a:rPr lang="en-US" b="1" dirty="0">
                <a:solidFill>
                  <a:schemeClr val="accent3"/>
                </a:solidFill>
              </a:rPr>
              <a:t>": str(</a:t>
            </a:r>
            <a:r>
              <a:rPr lang="en-US" b="1" dirty="0" err="1">
                <a:solidFill>
                  <a:schemeClr val="accent3"/>
                </a:solidFill>
              </a:rPr>
              <a:t>item_id</a:t>
            </a:r>
            <a:r>
              <a:rPr lang="en-US" b="1" dirty="0">
                <a:solidFill>
                  <a:schemeClr val="accent3"/>
                </a:solidFill>
              </a:rPr>
              <a:t>), "type": "</a:t>
            </a:r>
            <a:r>
              <a:rPr lang="en-US" b="1" dirty="0" err="1">
                <a:solidFill>
                  <a:schemeClr val="accent3"/>
                </a:solidFill>
              </a:rPr>
              <a:t>uuid</a:t>
            </a:r>
            <a:r>
              <a:rPr lang="en-US" b="1" dirty="0">
                <a:solidFill>
                  <a:schemeClr val="accent3"/>
                </a:solidFill>
              </a:rPr>
              <a:t>"}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@app.get("/items_date/{item_date}")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def </a:t>
            </a:r>
            <a:r>
              <a:rPr lang="en-US" b="1" dirty="0" err="1">
                <a:solidFill>
                  <a:schemeClr val="accent3"/>
                </a:solidFill>
              </a:rPr>
              <a:t>read_item_date</a:t>
            </a:r>
            <a:r>
              <a:rPr lang="en-US" b="1" dirty="0">
                <a:solidFill>
                  <a:schemeClr val="accent3"/>
                </a:solidFill>
              </a:rPr>
              <a:t>(</a:t>
            </a:r>
            <a:r>
              <a:rPr lang="en-US" b="1" dirty="0" err="1">
                <a:solidFill>
                  <a:schemeClr val="accent3"/>
                </a:solidFill>
              </a:rPr>
              <a:t>item_date</a:t>
            </a:r>
            <a:r>
              <a:rPr lang="en-US" b="1" dirty="0">
                <a:solidFill>
                  <a:schemeClr val="accent3"/>
                </a:solidFill>
              </a:rPr>
              <a:t>: date):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    return {"</a:t>
            </a:r>
            <a:r>
              <a:rPr lang="en-US" b="1" dirty="0" err="1">
                <a:solidFill>
                  <a:schemeClr val="accent3"/>
                </a:solidFill>
              </a:rPr>
              <a:t>item_date</a:t>
            </a:r>
            <a:r>
              <a:rPr lang="en-US" b="1" dirty="0">
                <a:solidFill>
                  <a:schemeClr val="accent3"/>
                </a:solidFill>
              </a:rPr>
              <a:t>": </a:t>
            </a:r>
            <a:r>
              <a:rPr lang="en-US" b="1" dirty="0" err="1">
                <a:solidFill>
                  <a:schemeClr val="accent3"/>
                </a:solidFill>
              </a:rPr>
              <a:t>item_date</a:t>
            </a:r>
            <a:r>
              <a:rPr lang="en-US" b="1" dirty="0">
                <a:solidFill>
                  <a:schemeClr val="accent3"/>
                </a:solidFill>
              </a:rPr>
              <a:t>, "type": "date"}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635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1429C-2939-3D5E-3DDE-B3E60C946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CEFD7-7C95-8FFB-E054-DF42F47BA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Parameter Order Matters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F5622-918E-6C9E-8EEB-3821CA3B6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When you have multiple path operations, the order matters! </a:t>
            </a:r>
            <a:r>
              <a:rPr lang="en-US" dirty="0" err="1"/>
              <a:t>FastAPI</a:t>
            </a:r>
            <a:r>
              <a:rPr lang="en-US" dirty="0"/>
              <a:t> will match the first path operation that fits the requested URL. </a:t>
            </a:r>
          </a:p>
          <a:p>
            <a:r>
              <a:rPr lang="en-US" dirty="0"/>
              <a:t>Consider this example:</a:t>
            </a:r>
          </a:p>
          <a:p>
            <a:pPr marL="0" indent="0">
              <a:buNone/>
            </a:pPr>
            <a:r>
              <a:rPr lang="en-US" dirty="0"/>
              <a:t>@app.get("/users/me")</a:t>
            </a:r>
          </a:p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read_current_user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return {"</a:t>
            </a:r>
            <a:r>
              <a:rPr lang="en-US" dirty="0" err="1"/>
              <a:t>user_id</a:t>
            </a:r>
            <a:r>
              <a:rPr lang="en-US" dirty="0"/>
              <a:t>": "the current user"}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@app.get("/users/{user_id}")</a:t>
            </a:r>
          </a:p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read_user</a:t>
            </a:r>
            <a:r>
              <a:rPr lang="en-US" dirty="0"/>
              <a:t>(</a:t>
            </a:r>
            <a:r>
              <a:rPr lang="en-US" dirty="0" err="1"/>
              <a:t>user_id</a:t>
            </a:r>
            <a:r>
              <a:rPr lang="en-US" dirty="0"/>
              <a:t>: str):</a:t>
            </a:r>
          </a:p>
          <a:p>
            <a:pPr marL="0" indent="0">
              <a:buNone/>
            </a:pPr>
            <a:r>
              <a:rPr lang="en-US" dirty="0"/>
              <a:t>    return {"</a:t>
            </a:r>
            <a:r>
              <a:rPr lang="en-US" dirty="0" err="1"/>
              <a:t>user_id</a:t>
            </a:r>
            <a:r>
              <a:rPr lang="en-US" dirty="0"/>
              <a:t>": </a:t>
            </a:r>
            <a:r>
              <a:rPr lang="en-US" dirty="0" err="1"/>
              <a:t>user_id</a:t>
            </a: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If you accessed /users/me, which path operation would handle it?</a:t>
            </a:r>
          </a:p>
          <a:p>
            <a:r>
              <a:rPr lang="en-US" dirty="0"/>
              <a:t>Because /users/me is declared first, </a:t>
            </a:r>
            <a:r>
              <a:rPr lang="en-US" dirty="0" err="1"/>
              <a:t>FastAPI</a:t>
            </a:r>
            <a:r>
              <a:rPr lang="en-US" dirty="0"/>
              <a:t> will use that handler. </a:t>
            </a:r>
          </a:p>
          <a:p>
            <a:r>
              <a:rPr lang="en-US" dirty="0"/>
              <a:t>If they were reversed, /users/{</a:t>
            </a:r>
            <a:r>
              <a:rPr lang="en-US" dirty="0" err="1"/>
              <a:t>user_id</a:t>
            </a:r>
            <a:r>
              <a:rPr lang="en-US" dirty="0"/>
              <a:t>} would match first and me would be treated as a </a:t>
            </a:r>
            <a:r>
              <a:rPr lang="en-US" dirty="0" err="1"/>
              <a:t>user_id</a:t>
            </a:r>
            <a:r>
              <a:rPr lang="en-US" dirty="0"/>
              <a:t> value.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5941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D478F-B3B0-BCED-B09A-A36945E33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866A8-FB00-B468-4496-5856D1684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Predefined Path Parameters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86206-EF2E-F901-50E3-A22A7F371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Want to limit the possible values for a path parameter. You can use Enum for this:</a:t>
            </a:r>
          </a:p>
          <a:p>
            <a:r>
              <a:rPr lang="en-IN" i="1" dirty="0">
                <a:solidFill>
                  <a:schemeClr val="accent3"/>
                </a:solidFill>
              </a:rPr>
              <a:t>from</a:t>
            </a:r>
            <a:r>
              <a:rPr lang="en-IN" dirty="0">
                <a:solidFill>
                  <a:schemeClr val="accent3"/>
                </a:solidFill>
              </a:rPr>
              <a:t> </a:t>
            </a:r>
            <a:r>
              <a:rPr lang="en-IN" dirty="0" err="1">
                <a:solidFill>
                  <a:schemeClr val="accent3"/>
                </a:solidFill>
              </a:rPr>
              <a:t>enum</a:t>
            </a:r>
            <a:r>
              <a:rPr lang="en-IN" dirty="0">
                <a:solidFill>
                  <a:schemeClr val="accent3"/>
                </a:solidFill>
              </a:rPr>
              <a:t> </a:t>
            </a:r>
            <a:r>
              <a:rPr lang="en-IN" i="1" dirty="0">
                <a:solidFill>
                  <a:schemeClr val="accent3"/>
                </a:solidFill>
              </a:rPr>
              <a:t>import</a:t>
            </a:r>
            <a:r>
              <a:rPr lang="en-IN" dirty="0">
                <a:solidFill>
                  <a:schemeClr val="accent3"/>
                </a:solidFill>
              </a:rPr>
              <a:t> Enum</a:t>
            </a:r>
            <a:br>
              <a:rPr lang="en-IN" dirty="0">
                <a:solidFill>
                  <a:schemeClr val="accent3"/>
                </a:solidFill>
              </a:rPr>
            </a:br>
            <a:r>
              <a:rPr lang="en-IN" i="1" dirty="0">
                <a:solidFill>
                  <a:schemeClr val="accent3"/>
                </a:solidFill>
              </a:rPr>
              <a:t>from</a:t>
            </a:r>
            <a:r>
              <a:rPr lang="en-IN" dirty="0">
                <a:solidFill>
                  <a:schemeClr val="accent3"/>
                </a:solidFill>
              </a:rPr>
              <a:t> </a:t>
            </a:r>
            <a:r>
              <a:rPr lang="en-IN" dirty="0" err="1">
                <a:solidFill>
                  <a:schemeClr val="accent3"/>
                </a:solidFill>
              </a:rPr>
              <a:t>fastapi</a:t>
            </a:r>
            <a:r>
              <a:rPr lang="en-IN" dirty="0">
                <a:solidFill>
                  <a:schemeClr val="accent3"/>
                </a:solidFill>
              </a:rPr>
              <a:t> </a:t>
            </a:r>
            <a:r>
              <a:rPr lang="en-IN" i="1" dirty="0">
                <a:solidFill>
                  <a:schemeClr val="accent3"/>
                </a:solidFill>
              </a:rPr>
              <a:t>import</a:t>
            </a:r>
            <a:r>
              <a:rPr lang="en-IN" dirty="0">
                <a:solidFill>
                  <a:schemeClr val="accent3"/>
                </a:solidFill>
              </a:rPr>
              <a:t> </a:t>
            </a:r>
            <a:r>
              <a:rPr lang="en-IN" dirty="0" err="1">
                <a:solidFill>
                  <a:schemeClr val="accent3"/>
                </a:solidFill>
              </a:rPr>
              <a:t>FastAPI</a:t>
            </a:r>
            <a:br>
              <a:rPr lang="en-IN" dirty="0">
                <a:solidFill>
                  <a:schemeClr val="accent3"/>
                </a:solidFill>
              </a:rPr>
            </a:br>
            <a:br>
              <a:rPr lang="en-IN" dirty="0">
                <a:solidFill>
                  <a:schemeClr val="accent3"/>
                </a:solidFill>
              </a:rPr>
            </a:br>
            <a:r>
              <a:rPr lang="en-IN" i="1" dirty="0">
                <a:solidFill>
                  <a:schemeClr val="accent3"/>
                </a:solidFill>
              </a:rPr>
              <a:t>class</a:t>
            </a:r>
            <a:r>
              <a:rPr lang="en-IN" dirty="0">
                <a:solidFill>
                  <a:schemeClr val="accent3"/>
                </a:solidFill>
              </a:rPr>
              <a:t> </a:t>
            </a:r>
            <a:r>
              <a:rPr lang="en-IN" dirty="0" err="1">
                <a:solidFill>
                  <a:schemeClr val="accent3"/>
                </a:solidFill>
              </a:rPr>
              <a:t>ModelName</a:t>
            </a:r>
            <a:r>
              <a:rPr lang="en-IN" dirty="0">
                <a:solidFill>
                  <a:schemeClr val="accent3"/>
                </a:solidFill>
              </a:rPr>
              <a:t>(str, Enum):</a:t>
            </a:r>
            <a:br>
              <a:rPr lang="en-IN" dirty="0">
                <a:solidFill>
                  <a:schemeClr val="accent3"/>
                </a:solidFill>
              </a:rPr>
            </a:br>
            <a:r>
              <a:rPr lang="en-IN" dirty="0">
                <a:solidFill>
                  <a:schemeClr val="accent3"/>
                </a:solidFill>
              </a:rPr>
              <a:t>    </a:t>
            </a:r>
            <a:r>
              <a:rPr lang="en-IN" dirty="0" err="1">
                <a:solidFill>
                  <a:schemeClr val="accent3"/>
                </a:solidFill>
              </a:rPr>
              <a:t>alexnet</a:t>
            </a:r>
            <a:r>
              <a:rPr lang="en-IN" dirty="0">
                <a:solidFill>
                  <a:schemeClr val="accent3"/>
                </a:solidFill>
              </a:rPr>
              <a:t> = "</a:t>
            </a:r>
            <a:r>
              <a:rPr lang="en-IN" dirty="0" err="1">
                <a:solidFill>
                  <a:schemeClr val="accent3"/>
                </a:solidFill>
              </a:rPr>
              <a:t>alexnet</a:t>
            </a:r>
            <a:r>
              <a:rPr lang="en-IN" dirty="0">
                <a:solidFill>
                  <a:schemeClr val="accent3"/>
                </a:solidFill>
              </a:rPr>
              <a:t>"</a:t>
            </a:r>
            <a:br>
              <a:rPr lang="en-IN" dirty="0">
                <a:solidFill>
                  <a:schemeClr val="accent3"/>
                </a:solidFill>
              </a:rPr>
            </a:br>
            <a:r>
              <a:rPr lang="en-IN" dirty="0">
                <a:solidFill>
                  <a:schemeClr val="accent3"/>
                </a:solidFill>
              </a:rPr>
              <a:t>    </a:t>
            </a:r>
            <a:r>
              <a:rPr lang="en-IN" dirty="0" err="1">
                <a:solidFill>
                  <a:schemeClr val="accent3"/>
                </a:solidFill>
              </a:rPr>
              <a:t>resnet</a:t>
            </a:r>
            <a:r>
              <a:rPr lang="en-IN" dirty="0">
                <a:solidFill>
                  <a:schemeClr val="accent3"/>
                </a:solidFill>
              </a:rPr>
              <a:t> = "</a:t>
            </a:r>
            <a:r>
              <a:rPr lang="en-IN" dirty="0" err="1">
                <a:solidFill>
                  <a:schemeClr val="accent3"/>
                </a:solidFill>
              </a:rPr>
              <a:t>resnet</a:t>
            </a:r>
            <a:r>
              <a:rPr lang="en-IN" dirty="0">
                <a:solidFill>
                  <a:schemeClr val="accent3"/>
                </a:solidFill>
              </a:rPr>
              <a:t>"</a:t>
            </a:r>
            <a:br>
              <a:rPr lang="en-IN" dirty="0">
                <a:solidFill>
                  <a:schemeClr val="accent3"/>
                </a:solidFill>
              </a:rPr>
            </a:br>
            <a:r>
              <a:rPr lang="en-IN" dirty="0">
                <a:solidFill>
                  <a:schemeClr val="accent3"/>
                </a:solidFill>
              </a:rPr>
              <a:t>    </a:t>
            </a:r>
            <a:r>
              <a:rPr lang="en-IN" dirty="0" err="1">
                <a:solidFill>
                  <a:schemeClr val="accent3"/>
                </a:solidFill>
              </a:rPr>
              <a:t>lenet</a:t>
            </a:r>
            <a:r>
              <a:rPr lang="en-IN" dirty="0">
                <a:solidFill>
                  <a:schemeClr val="accent3"/>
                </a:solidFill>
              </a:rPr>
              <a:t> = "</a:t>
            </a:r>
            <a:r>
              <a:rPr lang="en-IN" dirty="0" err="1">
                <a:solidFill>
                  <a:schemeClr val="accent3"/>
                </a:solidFill>
              </a:rPr>
              <a:t>lenet</a:t>
            </a:r>
            <a:r>
              <a:rPr lang="en-IN" dirty="0">
                <a:solidFill>
                  <a:schemeClr val="accent3"/>
                </a:solidFill>
              </a:rPr>
              <a:t>"</a:t>
            </a:r>
            <a:br>
              <a:rPr lang="en-IN" dirty="0">
                <a:solidFill>
                  <a:schemeClr val="accent3"/>
                </a:solidFill>
              </a:rPr>
            </a:br>
            <a:br>
              <a:rPr lang="en-IN" dirty="0">
                <a:solidFill>
                  <a:schemeClr val="accent3"/>
                </a:solidFill>
              </a:rPr>
            </a:br>
            <a:r>
              <a:rPr lang="en-IN" dirty="0">
                <a:solidFill>
                  <a:schemeClr val="accent3"/>
                </a:solidFill>
              </a:rPr>
              <a:t>app = </a:t>
            </a:r>
            <a:r>
              <a:rPr lang="en-IN" dirty="0" err="1">
                <a:solidFill>
                  <a:schemeClr val="accent3"/>
                </a:solidFill>
              </a:rPr>
              <a:t>FastAPI</a:t>
            </a:r>
            <a:r>
              <a:rPr lang="en-IN" dirty="0">
                <a:solidFill>
                  <a:schemeClr val="accent3"/>
                </a:solidFill>
              </a:rPr>
              <a:t>()</a:t>
            </a:r>
            <a:br>
              <a:rPr lang="en-IN" dirty="0">
                <a:solidFill>
                  <a:schemeClr val="accent3"/>
                </a:solidFill>
              </a:rPr>
            </a:br>
            <a:br>
              <a:rPr lang="en-IN" dirty="0">
                <a:solidFill>
                  <a:schemeClr val="accent3"/>
                </a:solidFill>
              </a:rPr>
            </a:br>
            <a:r>
              <a:rPr lang="en-IN" dirty="0">
                <a:solidFill>
                  <a:schemeClr val="accent3"/>
                </a:solidFill>
              </a:rPr>
              <a:t>@app.get("/models/{model_name}")</a:t>
            </a:r>
            <a:br>
              <a:rPr lang="en-IN" dirty="0">
                <a:solidFill>
                  <a:schemeClr val="accent3"/>
                </a:solidFill>
              </a:rPr>
            </a:br>
            <a:r>
              <a:rPr lang="en-IN" i="1" dirty="0">
                <a:solidFill>
                  <a:schemeClr val="accent3"/>
                </a:solidFill>
              </a:rPr>
              <a:t>def</a:t>
            </a:r>
            <a:r>
              <a:rPr lang="en-IN" dirty="0">
                <a:solidFill>
                  <a:schemeClr val="accent3"/>
                </a:solidFill>
              </a:rPr>
              <a:t> </a:t>
            </a:r>
            <a:r>
              <a:rPr lang="en-IN" dirty="0" err="1">
                <a:solidFill>
                  <a:schemeClr val="accent3"/>
                </a:solidFill>
              </a:rPr>
              <a:t>get_model</a:t>
            </a:r>
            <a:r>
              <a:rPr lang="en-IN" dirty="0">
                <a:solidFill>
                  <a:schemeClr val="accent3"/>
                </a:solidFill>
              </a:rPr>
              <a:t>(</a:t>
            </a:r>
            <a:r>
              <a:rPr lang="en-IN" dirty="0" err="1">
                <a:solidFill>
                  <a:schemeClr val="accent3"/>
                </a:solidFill>
              </a:rPr>
              <a:t>model_name</a:t>
            </a:r>
            <a:r>
              <a:rPr lang="en-IN" dirty="0">
                <a:solidFill>
                  <a:schemeClr val="accent3"/>
                </a:solidFill>
              </a:rPr>
              <a:t>: </a:t>
            </a:r>
            <a:r>
              <a:rPr lang="en-IN" dirty="0" err="1">
                <a:solidFill>
                  <a:schemeClr val="accent3"/>
                </a:solidFill>
              </a:rPr>
              <a:t>ModelName</a:t>
            </a:r>
            <a:r>
              <a:rPr lang="en-IN" dirty="0">
                <a:solidFill>
                  <a:schemeClr val="accent3"/>
                </a:solidFill>
              </a:rPr>
              <a:t>):</a:t>
            </a:r>
            <a:br>
              <a:rPr lang="en-IN" dirty="0">
                <a:solidFill>
                  <a:schemeClr val="accent3"/>
                </a:solidFill>
              </a:rPr>
            </a:br>
            <a:r>
              <a:rPr lang="en-IN" dirty="0">
                <a:solidFill>
                  <a:schemeClr val="accent3"/>
                </a:solidFill>
              </a:rPr>
              <a:t>    </a:t>
            </a:r>
            <a:r>
              <a:rPr lang="en-IN" i="1" dirty="0">
                <a:solidFill>
                  <a:schemeClr val="accent3"/>
                </a:solidFill>
              </a:rPr>
              <a:t>if</a:t>
            </a:r>
            <a:r>
              <a:rPr lang="en-IN" dirty="0">
                <a:solidFill>
                  <a:schemeClr val="accent3"/>
                </a:solidFill>
              </a:rPr>
              <a:t> </a:t>
            </a:r>
            <a:r>
              <a:rPr lang="en-IN" dirty="0" err="1">
                <a:solidFill>
                  <a:schemeClr val="accent3"/>
                </a:solidFill>
              </a:rPr>
              <a:t>model_name</a:t>
            </a:r>
            <a:r>
              <a:rPr lang="en-IN" dirty="0">
                <a:solidFill>
                  <a:schemeClr val="accent3"/>
                </a:solidFill>
              </a:rPr>
              <a:t> == </a:t>
            </a:r>
            <a:r>
              <a:rPr lang="en-IN" dirty="0" err="1">
                <a:solidFill>
                  <a:schemeClr val="accent3"/>
                </a:solidFill>
              </a:rPr>
              <a:t>ModelName.alexnet</a:t>
            </a:r>
            <a:r>
              <a:rPr lang="en-IN" dirty="0">
                <a:solidFill>
                  <a:schemeClr val="accent3"/>
                </a:solidFill>
              </a:rPr>
              <a:t>:</a:t>
            </a:r>
            <a:br>
              <a:rPr lang="en-IN" dirty="0">
                <a:solidFill>
                  <a:schemeClr val="accent3"/>
                </a:solidFill>
              </a:rPr>
            </a:br>
            <a:r>
              <a:rPr lang="en-IN" dirty="0">
                <a:solidFill>
                  <a:schemeClr val="accent3"/>
                </a:solidFill>
              </a:rPr>
              <a:t>        </a:t>
            </a:r>
            <a:r>
              <a:rPr lang="en-IN" i="1" dirty="0">
                <a:solidFill>
                  <a:schemeClr val="accent3"/>
                </a:solidFill>
              </a:rPr>
              <a:t>return</a:t>
            </a:r>
            <a:r>
              <a:rPr lang="en-IN" dirty="0">
                <a:solidFill>
                  <a:schemeClr val="accent3"/>
                </a:solidFill>
              </a:rPr>
              <a:t> {"</a:t>
            </a:r>
            <a:r>
              <a:rPr lang="en-IN" dirty="0" err="1">
                <a:solidFill>
                  <a:schemeClr val="accent3"/>
                </a:solidFill>
              </a:rPr>
              <a:t>model_name</a:t>
            </a:r>
            <a:r>
              <a:rPr lang="en-IN" dirty="0">
                <a:solidFill>
                  <a:schemeClr val="accent3"/>
                </a:solidFill>
              </a:rPr>
              <a:t>": </a:t>
            </a:r>
            <a:r>
              <a:rPr lang="en-IN" dirty="0" err="1">
                <a:solidFill>
                  <a:schemeClr val="accent3"/>
                </a:solidFill>
              </a:rPr>
              <a:t>model_name</a:t>
            </a:r>
            <a:r>
              <a:rPr lang="en-IN" dirty="0">
                <a:solidFill>
                  <a:schemeClr val="accent3"/>
                </a:solidFill>
              </a:rPr>
              <a:t>, "message": "Deep Learning FTW!"}</a:t>
            </a:r>
            <a:br>
              <a:rPr lang="en-IN" dirty="0">
                <a:solidFill>
                  <a:schemeClr val="accent3"/>
                </a:solidFill>
              </a:rPr>
            </a:br>
            <a:r>
              <a:rPr lang="en-IN" dirty="0">
                <a:solidFill>
                  <a:schemeClr val="accent3"/>
                </a:solidFill>
              </a:rPr>
              <a:t>    </a:t>
            </a:r>
            <a:br>
              <a:rPr lang="en-IN" dirty="0">
                <a:solidFill>
                  <a:schemeClr val="accent3"/>
                </a:solidFill>
              </a:rPr>
            </a:br>
            <a:r>
              <a:rPr lang="en-IN" dirty="0">
                <a:solidFill>
                  <a:schemeClr val="accent3"/>
                </a:solidFill>
              </a:rPr>
              <a:t>    </a:t>
            </a:r>
            <a:r>
              <a:rPr lang="en-IN" i="1" dirty="0">
                <a:solidFill>
                  <a:schemeClr val="accent3"/>
                </a:solidFill>
              </a:rPr>
              <a:t>if</a:t>
            </a:r>
            <a:r>
              <a:rPr lang="en-IN" dirty="0">
                <a:solidFill>
                  <a:schemeClr val="accent3"/>
                </a:solidFill>
              </a:rPr>
              <a:t> </a:t>
            </a:r>
            <a:r>
              <a:rPr lang="en-IN" dirty="0" err="1">
                <a:solidFill>
                  <a:schemeClr val="accent3"/>
                </a:solidFill>
              </a:rPr>
              <a:t>model_name.value</a:t>
            </a:r>
            <a:r>
              <a:rPr lang="en-IN" dirty="0">
                <a:solidFill>
                  <a:schemeClr val="accent3"/>
                </a:solidFill>
              </a:rPr>
              <a:t> == "</a:t>
            </a:r>
            <a:r>
              <a:rPr lang="en-IN" dirty="0" err="1">
                <a:solidFill>
                  <a:schemeClr val="accent3"/>
                </a:solidFill>
              </a:rPr>
              <a:t>lenet</a:t>
            </a:r>
            <a:r>
              <a:rPr lang="en-IN" dirty="0">
                <a:solidFill>
                  <a:schemeClr val="accent3"/>
                </a:solidFill>
              </a:rPr>
              <a:t>":</a:t>
            </a:r>
            <a:br>
              <a:rPr lang="en-IN" dirty="0">
                <a:solidFill>
                  <a:schemeClr val="accent3"/>
                </a:solidFill>
              </a:rPr>
            </a:br>
            <a:r>
              <a:rPr lang="en-IN" dirty="0">
                <a:solidFill>
                  <a:schemeClr val="accent3"/>
                </a:solidFill>
              </a:rPr>
              <a:t>        </a:t>
            </a:r>
            <a:r>
              <a:rPr lang="en-IN" i="1" dirty="0">
                <a:solidFill>
                  <a:schemeClr val="accent3"/>
                </a:solidFill>
              </a:rPr>
              <a:t>return</a:t>
            </a:r>
            <a:r>
              <a:rPr lang="en-IN" dirty="0">
                <a:solidFill>
                  <a:schemeClr val="accent3"/>
                </a:solidFill>
              </a:rPr>
              <a:t> {"</a:t>
            </a:r>
            <a:r>
              <a:rPr lang="en-IN" dirty="0" err="1">
                <a:solidFill>
                  <a:schemeClr val="accent3"/>
                </a:solidFill>
              </a:rPr>
              <a:t>model_name</a:t>
            </a:r>
            <a:r>
              <a:rPr lang="en-IN" dirty="0">
                <a:solidFill>
                  <a:schemeClr val="accent3"/>
                </a:solidFill>
              </a:rPr>
              <a:t>": </a:t>
            </a:r>
            <a:r>
              <a:rPr lang="en-IN" dirty="0" err="1">
                <a:solidFill>
                  <a:schemeClr val="accent3"/>
                </a:solidFill>
              </a:rPr>
              <a:t>model_name</a:t>
            </a:r>
            <a:r>
              <a:rPr lang="en-IN" dirty="0">
                <a:solidFill>
                  <a:schemeClr val="accent3"/>
                </a:solidFill>
              </a:rPr>
              <a:t>, "message": "</a:t>
            </a:r>
            <a:r>
              <a:rPr lang="en-IN" dirty="0" err="1">
                <a:solidFill>
                  <a:schemeClr val="accent3"/>
                </a:solidFill>
              </a:rPr>
              <a:t>LeCNN</a:t>
            </a:r>
            <a:r>
              <a:rPr lang="en-IN" dirty="0">
                <a:solidFill>
                  <a:schemeClr val="accent3"/>
                </a:solidFill>
              </a:rPr>
              <a:t> all the images"}</a:t>
            </a:r>
            <a:br>
              <a:rPr lang="en-IN" dirty="0">
                <a:solidFill>
                  <a:schemeClr val="accent3"/>
                </a:solidFill>
              </a:rPr>
            </a:br>
            <a:r>
              <a:rPr lang="en-IN" dirty="0">
                <a:solidFill>
                  <a:schemeClr val="accent3"/>
                </a:solidFill>
              </a:rPr>
              <a:t>    </a:t>
            </a:r>
            <a:br>
              <a:rPr lang="en-IN" dirty="0">
                <a:solidFill>
                  <a:schemeClr val="accent3"/>
                </a:solidFill>
              </a:rPr>
            </a:br>
            <a:r>
              <a:rPr lang="en-IN" dirty="0">
                <a:solidFill>
                  <a:schemeClr val="accent3"/>
                </a:solidFill>
              </a:rPr>
              <a:t>    </a:t>
            </a:r>
            <a:r>
              <a:rPr lang="en-IN" i="1" dirty="0">
                <a:solidFill>
                  <a:schemeClr val="accent3"/>
                </a:solidFill>
              </a:rPr>
              <a:t>return</a:t>
            </a:r>
            <a:r>
              <a:rPr lang="en-IN" dirty="0">
                <a:solidFill>
                  <a:schemeClr val="accent3"/>
                </a:solidFill>
              </a:rPr>
              <a:t> {"</a:t>
            </a:r>
            <a:r>
              <a:rPr lang="en-IN" dirty="0" err="1">
                <a:solidFill>
                  <a:schemeClr val="accent3"/>
                </a:solidFill>
              </a:rPr>
              <a:t>model_name</a:t>
            </a:r>
            <a:r>
              <a:rPr lang="en-IN" dirty="0">
                <a:solidFill>
                  <a:schemeClr val="accent3"/>
                </a:solidFill>
              </a:rPr>
              <a:t>": </a:t>
            </a:r>
            <a:r>
              <a:rPr lang="en-IN" dirty="0" err="1">
                <a:solidFill>
                  <a:schemeClr val="accent3"/>
                </a:solidFill>
              </a:rPr>
              <a:t>model_name</a:t>
            </a:r>
            <a:r>
              <a:rPr lang="en-IN" dirty="0">
                <a:solidFill>
                  <a:schemeClr val="accent3"/>
                </a:solidFill>
              </a:rPr>
              <a:t>, "message": "Have some residuals"}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0089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47285-8711-FBF2-12C7-91A41019C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1932C-5B61-FDBC-2A5B-7733099EA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Predefined Path Parameters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D5C9C-1463-B5A2-FE3E-73F91672B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With this setup, </a:t>
            </a:r>
            <a:r>
              <a:rPr lang="en-US" dirty="0" err="1"/>
              <a:t>FastAPI</a:t>
            </a:r>
            <a:r>
              <a:rPr lang="en-US" dirty="0"/>
              <a:t> will:</a:t>
            </a:r>
          </a:p>
          <a:p>
            <a:r>
              <a:rPr lang="en-US" dirty="0"/>
              <a:t>Only accept "</a:t>
            </a:r>
            <a:r>
              <a:rPr lang="en-US" dirty="0" err="1"/>
              <a:t>alexnet</a:t>
            </a:r>
            <a:r>
              <a:rPr lang="en-US" dirty="0"/>
              <a:t>", "</a:t>
            </a:r>
            <a:r>
              <a:rPr lang="en-US" dirty="0" err="1"/>
              <a:t>resnet</a:t>
            </a:r>
            <a:r>
              <a:rPr lang="en-US" dirty="0"/>
              <a:t>", or "</a:t>
            </a:r>
            <a:r>
              <a:rPr lang="en-US" dirty="0" err="1"/>
              <a:t>lenet</a:t>
            </a:r>
            <a:r>
              <a:rPr lang="en-US" dirty="0"/>
              <a:t>" as valid values for </a:t>
            </a:r>
            <a:r>
              <a:rPr lang="en-US" dirty="0" err="1"/>
              <a:t>model_name</a:t>
            </a:r>
            <a:endParaRPr lang="en-US" dirty="0"/>
          </a:p>
          <a:p>
            <a:r>
              <a:rPr lang="en-US" dirty="0"/>
              <a:t>Document these as the only allowed values in the </a:t>
            </a:r>
            <a:r>
              <a:rPr lang="en-US" dirty="0" err="1"/>
              <a:t>OpenAPI</a:t>
            </a:r>
            <a:r>
              <a:rPr lang="en-US" dirty="0"/>
              <a:t> schema</a:t>
            </a:r>
          </a:p>
          <a:p>
            <a:r>
              <a:rPr lang="en-US" dirty="0"/>
              <a:t>Provide autocomplete for these values in the interactive API documentation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6555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25148-96E4-A564-D715-A937F8298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C398C-DD94-D6F4-EB22-418725AF9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Annotated as part of path params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2FE58-BAF0-4189-C38C-08BC7E534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Can declare the validations and metadata for path parameters with Path.</a:t>
            </a:r>
          </a:p>
          <a:p>
            <a:r>
              <a:rPr lang="en-US" dirty="0"/>
              <a:t>Import Path</a:t>
            </a:r>
          </a:p>
          <a:p>
            <a:r>
              <a:rPr lang="en-US" dirty="0"/>
              <a:t>First, import Path from </a:t>
            </a:r>
            <a:r>
              <a:rPr lang="en-US" dirty="0" err="1"/>
              <a:t>fastapi</a:t>
            </a:r>
            <a:r>
              <a:rPr lang="en-US" dirty="0"/>
              <a:t>, and import Annotated:</a:t>
            </a:r>
          </a:p>
          <a:p>
            <a:pPr marL="0" indent="0">
              <a:buNone/>
            </a:pPr>
            <a:r>
              <a:rPr lang="en-US" dirty="0"/>
              <a:t>from typing import Annotated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fastapi</a:t>
            </a:r>
            <a:r>
              <a:rPr lang="en-US" dirty="0"/>
              <a:t> import </a:t>
            </a:r>
            <a:r>
              <a:rPr lang="en-US" dirty="0" err="1"/>
              <a:t>FastAPI</a:t>
            </a:r>
            <a:r>
              <a:rPr lang="en-US" dirty="0"/>
              <a:t>, Path, Query</a:t>
            </a:r>
          </a:p>
          <a:p>
            <a:pPr marL="0" indent="0">
              <a:buNone/>
            </a:pPr>
            <a:r>
              <a:rPr lang="en-US" dirty="0"/>
              <a:t>app = </a:t>
            </a:r>
            <a:r>
              <a:rPr lang="en-US" dirty="0" err="1"/>
              <a:t>FastAPI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@app.get("/items/{item_id}")</a:t>
            </a:r>
          </a:p>
          <a:p>
            <a:pPr marL="0" indent="0">
              <a:buNone/>
            </a:pPr>
            <a:r>
              <a:rPr lang="en-US" dirty="0"/>
              <a:t>async def </a:t>
            </a:r>
            <a:r>
              <a:rPr lang="en-US" dirty="0" err="1"/>
              <a:t>read_items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item_id</a:t>
            </a:r>
            <a:r>
              <a:rPr lang="en-US" dirty="0"/>
              <a:t>: Annotated[int, Path(title="The ID of the item to get")]):</a:t>
            </a:r>
          </a:p>
          <a:p>
            <a:pPr marL="0" indent="0">
              <a:buNone/>
            </a:pPr>
            <a:r>
              <a:rPr lang="en-US" dirty="0"/>
              <a:t>    results = {"</a:t>
            </a:r>
            <a:r>
              <a:rPr lang="en-US" dirty="0" err="1"/>
              <a:t>item_id</a:t>
            </a:r>
            <a:r>
              <a:rPr lang="en-US" dirty="0"/>
              <a:t>": </a:t>
            </a:r>
            <a:r>
              <a:rPr lang="en-US" dirty="0" err="1"/>
              <a:t>item_id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return results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4565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C190E-1627-99B8-4543-DC9C88315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6FAF9-CA2C-EFF3-F787-AFABCF2B2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17195-00F7-1817-1AA3-9CE3743F6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r>
              <a:rPr lang="en-US" dirty="0"/>
              <a:t>A path parameter is always required as it has to be part of the path. </a:t>
            </a:r>
          </a:p>
          <a:p>
            <a:r>
              <a:rPr lang="en-US" dirty="0"/>
              <a:t>Even if you declared it with None or set a default value, it would not affect anything, it would still be always required.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5406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3AB19-B9F3-2094-35D2-1A9A6F848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941C6-08CA-0AF6-C023-0C57B42C4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validations: greater than or equal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AFDDF-4495-97CB-A6DA-0938F15C7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With Path -can declare number constraints.</a:t>
            </a:r>
          </a:p>
          <a:p>
            <a:r>
              <a:rPr lang="en-US" dirty="0"/>
              <a:t>Here, with </a:t>
            </a:r>
            <a:r>
              <a:rPr lang="en-US" dirty="0" err="1"/>
              <a:t>ge</a:t>
            </a:r>
            <a:r>
              <a:rPr lang="en-US" dirty="0"/>
              <a:t>=1, </a:t>
            </a:r>
            <a:r>
              <a:rPr lang="en-US" dirty="0" err="1"/>
              <a:t>item_id</a:t>
            </a:r>
            <a:r>
              <a:rPr lang="en-US" dirty="0"/>
              <a:t> will need to be an integer number "greater than or equal" to 1.</a:t>
            </a:r>
          </a:p>
          <a:p>
            <a:pPr marL="0" indent="0">
              <a:buNone/>
            </a:pPr>
            <a:r>
              <a:rPr lang="en-US" dirty="0"/>
              <a:t>@app.get("/items/{item_id}")</a:t>
            </a:r>
          </a:p>
          <a:p>
            <a:pPr marL="0" indent="0">
              <a:buNone/>
            </a:pPr>
            <a:r>
              <a:rPr lang="en-US" dirty="0"/>
              <a:t>async def </a:t>
            </a:r>
            <a:r>
              <a:rPr lang="en-US" dirty="0" err="1"/>
              <a:t>read_items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 err="1"/>
              <a:t>item_id</a:t>
            </a:r>
            <a:r>
              <a:rPr lang="en-US" b="1" dirty="0"/>
              <a:t>: Annotated[int, Path(title="The ID of the item to get", </a:t>
            </a:r>
            <a:r>
              <a:rPr lang="en-US" b="1" dirty="0" err="1"/>
              <a:t>ge</a:t>
            </a:r>
            <a:r>
              <a:rPr lang="en-US" b="1" dirty="0"/>
              <a:t>=1)]</a:t>
            </a:r>
            <a:r>
              <a:rPr lang="en-US" dirty="0"/>
              <a:t>, q: str</a:t>
            </a:r>
          </a:p>
          <a:p>
            <a:pPr marL="0" indent="0">
              <a:buNone/>
            </a:pP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results = {"</a:t>
            </a:r>
            <a:r>
              <a:rPr lang="en-US" dirty="0" err="1"/>
              <a:t>item_id</a:t>
            </a:r>
            <a:r>
              <a:rPr lang="en-US" dirty="0"/>
              <a:t>": </a:t>
            </a:r>
            <a:r>
              <a:rPr lang="en-US" dirty="0" err="1"/>
              <a:t>item_id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    if q: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results.update</a:t>
            </a:r>
            <a:r>
              <a:rPr lang="en-US" dirty="0"/>
              <a:t>({"q": q})</a:t>
            </a:r>
          </a:p>
          <a:p>
            <a:pPr marL="0" indent="0">
              <a:buNone/>
            </a:pPr>
            <a:r>
              <a:rPr lang="en-US" dirty="0"/>
              <a:t>    return results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5187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6A850-CB9D-D7BD-8B38-1B2177769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69F16-F498-6E09-E847-26DA0EC08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validations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F0FFF-77F8-1E1D-1C55-2E3512FFD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r>
              <a:rPr lang="en-US" dirty="0" err="1"/>
              <a:t>gt</a:t>
            </a:r>
            <a:r>
              <a:rPr lang="en-US" dirty="0"/>
              <a:t>: greater than</a:t>
            </a:r>
          </a:p>
          <a:p>
            <a:r>
              <a:rPr lang="en-US" dirty="0" err="1"/>
              <a:t>lt</a:t>
            </a:r>
            <a:r>
              <a:rPr lang="en-US" dirty="0"/>
              <a:t>: lesser than</a:t>
            </a:r>
          </a:p>
          <a:p>
            <a:r>
              <a:rPr lang="en-US" dirty="0"/>
              <a:t>le: less than or equal</a:t>
            </a:r>
          </a:p>
          <a:p>
            <a:r>
              <a:rPr lang="en-US" dirty="0" err="1"/>
              <a:t>ge</a:t>
            </a:r>
            <a:r>
              <a:rPr lang="en-US" dirty="0"/>
              <a:t>: greater than or equal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632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670B6-F8DC-4568-EF34-199AC4517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99B8-A010-1ED0-3584-3194D03E1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validations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CC636-0E28-2EC1-5F01-C814D8DEE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@app.get("/items/{item_id}")</a:t>
            </a:r>
          </a:p>
          <a:p>
            <a:pPr marL="0" indent="0">
              <a:buNone/>
            </a:pPr>
            <a:r>
              <a:rPr lang="en-IN" dirty="0"/>
              <a:t>async def </a:t>
            </a:r>
            <a:r>
              <a:rPr lang="en-IN" dirty="0" err="1"/>
              <a:t>read_items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*,</a:t>
            </a:r>
          </a:p>
          <a:p>
            <a:pPr marL="0" indent="0">
              <a:buNone/>
            </a:pPr>
            <a:r>
              <a:rPr lang="en-IN" b="1" dirty="0"/>
              <a:t>    </a:t>
            </a:r>
            <a:r>
              <a:rPr lang="en-IN" b="1" dirty="0" err="1"/>
              <a:t>item_id</a:t>
            </a:r>
            <a:r>
              <a:rPr lang="en-IN" b="1" dirty="0"/>
              <a:t>: Annotated[int, Path(title="The ID of the item to get", </a:t>
            </a:r>
            <a:r>
              <a:rPr lang="en-IN" b="1" dirty="0" err="1"/>
              <a:t>ge</a:t>
            </a:r>
            <a:r>
              <a:rPr lang="en-IN" b="1" dirty="0"/>
              <a:t>=0, le=1000)],</a:t>
            </a:r>
          </a:p>
          <a:p>
            <a:pPr marL="0" indent="0">
              <a:buNone/>
            </a:pPr>
            <a:r>
              <a:rPr lang="en-IN" dirty="0"/>
              <a:t>    q: str,</a:t>
            </a:r>
          </a:p>
          <a:p>
            <a:pPr marL="0" indent="0">
              <a:buNone/>
            </a:pPr>
            <a:r>
              <a:rPr lang="en-IN" dirty="0"/>
              <a:t>    size: Annotated[float, Query(</a:t>
            </a:r>
            <a:r>
              <a:rPr lang="en-IN" dirty="0" err="1"/>
              <a:t>gt</a:t>
            </a:r>
            <a:r>
              <a:rPr lang="en-IN" dirty="0"/>
              <a:t>=0, </a:t>
            </a:r>
            <a:r>
              <a:rPr lang="en-IN" dirty="0" err="1"/>
              <a:t>lt</a:t>
            </a:r>
            <a:r>
              <a:rPr lang="en-IN" dirty="0"/>
              <a:t>=10.5)],</a:t>
            </a:r>
          </a:p>
          <a:p>
            <a:pPr marL="0" indent="0">
              <a:buNone/>
            </a:pPr>
            <a:r>
              <a:rPr lang="en-IN" dirty="0"/>
              <a:t>):</a:t>
            </a:r>
          </a:p>
          <a:p>
            <a:pPr marL="0" indent="0">
              <a:buNone/>
            </a:pPr>
            <a:r>
              <a:rPr lang="en-IN" dirty="0"/>
              <a:t>    results = {"</a:t>
            </a:r>
            <a:r>
              <a:rPr lang="en-IN" dirty="0" err="1"/>
              <a:t>item_id</a:t>
            </a:r>
            <a:r>
              <a:rPr lang="en-IN" dirty="0"/>
              <a:t>": </a:t>
            </a:r>
            <a:r>
              <a:rPr lang="en-IN" dirty="0" err="1"/>
              <a:t>item_id</a:t>
            </a: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    if q: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results.update</a:t>
            </a:r>
            <a:r>
              <a:rPr lang="en-IN" dirty="0"/>
              <a:t>({"q": q})</a:t>
            </a:r>
          </a:p>
          <a:p>
            <a:pPr marL="0" indent="0">
              <a:buNone/>
            </a:pPr>
            <a:r>
              <a:rPr lang="en-IN" dirty="0"/>
              <a:t>    if size: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results.update</a:t>
            </a:r>
            <a:r>
              <a:rPr lang="en-IN" dirty="0"/>
              <a:t>({"size": size})</a:t>
            </a:r>
          </a:p>
          <a:p>
            <a:pPr marL="0" indent="0">
              <a:buNone/>
            </a:pPr>
            <a:r>
              <a:rPr lang="en-IN" dirty="0"/>
              <a:t>    return results</a:t>
            </a:r>
          </a:p>
        </p:txBody>
      </p:sp>
    </p:spTree>
    <p:extLst>
      <p:ext uri="{BB962C8B-B14F-4D97-AF65-F5344CB8AC3E}">
        <p14:creationId xmlns:p14="http://schemas.microsoft.com/office/powerpoint/2010/main" val="1398724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581EB-5A0E-9560-2163-2DC34D09B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3F471-809D-784B-78E0-456D4371D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Query Parameters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EDB66-E95D-225E-6BD5-B89E02D9E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r>
              <a:rPr lang="en-US" dirty="0"/>
              <a:t>Query parameters are the key-value pairs that appear after the ? in a URL. </a:t>
            </a:r>
          </a:p>
          <a:p>
            <a:r>
              <a:rPr lang="en-US" dirty="0"/>
              <a:t>In </a:t>
            </a:r>
            <a:r>
              <a:rPr lang="en-US" dirty="0" err="1"/>
              <a:t>FastAPI</a:t>
            </a:r>
            <a:r>
              <a:rPr lang="en-US" dirty="0"/>
              <a:t>, function parameters that aren't part of the path become query parameters.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8954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43EEB-3FD9-42C5-BD9A-F9A23DB99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D574B-C39C-8E91-304D-5B464F5D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Basic Query Parameters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76304-3CC8-7014-AC9A-A562E9411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>
            <a:normAutofit lnSpcReduction="10000"/>
          </a:bodyPr>
          <a:lstStyle/>
          <a:p>
            <a:r>
              <a:rPr lang="en-IN" i="1" dirty="0"/>
              <a:t>from</a:t>
            </a:r>
            <a:r>
              <a:rPr lang="en-IN" dirty="0"/>
              <a:t> </a:t>
            </a:r>
            <a:r>
              <a:rPr lang="en-IN" dirty="0" err="1"/>
              <a:t>fastapi</a:t>
            </a:r>
            <a:r>
              <a:rPr lang="en-IN" dirty="0"/>
              <a:t> </a:t>
            </a:r>
            <a:r>
              <a:rPr lang="en-IN" i="1" dirty="0"/>
              <a:t>import</a:t>
            </a:r>
            <a:r>
              <a:rPr lang="en-IN" dirty="0"/>
              <a:t> </a:t>
            </a:r>
            <a:r>
              <a:rPr lang="en-IN" dirty="0" err="1"/>
              <a:t>FastAPI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app = </a:t>
            </a:r>
            <a:r>
              <a:rPr lang="en-IN" dirty="0" err="1"/>
              <a:t>FastAPI</a:t>
            </a:r>
            <a:r>
              <a:rPr lang="en-IN" dirty="0"/>
              <a:t>()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@app.get("/items/")</a:t>
            </a:r>
            <a:br>
              <a:rPr lang="en-IN" dirty="0"/>
            </a:br>
            <a:r>
              <a:rPr lang="en-IN" i="1" dirty="0"/>
              <a:t>async</a:t>
            </a:r>
            <a:r>
              <a:rPr lang="en-IN" dirty="0"/>
              <a:t> </a:t>
            </a:r>
            <a:r>
              <a:rPr lang="en-IN" i="1" dirty="0"/>
              <a:t>def</a:t>
            </a:r>
            <a:r>
              <a:rPr lang="en-IN" dirty="0"/>
              <a:t> </a:t>
            </a:r>
            <a:r>
              <a:rPr lang="en-IN" dirty="0" err="1"/>
              <a:t>read_items</a:t>
            </a:r>
            <a:r>
              <a:rPr lang="en-IN" dirty="0"/>
              <a:t>(skip: int = 0, limit: int = 10):</a:t>
            </a:r>
            <a:br>
              <a:rPr lang="en-IN" dirty="0"/>
            </a:br>
            <a:r>
              <a:rPr lang="en-IN" dirty="0"/>
              <a:t>    </a:t>
            </a:r>
            <a:r>
              <a:rPr lang="en-IN" i="1" dirty="0"/>
              <a:t>return</a:t>
            </a:r>
            <a:r>
              <a:rPr lang="en-IN" dirty="0"/>
              <a:t> {"skip": skip, "limit": limit}</a:t>
            </a:r>
          </a:p>
          <a:p>
            <a:r>
              <a:rPr lang="en-US" dirty="0"/>
              <a:t>This endpoint accepts requests like /items/?skip=20&amp;limit=50.</a:t>
            </a:r>
          </a:p>
          <a:p>
            <a:r>
              <a:rPr lang="en-US" dirty="0"/>
              <a:t>If you call /items/?skip=20&amp;limit=50, you'll get:</a:t>
            </a:r>
          </a:p>
          <a:p>
            <a:pPr marL="0" indent="0">
              <a:buNone/>
            </a:pPr>
            <a:r>
              <a:rPr lang="en-US" dirty="0"/>
              <a:t>{"skip": 20, "limit": 50}</a:t>
            </a:r>
          </a:p>
          <a:p>
            <a:r>
              <a:rPr lang="en-US" dirty="0"/>
              <a:t>If you call /items/, you'll get the default values:</a:t>
            </a:r>
          </a:p>
          <a:p>
            <a:pPr marL="0" indent="0">
              <a:buNone/>
            </a:pPr>
            <a:r>
              <a:rPr lang="en-US" dirty="0"/>
              <a:t>{"skip": 0, "limit": 10}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7336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A0F80-EB55-065F-A11A-9FD29764B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Required vs Optional Query Parameters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E3936-40A9-2644-CF3D-AB303FB39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51719" cy="387194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By default, any parameter with a default value is optional. Parameters without default values are required.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@app.get("/items/")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async def </a:t>
            </a:r>
            <a:r>
              <a:rPr lang="en-US" b="1" dirty="0" err="1">
                <a:solidFill>
                  <a:schemeClr val="accent3"/>
                </a:solidFill>
              </a:rPr>
              <a:t>read_items</a:t>
            </a:r>
            <a:r>
              <a:rPr lang="en-US" b="1" dirty="0">
                <a:solidFill>
                  <a:schemeClr val="accent3"/>
                </a:solidFill>
              </a:rPr>
              <a:t>(q: str, skip: int = 0, limit: int = 10):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    return {"q": q, "skip": skip, "limit": limit}</a:t>
            </a:r>
          </a:p>
          <a:p>
            <a:endParaRPr lang="en-US" dirty="0"/>
          </a:p>
          <a:p>
            <a:r>
              <a:rPr lang="en-US" dirty="0"/>
              <a:t>In this example:</a:t>
            </a:r>
          </a:p>
          <a:p>
            <a:r>
              <a:rPr lang="en-US" dirty="0"/>
              <a:t>q is a required query parameter</a:t>
            </a:r>
          </a:p>
          <a:p>
            <a:r>
              <a:rPr lang="en-US" dirty="0"/>
              <a:t>skip and limit remain optional</a:t>
            </a:r>
          </a:p>
          <a:p>
            <a:r>
              <a:rPr lang="en-US" dirty="0"/>
              <a:t>If you try to visit http://localhost:8000/items/?skip=20&amp;limit=30 without providing q, </a:t>
            </a:r>
            <a:r>
              <a:rPr lang="en-US" dirty="0" err="1"/>
              <a:t>FastAPI</a:t>
            </a:r>
            <a:r>
              <a:rPr lang="en-US" dirty="0"/>
              <a:t> will return an error: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9362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864D7-E9BC-C399-AEC2-07940B48F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12458-0F70-0C11-128F-34682AC02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Optional Query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04DD6-FB7E-CCED-F7C3-CF55D9297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>
            <a:normAutofit lnSpcReduction="10000"/>
          </a:bodyPr>
          <a:lstStyle/>
          <a:p>
            <a:r>
              <a:rPr lang="en-IN" dirty="0"/>
              <a:t>To make a query parameter optional, you can use Python's Optional type hint:</a:t>
            </a:r>
          </a:p>
          <a:p>
            <a:pPr marL="0" indent="0">
              <a:buNone/>
            </a:pPr>
            <a:r>
              <a:rPr lang="en-IN" dirty="0"/>
              <a:t>@app.get("/items/")</a:t>
            </a:r>
          </a:p>
          <a:p>
            <a:pPr marL="0" indent="0">
              <a:buNone/>
            </a:pPr>
            <a:r>
              <a:rPr lang="en-IN" dirty="0"/>
              <a:t>async def </a:t>
            </a:r>
            <a:r>
              <a:rPr lang="en-IN" dirty="0" err="1"/>
              <a:t>read_items</a:t>
            </a:r>
            <a:r>
              <a:rPr lang="en-IN" dirty="0"/>
              <a:t>(q: Optional[str] = None, skip: int = 0, limit: int = 10):</a:t>
            </a:r>
          </a:p>
          <a:p>
            <a:pPr marL="0" indent="0">
              <a:buNone/>
            </a:pPr>
            <a:r>
              <a:rPr lang="en-IN" dirty="0"/>
              <a:t>    response = {"skip": skip, "limit": limit}</a:t>
            </a:r>
          </a:p>
          <a:p>
            <a:pPr marL="0" indent="0">
              <a:buNone/>
            </a:pPr>
            <a:r>
              <a:rPr lang="en-IN" dirty="0"/>
              <a:t>    if q: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response.update</a:t>
            </a:r>
            <a:r>
              <a:rPr lang="en-IN" dirty="0"/>
              <a:t>({"q": q})</a:t>
            </a:r>
          </a:p>
          <a:p>
            <a:pPr marL="0" indent="0">
              <a:buNone/>
            </a:pPr>
            <a:r>
              <a:rPr lang="en-IN" dirty="0"/>
              <a:t>    return response</a:t>
            </a:r>
          </a:p>
          <a:p>
            <a:r>
              <a:rPr lang="en-US" dirty="0"/>
              <a:t>In Python 3.10+, you can also use the pipe syntax for union types:</a:t>
            </a:r>
          </a:p>
          <a:p>
            <a:r>
              <a:rPr lang="en-US" dirty="0"/>
              <a:t>@app.get("/items/")</a:t>
            </a:r>
            <a:br>
              <a:rPr lang="en-US" dirty="0"/>
            </a:br>
            <a:r>
              <a:rPr lang="en-US" i="1" dirty="0"/>
              <a:t>async</a:t>
            </a:r>
            <a:r>
              <a:rPr lang="en-US" dirty="0"/>
              <a:t> </a:t>
            </a:r>
            <a:r>
              <a:rPr lang="en-US" i="1" dirty="0"/>
              <a:t>def</a:t>
            </a:r>
            <a:r>
              <a:rPr lang="en-US" dirty="0"/>
              <a:t> </a:t>
            </a:r>
            <a:r>
              <a:rPr lang="en-US" dirty="0" err="1"/>
              <a:t>read_items</a:t>
            </a:r>
            <a:r>
              <a:rPr lang="en-US" dirty="0"/>
              <a:t>(q: str | None = None, skip: int = 0, limit: int = 10):</a:t>
            </a:r>
            <a:br>
              <a:rPr lang="en-US" dirty="0"/>
            </a:br>
            <a:r>
              <a:rPr lang="en-US" dirty="0"/>
              <a:t>    # Function body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7502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0143-4BAD-8A5F-604A-8190CA98A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 Conversion and Validation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9B8F4-1728-0247-1887-E740C330E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111760" cy="3965251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FastAPI</a:t>
            </a:r>
            <a:r>
              <a:rPr lang="en-US" dirty="0"/>
              <a:t> automatically converts and validates query parameters based on the type annotations:</a:t>
            </a:r>
          </a:p>
          <a:p>
            <a:r>
              <a:rPr lang="en-US" dirty="0"/>
              <a:t>@app.get("/items/")</a:t>
            </a:r>
            <a:br>
              <a:rPr lang="en-US" dirty="0"/>
            </a:br>
            <a:r>
              <a:rPr lang="en-US" i="1" dirty="0"/>
              <a:t>async</a:t>
            </a:r>
            <a:r>
              <a:rPr lang="en-US" dirty="0"/>
              <a:t> </a:t>
            </a:r>
            <a:r>
              <a:rPr lang="en-US" i="1" dirty="0"/>
              <a:t>def</a:t>
            </a:r>
            <a:r>
              <a:rPr lang="en-US" dirty="0"/>
              <a:t> </a:t>
            </a:r>
            <a:r>
              <a:rPr lang="en-US" dirty="0" err="1"/>
              <a:t>read_items</a:t>
            </a:r>
            <a:r>
              <a:rPr lang="en-US" dirty="0"/>
              <a:t>(id: int, price: float, </a:t>
            </a:r>
            <a:r>
              <a:rPr lang="en-US" dirty="0" err="1"/>
              <a:t>is_available</a:t>
            </a:r>
            <a:r>
              <a:rPr lang="en-US" dirty="0"/>
              <a:t>: bool, name: str = None):</a:t>
            </a:r>
            <a:br>
              <a:rPr lang="en-US" dirty="0"/>
            </a:br>
            <a:r>
              <a:rPr lang="en-US" i="1" dirty="0"/>
              <a:t>return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"id": id,</a:t>
            </a:r>
            <a:br>
              <a:rPr lang="en-US" dirty="0"/>
            </a:br>
            <a:r>
              <a:rPr lang="en-US" dirty="0"/>
              <a:t>"price": price,</a:t>
            </a:r>
            <a:br>
              <a:rPr lang="en-US" dirty="0"/>
            </a:br>
            <a:r>
              <a:rPr lang="en-US" dirty="0"/>
              <a:t>"</a:t>
            </a:r>
            <a:r>
              <a:rPr lang="en-US" dirty="0" err="1"/>
              <a:t>is_available</a:t>
            </a:r>
            <a:r>
              <a:rPr lang="en-US" dirty="0"/>
              <a:t>": </a:t>
            </a:r>
            <a:r>
              <a:rPr lang="en-US" dirty="0" err="1"/>
              <a:t>is_available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"name": name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dirty="0"/>
              <a:t>When you access /items/?id=123&amp;price=19.99&amp;is_available=true, </a:t>
            </a:r>
            <a:r>
              <a:rPr lang="en-US" dirty="0" err="1"/>
              <a:t>FastAPI</a:t>
            </a:r>
            <a:r>
              <a:rPr lang="en-US" dirty="0"/>
              <a:t> will:</a:t>
            </a:r>
          </a:p>
          <a:p>
            <a:r>
              <a:rPr lang="en-US" dirty="0"/>
              <a:t>Convert id to an integer (123)</a:t>
            </a:r>
          </a:p>
          <a:p>
            <a:r>
              <a:rPr lang="en-US" dirty="0"/>
              <a:t>Convert price to a float (19.99)</a:t>
            </a:r>
          </a:p>
          <a:p>
            <a:r>
              <a:rPr lang="en-US" dirty="0"/>
              <a:t>Convert </a:t>
            </a:r>
            <a:r>
              <a:rPr lang="en-US" dirty="0" err="1"/>
              <a:t>is_available</a:t>
            </a:r>
            <a:r>
              <a:rPr lang="en-US" dirty="0"/>
              <a:t> to a </a:t>
            </a:r>
            <a:r>
              <a:rPr lang="en-US" dirty="0" err="1"/>
              <a:t>boolean</a:t>
            </a:r>
            <a:r>
              <a:rPr lang="en-US" dirty="0"/>
              <a:t> (True)</a:t>
            </a:r>
          </a:p>
          <a:p>
            <a:r>
              <a:rPr lang="en-US" dirty="0"/>
              <a:t>If any conversion fails, </a:t>
            </a:r>
            <a:r>
              <a:rPr lang="en-US" dirty="0" err="1"/>
              <a:t>FastAPI</a:t>
            </a:r>
            <a:r>
              <a:rPr lang="en-US" dirty="0"/>
              <a:t> will return an appropriate error response.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6546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0B5E9-8F74-F00C-5F40-B22E015C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1A78B-DFB7-BC11-7A02-982563811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00401" cy="3731986"/>
          </a:xfrm>
        </p:spPr>
        <p:txBody>
          <a:bodyPr>
            <a:normAutofit fontScale="92500" lnSpcReduction="20000"/>
          </a:bodyPr>
          <a:lstStyle/>
          <a:p>
            <a:r>
              <a:rPr lang="en-IN" dirty="0" err="1"/>
              <a:t>FastAPI</a:t>
            </a:r>
            <a:r>
              <a:rPr lang="en-IN" dirty="0"/>
              <a:t> has smart conversion for </a:t>
            </a:r>
            <a:r>
              <a:rPr lang="en-IN" dirty="0" err="1"/>
              <a:t>boolean</a:t>
            </a:r>
            <a:r>
              <a:rPr lang="en-IN" dirty="0"/>
              <a:t> values: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3"/>
                </a:solidFill>
              </a:rPr>
              <a:t>@app.get("/items/")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3"/>
                </a:solidFill>
              </a:rPr>
              <a:t>async def </a:t>
            </a:r>
            <a:r>
              <a:rPr lang="en-IN" b="1" dirty="0" err="1">
                <a:solidFill>
                  <a:schemeClr val="accent3"/>
                </a:solidFill>
              </a:rPr>
              <a:t>read_items</a:t>
            </a:r>
            <a:r>
              <a:rPr lang="en-IN" b="1" dirty="0">
                <a:solidFill>
                  <a:schemeClr val="accent3"/>
                </a:solidFill>
              </a:rPr>
              <a:t>(available: bool = False):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3"/>
                </a:solidFill>
              </a:rPr>
              <a:t>    return {"available": available}</a:t>
            </a:r>
          </a:p>
          <a:p>
            <a:r>
              <a:rPr lang="en-IN" dirty="0"/>
              <a:t>With this endpoint:</a:t>
            </a:r>
          </a:p>
          <a:p>
            <a:r>
              <a:rPr lang="en-IN" dirty="0"/>
              <a:t>http://localhost:8000/items/?available=true sets available to True</a:t>
            </a:r>
          </a:p>
          <a:p>
            <a:r>
              <a:rPr lang="en-IN" dirty="0"/>
              <a:t>http://localhost:8000/items/?available=yes sets available to True</a:t>
            </a:r>
          </a:p>
          <a:p>
            <a:r>
              <a:rPr lang="en-IN" dirty="0"/>
              <a:t>http://localhost:8000/items/?available=1 sets available to True</a:t>
            </a:r>
          </a:p>
          <a:p>
            <a:r>
              <a:rPr lang="en-IN" dirty="0"/>
              <a:t>http://localhost:8000/items/?available=false sets available to False</a:t>
            </a:r>
          </a:p>
          <a:p>
            <a:r>
              <a:rPr lang="en-IN" dirty="0"/>
              <a:t>http://localhost:8000/items/?available=no sets available to False</a:t>
            </a:r>
          </a:p>
          <a:p>
            <a:r>
              <a:rPr lang="en-IN" dirty="0"/>
              <a:t>http://localhost:8000/items/?available=0 sets available to False</a:t>
            </a:r>
          </a:p>
        </p:txBody>
      </p:sp>
    </p:spTree>
    <p:extLst>
      <p:ext uri="{BB962C8B-B14F-4D97-AF65-F5344CB8AC3E}">
        <p14:creationId xmlns:p14="http://schemas.microsoft.com/office/powerpoint/2010/main" val="825674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DD96C-D43D-9DAB-CB8D-8A49A49EF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Validation using Annotated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5F124-6352-F477-D31C-0849A5D67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195736" cy="4011904"/>
          </a:xfrm>
        </p:spPr>
        <p:txBody>
          <a:bodyPr>
            <a:normAutofit/>
          </a:bodyPr>
          <a:lstStyle/>
          <a:p>
            <a:r>
              <a:rPr lang="en-IN" dirty="0"/>
              <a:t>from typing import Annotated</a:t>
            </a:r>
          </a:p>
          <a:p>
            <a:r>
              <a:rPr lang="en-IN" dirty="0"/>
              <a:t>from </a:t>
            </a:r>
            <a:r>
              <a:rPr lang="en-IN" dirty="0" err="1"/>
              <a:t>fastapi</a:t>
            </a:r>
            <a:r>
              <a:rPr lang="en-IN" dirty="0"/>
              <a:t> import </a:t>
            </a:r>
            <a:r>
              <a:rPr lang="en-IN" dirty="0" err="1"/>
              <a:t>FastAPI</a:t>
            </a:r>
            <a:r>
              <a:rPr lang="en-IN" dirty="0"/>
              <a:t>, Query</a:t>
            </a:r>
          </a:p>
          <a:p>
            <a:r>
              <a:rPr lang="en-IN" dirty="0"/>
              <a:t>app = </a:t>
            </a:r>
            <a:r>
              <a:rPr lang="en-IN" dirty="0" err="1"/>
              <a:t>FastAPI</a:t>
            </a:r>
            <a:r>
              <a:rPr lang="en-IN" dirty="0"/>
              <a:t>()</a:t>
            </a:r>
          </a:p>
          <a:p>
            <a:r>
              <a:rPr lang="en-IN" dirty="0"/>
              <a:t>@app.get("/items/")</a:t>
            </a:r>
          </a:p>
          <a:p>
            <a:r>
              <a:rPr lang="en-IN" dirty="0"/>
              <a:t>async def </a:t>
            </a:r>
            <a:r>
              <a:rPr lang="en-IN" dirty="0" err="1"/>
              <a:t>read_items</a:t>
            </a:r>
            <a:r>
              <a:rPr lang="en-IN" dirty="0"/>
              <a:t>(q: Annotated[str | None, Query(</a:t>
            </a:r>
            <a:r>
              <a:rPr lang="en-IN" dirty="0" err="1"/>
              <a:t>max_length</a:t>
            </a:r>
            <a:r>
              <a:rPr lang="en-IN" dirty="0"/>
              <a:t>=50)] = None):</a:t>
            </a:r>
          </a:p>
          <a:p>
            <a:r>
              <a:rPr lang="en-IN" dirty="0"/>
              <a:t>    results = {"items": [{"</a:t>
            </a:r>
            <a:r>
              <a:rPr lang="en-IN" dirty="0" err="1"/>
              <a:t>item_id</a:t>
            </a:r>
            <a:r>
              <a:rPr lang="en-IN" dirty="0"/>
              <a:t>": "Foo"}, {"</a:t>
            </a:r>
            <a:r>
              <a:rPr lang="en-IN" dirty="0" err="1"/>
              <a:t>item_id</a:t>
            </a:r>
            <a:r>
              <a:rPr lang="en-IN" dirty="0"/>
              <a:t>": "Bar"}]}</a:t>
            </a:r>
          </a:p>
          <a:p>
            <a:r>
              <a:rPr lang="en-IN" dirty="0"/>
              <a:t>    if q:</a:t>
            </a:r>
          </a:p>
          <a:p>
            <a:r>
              <a:rPr lang="en-IN" dirty="0"/>
              <a:t>        </a:t>
            </a:r>
            <a:r>
              <a:rPr lang="en-IN" dirty="0" err="1"/>
              <a:t>results.update</a:t>
            </a:r>
            <a:r>
              <a:rPr lang="en-IN" dirty="0"/>
              <a:t>({"q": q})</a:t>
            </a:r>
          </a:p>
          <a:p>
            <a:r>
              <a:rPr lang="en-IN" dirty="0"/>
              <a:t>    return results</a:t>
            </a:r>
          </a:p>
        </p:txBody>
      </p:sp>
    </p:spTree>
    <p:extLst>
      <p:ext uri="{BB962C8B-B14F-4D97-AF65-F5344CB8AC3E}">
        <p14:creationId xmlns:p14="http://schemas.microsoft.com/office/powerpoint/2010/main" val="359362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653CD-076E-8E81-8DF6-B88D3827A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Annotated in the type for the q parameter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F4D4E-FC65-330D-D848-78BDC60F2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03646" cy="3671337"/>
          </a:xfrm>
        </p:spPr>
        <p:txBody>
          <a:bodyPr>
            <a:normAutofit/>
          </a:bodyPr>
          <a:lstStyle/>
          <a:p>
            <a:r>
              <a:rPr lang="en-US" dirty="0"/>
              <a:t>Annotated can be used to add metadata to the parameters </a:t>
            </a:r>
          </a:p>
          <a:p>
            <a:pPr marL="0" indent="0">
              <a:buNone/>
            </a:pPr>
            <a:r>
              <a:rPr lang="en-US" b="1" dirty="0"/>
              <a:t>q: str | None = None</a:t>
            </a:r>
          </a:p>
          <a:p>
            <a:r>
              <a:rPr lang="en-US" dirty="0"/>
              <a:t>What we will do is wrap that with Annotated, so it becomes:</a:t>
            </a:r>
          </a:p>
          <a:p>
            <a:pPr marL="0" indent="0">
              <a:buNone/>
            </a:pPr>
            <a:r>
              <a:rPr lang="en-US" b="1" dirty="0"/>
              <a:t>q: Annotated[str | None] = None</a:t>
            </a:r>
          </a:p>
          <a:p>
            <a:endParaRPr lang="en-US" dirty="0"/>
          </a:p>
          <a:p>
            <a:r>
              <a:rPr lang="en-US" dirty="0"/>
              <a:t>Both of those versions mean the same thing, q is a parameter that can be a str or None, and by default, it is None.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3578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9E9AB-8BBB-0062-901D-85639F33F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Annotated in the type for the q parameter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F51E6-18E9-AC57-CA54-F1B827374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42997" cy="36200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@app.get("/items/")</a:t>
            </a:r>
          </a:p>
          <a:p>
            <a:pPr marL="0" indent="0">
              <a:buNone/>
            </a:pPr>
            <a:r>
              <a:rPr lang="en-IN" b="1" dirty="0"/>
              <a:t>async def </a:t>
            </a:r>
            <a:r>
              <a:rPr lang="en-IN" b="1" dirty="0" err="1"/>
              <a:t>read_items</a:t>
            </a:r>
            <a:r>
              <a:rPr lang="en-IN" b="1" dirty="0"/>
              <a:t>(q: Annotated[str | None, Query(</a:t>
            </a:r>
            <a:r>
              <a:rPr lang="en-IN" b="1" dirty="0" err="1"/>
              <a:t>max_length</a:t>
            </a:r>
            <a:r>
              <a:rPr lang="en-IN" b="1" dirty="0"/>
              <a:t>=50)] = None):</a:t>
            </a:r>
          </a:p>
          <a:p>
            <a:pPr marL="0" indent="0">
              <a:buNone/>
            </a:pPr>
            <a:r>
              <a:rPr lang="en-IN" b="1" dirty="0"/>
              <a:t>    results = {"items": [{"</a:t>
            </a:r>
            <a:r>
              <a:rPr lang="en-IN" b="1" dirty="0" err="1"/>
              <a:t>item_id</a:t>
            </a:r>
            <a:r>
              <a:rPr lang="en-IN" b="1" dirty="0"/>
              <a:t>": "Foo"}, {"</a:t>
            </a:r>
            <a:r>
              <a:rPr lang="en-IN" b="1" dirty="0" err="1"/>
              <a:t>item_id</a:t>
            </a:r>
            <a:r>
              <a:rPr lang="en-IN" b="1" dirty="0"/>
              <a:t>": "Bar"}]}</a:t>
            </a:r>
          </a:p>
          <a:p>
            <a:pPr marL="0" indent="0">
              <a:buNone/>
            </a:pPr>
            <a:r>
              <a:rPr lang="en-IN" b="1" dirty="0"/>
              <a:t>    if q:</a:t>
            </a:r>
          </a:p>
          <a:p>
            <a:pPr marL="0" indent="0">
              <a:buNone/>
            </a:pPr>
            <a:r>
              <a:rPr lang="en-IN" b="1" dirty="0"/>
              <a:t>        </a:t>
            </a:r>
            <a:r>
              <a:rPr lang="en-IN" b="1" dirty="0" err="1"/>
              <a:t>results.update</a:t>
            </a:r>
            <a:r>
              <a:rPr lang="en-IN" b="1" dirty="0"/>
              <a:t>({"q": q})</a:t>
            </a:r>
          </a:p>
          <a:p>
            <a:pPr marL="0" indent="0">
              <a:buNone/>
            </a:pPr>
            <a:r>
              <a:rPr lang="en-IN" b="1" dirty="0"/>
              <a:t>    return results</a:t>
            </a:r>
          </a:p>
          <a:p>
            <a:r>
              <a:rPr lang="en-US" dirty="0"/>
              <a:t>Default value is still None, so the parameter is still optional.</a:t>
            </a:r>
          </a:p>
          <a:p>
            <a:r>
              <a:rPr lang="en-US" dirty="0"/>
              <a:t>But now, having Query(</a:t>
            </a:r>
            <a:r>
              <a:rPr lang="en-US" dirty="0" err="1"/>
              <a:t>max_length</a:t>
            </a:r>
            <a:r>
              <a:rPr lang="en-US" dirty="0"/>
              <a:t>=50) inside of Annotated, we are telling </a:t>
            </a:r>
            <a:r>
              <a:rPr lang="en-US" dirty="0" err="1"/>
              <a:t>FastAPI</a:t>
            </a:r>
            <a:r>
              <a:rPr lang="en-US" dirty="0"/>
              <a:t> that we want it to have </a:t>
            </a:r>
            <a:r>
              <a:rPr lang="en-US" b="1" dirty="0"/>
              <a:t>additional validation</a:t>
            </a:r>
            <a:r>
              <a:rPr lang="en-US" dirty="0"/>
              <a:t> for this value, we want it to have maximum 50 characters.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9559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9833A-0B80-5446-1265-ADC284AF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Without Annotated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30EFF-7C0D-26DC-32A3-2C7DA363F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638940" cy="3843953"/>
          </a:xfrm>
        </p:spPr>
        <p:txBody>
          <a:bodyPr>
            <a:normAutofit/>
          </a:bodyPr>
          <a:lstStyle/>
          <a:p>
            <a:r>
              <a:rPr lang="en-IN" dirty="0"/>
              <a:t>from </a:t>
            </a:r>
            <a:r>
              <a:rPr lang="en-IN" dirty="0" err="1"/>
              <a:t>fastapi</a:t>
            </a:r>
            <a:r>
              <a:rPr lang="en-IN" dirty="0"/>
              <a:t> import </a:t>
            </a:r>
            <a:r>
              <a:rPr lang="en-IN" dirty="0" err="1"/>
              <a:t>FastAPI</a:t>
            </a:r>
            <a:r>
              <a:rPr lang="en-IN" dirty="0"/>
              <a:t>, Query</a:t>
            </a:r>
          </a:p>
          <a:p>
            <a:r>
              <a:rPr lang="en-IN" dirty="0"/>
              <a:t>@app.get("/items/")</a:t>
            </a:r>
          </a:p>
          <a:p>
            <a:r>
              <a:rPr lang="en-IN" dirty="0"/>
              <a:t>async def </a:t>
            </a:r>
            <a:r>
              <a:rPr lang="en-IN" dirty="0" err="1"/>
              <a:t>read_items</a:t>
            </a:r>
            <a:r>
              <a:rPr lang="en-IN" dirty="0"/>
              <a:t>(q: str | None = Query(default=None, </a:t>
            </a:r>
            <a:r>
              <a:rPr lang="en-IN" dirty="0" err="1"/>
              <a:t>max_length</a:t>
            </a:r>
            <a:r>
              <a:rPr lang="en-IN" dirty="0"/>
              <a:t>=50)):</a:t>
            </a:r>
          </a:p>
          <a:p>
            <a:r>
              <a:rPr lang="en-IN" dirty="0"/>
              <a:t>    results = {"items": [{"</a:t>
            </a:r>
            <a:r>
              <a:rPr lang="en-IN" dirty="0" err="1"/>
              <a:t>item_id</a:t>
            </a:r>
            <a:r>
              <a:rPr lang="en-IN" dirty="0"/>
              <a:t>": "Foo"}, {"</a:t>
            </a:r>
            <a:r>
              <a:rPr lang="en-IN" dirty="0" err="1"/>
              <a:t>item_id</a:t>
            </a:r>
            <a:r>
              <a:rPr lang="en-IN" dirty="0"/>
              <a:t>": "Bar"}]}</a:t>
            </a:r>
          </a:p>
          <a:p>
            <a:r>
              <a:rPr lang="en-IN" dirty="0"/>
              <a:t>    if q:</a:t>
            </a:r>
          </a:p>
          <a:p>
            <a:r>
              <a:rPr lang="en-IN" dirty="0"/>
              <a:t>        </a:t>
            </a:r>
            <a:r>
              <a:rPr lang="en-IN" dirty="0" err="1"/>
              <a:t>results.update</a:t>
            </a:r>
            <a:r>
              <a:rPr lang="en-IN" dirty="0"/>
              <a:t>({"q": q})</a:t>
            </a:r>
          </a:p>
          <a:p>
            <a:r>
              <a:rPr lang="en-IN" dirty="0"/>
              <a:t>    return results</a:t>
            </a:r>
          </a:p>
          <a:p>
            <a:r>
              <a:rPr lang="en-US" dirty="0"/>
              <a:t>As in this case (without using Annotated) we have to replace the default value None in the function with Query(), we now need to set the default value with the parameter Query(default=None), it serves the same purpose of defining that default value 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98092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44243-9968-DCAF-E47A-60511E18A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Using the Query Class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F67A-644D-849E-2AB8-5B03A43BF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055777" cy="387661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more advanced control over query parameters, </a:t>
            </a:r>
            <a:r>
              <a:rPr lang="en-US" dirty="0" err="1"/>
              <a:t>FastAPI</a:t>
            </a:r>
            <a:r>
              <a:rPr lang="en-US" dirty="0"/>
              <a:t> provides the Query class:</a:t>
            </a:r>
          </a:p>
          <a:p>
            <a:r>
              <a:rPr lang="en-IN" dirty="0"/>
              <a:t>@app.get("/items/")</a:t>
            </a:r>
            <a:br>
              <a:rPr lang="en-IN" dirty="0"/>
            </a:br>
            <a:r>
              <a:rPr lang="en-IN" i="1" dirty="0"/>
              <a:t>async</a:t>
            </a:r>
            <a:r>
              <a:rPr lang="en-IN" dirty="0"/>
              <a:t> </a:t>
            </a:r>
            <a:r>
              <a:rPr lang="en-IN" i="1" dirty="0"/>
              <a:t>def</a:t>
            </a:r>
            <a:r>
              <a:rPr lang="en-IN" dirty="0"/>
              <a:t> </a:t>
            </a:r>
            <a:r>
              <a:rPr lang="en-IN" dirty="0" err="1"/>
              <a:t>read_items</a:t>
            </a:r>
            <a:r>
              <a:rPr lang="en-IN" dirty="0"/>
              <a:t>(</a:t>
            </a:r>
            <a:br>
              <a:rPr lang="en-IN" dirty="0"/>
            </a:br>
            <a:r>
              <a:rPr lang="en-IN" dirty="0"/>
              <a:t>q: str = Query(</a:t>
            </a:r>
            <a:br>
              <a:rPr lang="en-IN" dirty="0"/>
            </a:br>
            <a:r>
              <a:rPr lang="en-IN" dirty="0"/>
              <a:t>default=None,</a:t>
            </a:r>
            <a:br>
              <a:rPr lang="en-IN" dirty="0"/>
            </a:br>
            <a:r>
              <a:rPr lang="en-IN" dirty="0" err="1"/>
              <a:t>min_length</a:t>
            </a:r>
            <a:r>
              <a:rPr lang="en-IN" dirty="0"/>
              <a:t>=3,</a:t>
            </a:r>
            <a:br>
              <a:rPr lang="en-IN" dirty="0"/>
            </a:br>
            <a:r>
              <a:rPr lang="en-IN" dirty="0" err="1"/>
              <a:t>max_length</a:t>
            </a:r>
            <a:r>
              <a:rPr lang="en-IN" dirty="0"/>
              <a:t>=50,</a:t>
            </a:r>
            <a:br>
              <a:rPr lang="en-IN" dirty="0"/>
            </a:br>
            <a:r>
              <a:rPr lang="en-IN" dirty="0"/>
              <a:t>title="Query string",</a:t>
            </a:r>
            <a:br>
              <a:rPr lang="en-IN" dirty="0"/>
            </a:br>
            <a:r>
              <a:rPr lang="en-IN" dirty="0"/>
              <a:t>description="Query string for the items to search"</a:t>
            </a:r>
            <a:br>
              <a:rPr lang="en-IN" dirty="0"/>
            </a:b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):</a:t>
            </a:r>
            <a:br>
              <a:rPr lang="en-IN" dirty="0"/>
            </a:br>
            <a:r>
              <a:rPr lang="en-IN" dirty="0"/>
              <a:t>results = {"items": [{"</a:t>
            </a:r>
            <a:r>
              <a:rPr lang="en-IN" dirty="0" err="1"/>
              <a:t>item_id</a:t>
            </a:r>
            <a:r>
              <a:rPr lang="en-IN" dirty="0"/>
              <a:t>": "Foo"}, {"</a:t>
            </a:r>
            <a:r>
              <a:rPr lang="en-IN" dirty="0" err="1"/>
              <a:t>item_id</a:t>
            </a:r>
            <a:r>
              <a:rPr lang="en-IN" dirty="0"/>
              <a:t>": "Bar"}]}</a:t>
            </a:r>
            <a:br>
              <a:rPr lang="en-IN" dirty="0"/>
            </a:br>
            <a:r>
              <a:rPr lang="en-IN" i="1" dirty="0"/>
              <a:t>if</a:t>
            </a:r>
            <a:r>
              <a:rPr lang="en-IN" dirty="0"/>
              <a:t> q:</a:t>
            </a:r>
            <a:br>
              <a:rPr lang="en-IN" dirty="0"/>
            </a:br>
            <a:r>
              <a:rPr lang="en-IN" dirty="0" err="1"/>
              <a:t>results.update</a:t>
            </a:r>
            <a:r>
              <a:rPr lang="en-IN" dirty="0"/>
              <a:t>({"q": q})</a:t>
            </a:r>
            <a:br>
              <a:rPr lang="en-IN" dirty="0"/>
            </a:br>
            <a:r>
              <a:rPr lang="en-IN" i="1" dirty="0"/>
              <a:t>return</a:t>
            </a:r>
            <a:r>
              <a:rPr lang="en-IN" dirty="0"/>
              <a:t> results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2883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70CA8-1E87-415E-0AAB-1AF6E4AE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Using the Query Class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D819-F48D-31D1-1E3E-FEF6DEE0A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 Query class provides many parameters for validation and documentation:</a:t>
            </a:r>
          </a:p>
          <a:p>
            <a:r>
              <a:rPr lang="en-IN" dirty="0"/>
              <a:t>default: Sets the default value</a:t>
            </a:r>
          </a:p>
          <a:p>
            <a:r>
              <a:rPr lang="en-IN" dirty="0" err="1"/>
              <a:t>min_length</a:t>
            </a:r>
            <a:r>
              <a:rPr lang="en-IN" dirty="0"/>
              <a:t>/</a:t>
            </a:r>
            <a:r>
              <a:rPr lang="en-IN" dirty="0" err="1"/>
              <a:t>max_length</a:t>
            </a:r>
            <a:r>
              <a:rPr lang="en-IN" dirty="0"/>
              <a:t>: Validates string length</a:t>
            </a:r>
          </a:p>
          <a:p>
            <a:r>
              <a:rPr lang="en-IN" dirty="0"/>
              <a:t>regex: Validates against a regular expression</a:t>
            </a:r>
          </a:p>
          <a:p>
            <a:r>
              <a:rPr lang="en-IN" dirty="0"/>
              <a:t>title/description: Adds metadata for the API documentation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2840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AC6B-83DC-0772-307F-115675998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Required Query Parameters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69409-9B12-9592-7D52-8245A012B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47054" cy="3708659"/>
          </a:xfrm>
        </p:spPr>
        <p:txBody>
          <a:bodyPr>
            <a:normAutofit/>
          </a:bodyPr>
          <a:lstStyle/>
          <a:p>
            <a:r>
              <a:rPr lang="en-US" dirty="0"/>
              <a:t>To make a query parameter required, you can use Query without a default value or with ... as the default:</a:t>
            </a:r>
          </a:p>
          <a:p>
            <a:pPr marL="0" indent="0">
              <a:buNone/>
            </a:pPr>
            <a:r>
              <a:rPr lang="en-US" dirty="0"/>
              <a:t>@app.get("/items/")</a:t>
            </a:r>
          </a:p>
          <a:p>
            <a:pPr marL="0" indent="0">
              <a:buNone/>
            </a:pPr>
            <a:r>
              <a:rPr lang="en-US" dirty="0"/>
              <a:t>async def </a:t>
            </a:r>
            <a:r>
              <a:rPr lang="en-US" dirty="0" err="1"/>
              <a:t>read_items</a:t>
            </a:r>
            <a:r>
              <a:rPr lang="en-US" dirty="0"/>
              <a:t>(q: str = Query(default=..., </a:t>
            </a:r>
            <a:r>
              <a:rPr lang="en-US" dirty="0" err="1"/>
              <a:t>min_length</a:t>
            </a:r>
            <a:r>
              <a:rPr lang="en-US" dirty="0"/>
              <a:t>=3)):</a:t>
            </a:r>
          </a:p>
          <a:p>
            <a:pPr marL="0" indent="0">
              <a:buNone/>
            </a:pPr>
            <a:r>
              <a:rPr lang="en-US" dirty="0"/>
              <a:t>    results = {"items": [{"</a:t>
            </a:r>
            <a:r>
              <a:rPr lang="en-US" dirty="0" err="1"/>
              <a:t>item_id</a:t>
            </a:r>
            <a:r>
              <a:rPr lang="en-US" dirty="0"/>
              <a:t>": "Foo"}, {"</a:t>
            </a:r>
            <a:r>
              <a:rPr lang="en-US" dirty="0" err="1"/>
              <a:t>item_id</a:t>
            </a:r>
            <a:r>
              <a:rPr lang="en-US" dirty="0"/>
              <a:t>": "Bar"}]}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results.update</a:t>
            </a:r>
            <a:r>
              <a:rPr lang="en-US" dirty="0"/>
              <a:t>({"q": q})</a:t>
            </a:r>
          </a:p>
          <a:p>
            <a:pPr marL="0" indent="0">
              <a:buNone/>
            </a:pPr>
            <a:r>
              <a:rPr lang="en-US" dirty="0"/>
              <a:t>    return results</a:t>
            </a:r>
          </a:p>
          <a:p>
            <a:endParaRPr lang="en-US" dirty="0"/>
          </a:p>
          <a:p>
            <a:r>
              <a:rPr lang="en-US" dirty="0"/>
              <a:t>In this example, q is a required parameter with a minimum length of 3 characters.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18471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9F3EA-747D-03FD-7928-AF4C0D91E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Required Query Parameters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2AC7E-5D5E-2DA5-EA77-516C6693C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from typing import Annotated</a:t>
            </a:r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fastapi</a:t>
            </a:r>
            <a:r>
              <a:rPr lang="en-IN" dirty="0"/>
              <a:t> import </a:t>
            </a:r>
            <a:r>
              <a:rPr lang="en-IN" dirty="0" err="1"/>
              <a:t>FastAPI</a:t>
            </a:r>
            <a:r>
              <a:rPr lang="en-IN" dirty="0"/>
              <a:t>, Query</a:t>
            </a:r>
          </a:p>
          <a:p>
            <a:pPr marL="0" indent="0">
              <a:buNone/>
            </a:pPr>
            <a:r>
              <a:rPr lang="en-IN" dirty="0"/>
              <a:t>app = </a:t>
            </a:r>
            <a:r>
              <a:rPr lang="en-IN" dirty="0" err="1"/>
              <a:t>FastAPI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@app.get("/items/")</a:t>
            </a:r>
          </a:p>
          <a:p>
            <a:pPr marL="0" indent="0">
              <a:buNone/>
            </a:pPr>
            <a:r>
              <a:rPr lang="en-IN" dirty="0"/>
              <a:t>async def </a:t>
            </a:r>
            <a:r>
              <a:rPr lang="en-IN" dirty="0" err="1"/>
              <a:t>read_items</a:t>
            </a:r>
            <a:r>
              <a:rPr lang="en-IN" dirty="0"/>
              <a:t>(q: Annotated[str, Query(</a:t>
            </a:r>
            <a:r>
              <a:rPr lang="en-IN" dirty="0" err="1"/>
              <a:t>min_length</a:t>
            </a:r>
            <a:r>
              <a:rPr lang="en-IN" dirty="0"/>
              <a:t>=3)]):</a:t>
            </a:r>
          </a:p>
          <a:p>
            <a:pPr marL="0" indent="0">
              <a:buNone/>
            </a:pPr>
            <a:r>
              <a:rPr lang="en-IN" dirty="0"/>
              <a:t>    results = {"items": [{"</a:t>
            </a:r>
            <a:r>
              <a:rPr lang="en-IN" dirty="0" err="1"/>
              <a:t>item_id</a:t>
            </a:r>
            <a:r>
              <a:rPr lang="en-IN" dirty="0"/>
              <a:t>": "Foo"}, {"</a:t>
            </a:r>
            <a:r>
              <a:rPr lang="en-IN" dirty="0" err="1"/>
              <a:t>item_id</a:t>
            </a:r>
            <a:r>
              <a:rPr lang="en-IN" dirty="0"/>
              <a:t>": "Bar"}]}</a:t>
            </a:r>
          </a:p>
          <a:p>
            <a:pPr marL="0" indent="0">
              <a:buNone/>
            </a:pPr>
            <a:r>
              <a:rPr lang="en-IN" dirty="0"/>
              <a:t>    if q: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results.update</a:t>
            </a:r>
            <a:r>
              <a:rPr lang="en-IN" dirty="0"/>
              <a:t>({"q": q})</a:t>
            </a:r>
          </a:p>
          <a:p>
            <a:pPr marL="0" indent="0">
              <a:buNone/>
            </a:pPr>
            <a:r>
              <a:rPr lang="en-IN" dirty="0"/>
              <a:t>    return results</a:t>
            </a:r>
          </a:p>
        </p:txBody>
      </p:sp>
    </p:spTree>
    <p:extLst>
      <p:ext uri="{BB962C8B-B14F-4D97-AF65-F5344CB8AC3E}">
        <p14:creationId xmlns:p14="http://schemas.microsoft.com/office/powerpoint/2010/main" val="4238766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24BD1-EEF1-665E-077C-E8711C9DF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Required, can be None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0E98A-FFDB-AF15-CC5B-1EB6BDC94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960586"/>
          </a:xfrm>
        </p:spPr>
        <p:txBody>
          <a:bodyPr>
            <a:normAutofit/>
          </a:bodyPr>
          <a:lstStyle/>
          <a:p>
            <a:r>
              <a:rPr lang="en-US" dirty="0"/>
              <a:t>Can declare that a parameter can accept None, but that it's still required. This would force clients to send a value, even if the value is None.</a:t>
            </a:r>
          </a:p>
          <a:p>
            <a:r>
              <a:rPr lang="en-US" dirty="0"/>
              <a:t>To do that, you can declare that None is a valid type but simply do not declare a default value:</a:t>
            </a:r>
          </a:p>
          <a:p>
            <a:pPr marL="0" indent="0">
              <a:buNone/>
            </a:pPr>
            <a:r>
              <a:rPr lang="en-US" dirty="0"/>
              <a:t>@app.get("/items/")</a:t>
            </a:r>
          </a:p>
          <a:p>
            <a:pPr marL="0" indent="0">
              <a:buNone/>
            </a:pPr>
            <a:r>
              <a:rPr lang="en-US" dirty="0"/>
              <a:t>async def </a:t>
            </a:r>
            <a:r>
              <a:rPr lang="en-US" dirty="0" err="1"/>
              <a:t>read_items</a:t>
            </a:r>
            <a:r>
              <a:rPr lang="en-US" dirty="0"/>
              <a:t>(q: Annotated[str | None, Query(</a:t>
            </a:r>
            <a:r>
              <a:rPr lang="en-US" dirty="0" err="1"/>
              <a:t>min_length</a:t>
            </a:r>
            <a:r>
              <a:rPr lang="en-US" dirty="0"/>
              <a:t>=3)]):</a:t>
            </a:r>
          </a:p>
          <a:p>
            <a:pPr marL="0" indent="0">
              <a:buNone/>
            </a:pPr>
            <a:r>
              <a:rPr lang="en-US" dirty="0"/>
              <a:t>    results = {"items": [{"</a:t>
            </a:r>
            <a:r>
              <a:rPr lang="en-US" dirty="0" err="1"/>
              <a:t>item_id</a:t>
            </a:r>
            <a:r>
              <a:rPr lang="en-US" dirty="0"/>
              <a:t>": "Foo"}, {"</a:t>
            </a:r>
            <a:r>
              <a:rPr lang="en-US" dirty="0" err="1"/>
              <a:t>item_id</a:t>
            </a:r>
            <a:r>
              <a:rPr lang="en-US" dirty="0"/>
              <a:t>": "Bar"}]}</a:t>
            </a:r>
          </a:p>
          <a:p>
            <a:pPr marL="0" indent="0">
              <a:buNone/>
            </a:pPr>
            <a:r>
              <a:rPr lang="en-US" dirty="0"/>
              <a:t>    if q: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results.update</a:t>
            </a:r>
            <a:r>
              <a:rPr lang="en-US" dirty="0"/>
              <a:t>({"q": q})</a:t>
            </a:r>
          </a:p>
          <a:p>
            <a:pPr marL="0" indent="0">
              <a:buNone/>
            </a:pPr>
            <a:r>
              <a:rPr lang="en-US" dirty="0"/>
              <a:t>    return results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78702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DA3A6-12C7-B9B0-F080-C45A31E59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F44C0-36D6-79CB-6B12-5921C4154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Query Parameter Validation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55B0B-6A48-A0EB-1CDC-A75C1ABF4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FastAPI</a:t>
            </a:r>
            <a:r>
              <a:rPr lang="en-US" dirty="0"/>
              <a:t> provides powerful parameter validation through </a:t>
            </a:r>
            <a:r>
              <a:rPr lang="en-US" dirty="0" err="1"/>
              <a:t>Pydantic</a:t>
            </a:r>
            <a:r>
              <a:rPr lang="en-US" dirty="0"/>
              <a:t>:</a:t>
            </a:r>
          </a:p>
          <a:p>
            <a:r>
              <a:rPr lang="en-IN" dirty="0"/>
              <a:t>@app.get("/items/")</a:t>
            </a:r>
            <a:br>
              <a:rPr lang="en-IN" dirty="0"/>
            </a:br>
            <a:r>
              <a:rPr lang="en-IN" i="1" dirty="0"/>
              <a:t>async</a:t>
            </a:r>
            <a:r>
              <a:rPr lang="en-IN" dirty="0"/>
              <a:t> </a:t>
            </a:r>
            <a:r>
              <a:rPr lang="en-IN" i="1" dirty="0"/>
              <a:t>def</a:t>
            </a:r>
            <a:r>
              <a:rPr lang="en-IN" dirty="0"/>
              <a:t> </a:t>
            </a:r>
            <a:r>
              <a:rPr lang="en-IN" dirty="0" err="1"/>
              <a:t>read_items</a:t>
            </a:r>
            <a:r>
              <a:rPr lang="en-IN" dirty="0"/>
              <a:t>(</a:t>
            </a:r>
            <a:br>
              <a:rPr lang="en-IN" dirty="0"/>
            </a:br>
            <a:r>
              <a:rPr lang="en-IN" dirty="0"/>
              <a:t>q: Optional[str] = Query(</a:t>
            </a:r>
            <a:br>
              <a:rPr lang="en-IN" dirty="0"/>
            </a:br>
            <a:r>
              <a:rPr lang="en-IN" dirty="0"/>
              <a:t>None,</a:t>
            </a:r>
            <a:br>
              <a:rPr lang="en-IN" dirty="0"/>
            </a:br>
            <a:r>
              <a:rPr lang="en-IN" dirty="0" err="1"/>
              <a:t>min_length</a:t>
            </a:r>
            <a:r>
              <a:rPr lang="en-IN" dirty="0"/>
              <a:t>=3,</a:t>
            </a:r>
            <a:br>
              <a:rPr lang="en-IN" dirty="0"/>
            </a:br>
            <a:r>
              <a:rPr lang="en-IN" dirty="0" err="1"/>
              <a:t>max_length</a:t>
            </a:r>
            <a:r>
              <a:rPr lang="en-IN" dirty="0"/>
              <a:t>=50,</a:t>
            </a:r>
            <a:br>
              <a:rPr lang="en-IN" dirty="0"/>
            </a:br>
            <a:r>
              <a:rPr lang="en-IN" dirty="0"/>
              <a:t>regex="^</a:t>
            </a:r>
            <a:r>
              <a:rPr lang="en-IN" dirty="0" err="1"/>
              <a:t>fixedquery</a:t>
            </a:r>
            <a:r>
              <a:rPr lang="en-IN" dirty="0"/>
              <a:t>$",</a:t>
            </a:r>
            <a:br>
              <a:rPr lang="en-IN" dirty="0"/>
            </a:br>
            <a:r>
              <a:rPr lang="en-IN" dirty="0"/>
              <a:t>title="Query string",</a:t>
            </a:r>
            <a:br>
              <a:rPr lang="en-IN" dirty="0"/>
            </a:br>
            <a:r>
              <a:rPr lang="en-IN" dirty="0"/>
              <a:t>description="Query string for the items to search in the database",</a:t>
            </a:r>
            <a:br>
              <a:rPr lang="en-IN" dirty="0"/>
            </a:b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):</a:t>
            </a:r>
            <a:br>
              <a:rPr lang="en-IN" dirty="0"/>
            </a:br>
            <a:r>
              <a:rPr lang="en-IN" dirty="0"/>
              <a:t>results = {"items": [{"</a:t>
            </a:r>
            <a:r>
              <a:rPr lang="en-IN" dirty="0" err="1"/>
              <a:t>item_id</a:t>
            </a:r>
            <a:r>
              <a:rPr lang="en-IN" dirty="0"/>
              <a:t>": "Foo"}, {"</a:t>
            </a:r>
            <a:r>
              <a:rPr lang="en-IN" dirty="0" err="1"/>
              <a:t>item_id</a:t>
            </a:r>
            <a:r>
              <a:rPr lang="en-IN" dirty="0"/>
              <a:t>": "Bar"}]}</a:t>
            </a:r>
            <a:br>
              <a:rPr lang="en-IN" dirty="0"/>
            </a:br>
            <a:r>
              <a:rPr lang="en-IN" i="1" dirty="0"/>
              <a:t>if</a:t>
            </a:r>
            <a:r>
              <a:rPr lang="en-IN" dirty="0"/>
              <a:t> q:</a:t>
            </a:r>
            <a:br>
              <a:rPr lang="en-IN" dirty="0"/>
            </a:br>
            <a:r>
              <a:rPr lang="en-IN" dirty="0" err="1"/>
              <a:t>results.update</a:t>
            </a:r>
            <a:r>
              <a:rPr lang="en-IN" dirty="0"/>
              <a:t>({"q": q})</a:t>
            </a:r>
            <a:br>
              <a:rPr lang="en-IN" dirty="0"/>
            </a:br>
            <a:r>
              <a:rPr lang="en-IN" i="1" dirty="0"/>
              <a:t>return</a:t>
            </a:r>
            <a:r>
              <a:rPr lang="en-IN" dirty="0"/>
              <a:t> results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50692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19021-51E7-96DD-EE3A-71B2D9650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Parameter Aliasing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BFEFC-C3C0-85AC-2E05-E4B35DECA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9780524" cy="3815961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Might need to use a different parameter name in your code than in your API</a:t>
            </a:r>
          </a:p>
          <a:p>
            <a:r>
              <a:rPr lang="en-IN" dirty="0"/>
              <a:t> For example, if you have a parameter with a name like item-query (which isn't a valid Python variable name):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chemeClr val="accent3"/>
                </a:solidFill>
              </a:rPr>
              <a:t>@app.get("/items/")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3"/>
                </a:solidFill>
              </a:rPr>
              <a:t>async def </a:t>
            </a:r>
            <a:r>
              <a:rPr lang="en-IN" b="1" dirty="0" err="1">
                <a:solidFill>
                  <a:schemeClr val="accent3"/>
                </a:solidFill>
              </a:rPr>
              <a:t>read_items</a:t>
            </a:r>
            <a:r>
              <a:rPr lang="en-IN" b="1" dirty="0">
                <a:solidFill>
                  <a:schemeClr val="accent3"/>
                </a:solidFill>
              </a:rPr>
              <a:t>(q: str = Query(None, alias="item-query")):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3"/>
                </a:solidFill>
              </a:rPr>
              <a:t>    results = {"items": [{"</a:t>
            </a:r>
            <a:r>
              <a:rPr lang="en-IN" b="1" dirty="0" err="1">
                <a:solidFill>
                  <a:schemeClr val="accent3"/>
                </a:solidFill>
              </a:rPr>
              <a:t>item_id</a:t>
            </a:r>
            <a:r>
              <a:rPr lang="en-IN" b="1" dirty="0">
                <a:solidFill>
                  <a:schemeClr val="accent3"/>
                </a:solidFill>
              </a:rPr>
              <a:t>": "Foo"}, {"</a:t>
            </a:r>
            <a:r>
              <a:rPr lang="en-IN" b="1" dirty="0" err="1">
                <a:solidFill>
                  <a:schemeClr val="accent3"/>
                </a:solidFill>
              </a:rPr>
              <a:t>item_id</a:t>
            </a:r>
            <a:r>
              <a:rPr lang="en-IN" b="1" dirty="0">
                <a:solidFill>
                  <a:schemeClr val="accent3"/>
                </a:solidFill>
              </a:rPr>
              <a:t>": "Bar"}]}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3"/>
                </a:solidFill>
              </a:rPr>
              <a:t>    if q: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3"/>
                </a:solidFill>
              </a:rPr>
              <a:t>        </a:t>
            </a:r>
            <a:r>
              <a:rPr lang="en-IN" b="1" dirty="0" err="1">
                <a:solidFill>
                  <a:schemeClr val="accent3"/>
                </a:solidFill>
              </a:rPr>
              <a:t>results.update</a:t>
            </a:r>
            <a:r>
              <a:rPr lang="en-IN" b="1" dirty="0">
                <a:solidFill>
                  <a:schemeClr val="accent3"/>
                </a:solidFill>
              </a:rPr>
              <a:t>({"q": q})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3"/>
                </a:solidFill>
              </a:rPr>
              <a:t>    return results</a:t>
            </a:r>
          </a:p>
          <a:p>
            <a:endParaRPr lang="en-IN" dirty="0"/>
          </a:p>
          <a:p>
            <a:r>
              <a:rPr lang="en-IN" dirty="0"/>
              <a:t>Now clients should use item-query in their requests: http://localhost:8000/items/?item-query=foobar</a:t>
            </a:r>
          </a:p>
        </p:txBody>
      </p:sp>
    </p:spTree>
    <p:extLst>
      <p:ext uri="{BB962C8B-B14F-4D97-AF65-F5344CB8AC3E}">
        <p14:creationId xmlns:p14="http://schemas.microsoft.com/office/powerpoint/2010/main" val="13438535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013CD-BF9F-9E86-3BC7-1F3662FA0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Exclude parameters from </a:t>
            </a:r>
            <a:r>
              <a:rPr lang="en-US" dirty="0" err="1"/>
              <a:t>OpenAPI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B059F-155E-7CFB-5E6E-A671FE97B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102430" cy="396058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 exclude a query parameter from the generated </a:t>
            </a:r>
            <a:r>
              <a:rPr lang="en-US" dirty="0" err="1"/>
              <a:t>OpenAPI</a:t>
            </a:r>
            <a:r>
              <a:rPr lang="en-US" dirty="0"/>
              <a:t> schema (and thus, from the automatic documentation systems), set the parameter </a:t>
            </a:r>
            <a:r>
              <a:rPr lang="en-US" dirty="0" err="1"/>
              <a:t>include_in_schema</a:t>
            </a:r>
            <a:r>
              <a:rPr lang="en-US" dirty="0"/>
              <a:t> of Query to False:</a:t>
            </a:r>
          </a:p>
          <a:p>
            <a:pPr marL="0" indent="0">
              <a:buNone/>
            </a:pPr>
            <a:r>
              <a:rPr lang="en-US" dirty="0"/>
              <a:t>@app.get("/items/")</a:t>
            </a:r>
          </a:p>
          <a:p>
            <a:pPr marL="0" indent="0">
              <a:buNone/>
            </a:pPr>
            <a:r>
              <a:rPr lang="en-US" dirty="0"/>
              <a:t>async def </a:t>
            </a:r>
            <a:r>
              <a:rPr lang="en-US" dirty="0" err="1"/>
              <a:t>read_items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hidden_query</a:t>
            </a:r>
            <a:r>
              <a:rPr lang="en-US" dirty="0"/>
              <a:t>: Annotated[str | None, Query(</a:t>
            </a:r>
            <a:r>
              <a:rPr lang="en-US" dirty="0" err="1"/>
              <a:t>include_in_schema</a:t>
            </a:r>
            <a:r>
              <a:rPr lang="en-US" dirty="0"/>
              <a:t>=False)] = None,</a:t>
            </a:r>
          </a:p>
          <a:p>
            <a:pPr marL="0" indent="0">
              <a:buNone/>
            </a:pP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if </a:t>
            </a:r>
            <a:r>
              <a:rPr lang="en-US" dirty="0" err="1"/>
              <a:t>hidden_query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return {"</a:t>
            </a:r>
            <a:r>
              <a:rPr lang="en-US" dirty="0" err="1"/>
              <a:t>hidden_query</a:t>
            </a:r>
            <a:r>
              <a:rPr lang="en-US" dirty="0"/>
              <a:t>": </a:t>
            </a:r>
            <a:r>
              <a:rPr lang="en-US" dirty="0" err="1"/>
              <a:t>hidden_query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    else:</a:t>
            </a:r>
          </a:p>
          <a:p>
            <a:pPr marL="0" indent="0">
              <a:buNone/>
            </a:pPr>
            <a:r>
              <a:rPr lang="en-US" dirty="0"/>
              <a:t>        return {"</a:t>
            </a:r>
            <a:r>
              <a:rPr lang="en-US" dirty="0" err="1"/>
              <a:t>hidden_query</a:t>
            </a:r>
            <a:r>
              <a:rPr lang="en-US" dirty="0"/>
              <a:t>": "Not found"}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02016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6E398-88A5-554C-BEAF-6E18BA75E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Validation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4D6DB-C68E-FB5B-2B21-691969EEE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331030" cy="4072553"/>
          </a:xfrm>
        </p:spPr>
        <p:txBody>
          <a:bodyPr/>
          <a:lstStyle/>
          <a:p>
            <a:r>
              <a:rPr lang="en-US" dirty="0"/>
              <a:t>There could be cases where you need to do some </a:t>
            </a:r>
            <a:r>
              <a:rPr lang="en-US" b="1" dirty="0"/>
              <a:t>custom validation</a:t>
            </a:r>
            <a:r>
              <a:rPr lang="en-US" dirty="0"/>
              <a:t> that can't be done with the parameters shown above.</a:t>
            </a:r>
          </a:p>
          <a:p>
            <a:r>
              <a:rPr lang="en-US" dirty="0"/>
              <a:t>In those cases, can use a </a:t>
            </a:r>
            <a:r>
              <a:rPr lang="en-US" b="1" dirty="0"/>
              <a:t>custom validator function</a:t>
            </a:r>
            <a:r>
              <a:rPr lang="en-US" dirty="0"/>
              <a:t> that is applied after the normal validation (e.g. after validating that the value is a str).</a:t>
            </a:r>
          </a:p>
          <a:p>
            <a:r>
              <a:rPr lang="en-US" dirty="0"/>
              <a:t>Can achieve that using </a:t>
            </a:r>
            <a:r>
              <a:rPr lang="en-US" dirty="0" err="1"/>
              <a:t>Pydantic's</a:t>
            </a:r>
            <a:r>
              <a:rPr lang="en-US" dirty="0"/>
              <a:t> AfterValidator inside of Annotated</a:t>
            </a:r>
          </a:p>
          <a:p>
            <a:r>
              <a:rPr lang="en-IN" dirty="0" err="1"/>
              <a:t>Pydantic</a:t>
            </a:r>
            <a:r>
              <a:rPr lang="en-IN" dirty="0"/>
              <a:t> also has </a:t>
            </a:r>
            <a:r>
              <a:rPr lang="en-IN" dirty="0" err="1"/>
              <a:t>BeforeValidator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41279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C671F-AF19-CFDA-D299-DA4435DAC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Validation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06EC8-E37D-7FA8-F1B3-45D0A0C77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5715" cy="398391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For example, this custom validator checks that the item ID starts with </a:t>
            </a:r>
            <a:r>
              <a:rPr lang="en-US" dirty="0" err="1"/>
              <a:t>isbn</a:t>
            </a:r>
            <a:r>
              <a:rPr lang="en-US" dirty="0"/>
              <a:t>- for an ISBN book number or with </a:t>
            </a:r>
            <a:r>
              <a:rPr lang="en-US" dirty="0" err="1"/>
              <a:t>imdb</a:t>
            </a:r>
            <a:r>
              <a:rPr lang="en-US" dirty="0"/>
              <a:t>- for an IMDB movie URL ID:</a:t>
            </a:r>
          </a:p>
          <a:p>
            <a:pPr marL="0" indent="0">
              <a:buNone/>
            </a:pPr>
            <a:r>
              <a:rPr lang="en-IN" dirty="0"/>
              <a:t>def </a:t>
            </a:r>
            <a:r>
              <a:rPr lang="en-IN" dirty="0" err="1"/>
              <a:t>check_valid_id</a:t>
            </a:r>
            <a:r>
              <a:rPr lang="en-IN" dirty="0"/>
              <a:t>(id: str):</a:t>
            </a:r>
          </a:p>
          <a:p>
            <a:pPr marL="0" indent="0">
              <a:buNone/>
            </a:pPr>
            <a:r>
              <a:rPr lang="en-IN" dirty="0"/>
              <a:t>    if not </a:t>
            </a:r>
            <a:r>
              <a:rPr lang="en-IN" dirty="0" err="1"/>
              <a:t>id.startswith</a:t>
            </a:r>
            <a:r>
              <a:rPr lang="en-IN" dirty="0"/>
              <a:t>(("</a:t>
            </a:r>
            <a:r>
              <a:rPr lang="en-IN" dirty="0" err="1"/>
              <a:t>isbn</a:t>
            </a:r>
            <a:r>
              <a:rPr lang="en-IN" dirty="0"/>
              <a:t>-", "</a:t>
            </a:r>
            <a:r>
              <a:rPr lang="en-IN" dirty="0" err="1"/>
              <a:t>imdb</a:t>
            </a:r>
            <a:r>
              <a:rPr lang="en-IN" dirty="0"/>
              <a:t>-")):</a:t>
            </a:r>
          </a:p>
          <a:p>
            <a:pPr marL="0" indent="0">
              <a:buNone/>
            </a:pPr>
            <a:r>
              <a:rPr lang="en-IN" dirty="0"/>
              <a:t>        raise </a:t>
            </a:r>
            <a:r>
              <a:rPr lang="en-IN" dirty="0" err="1"/>
              <a:t>ValueError</a:t>
            </a:r>
            <a:r>
              <a:rPr lang="en-IN" dirty="0"/>
              <a:t>('Invalid ID format, it must start with "</a:t>
            </a:r>
            <a:r>
              <a:rPr lang="en-IN" dirty="0" err="1"/>
              <a:t>isbn</a:t>
            </a:r>
            <a:r>
              <a:rPr lang="en-IN" dirty="0"/>
              <a:t>-" or "</a:t>
            </a:r>
            <a:r>
              <a:rPr lang="en-IN" dirty="0" err="1"/>
              <a:t>imdb</a:t>
            </a:r>
            <a:r>
              <a:rPr lang="en-IN" dirty="0"/>
              <a:t>-"')</a:t>
            </a:r>
          </a:p>
          <a:p>
            <a:pPr marL="0" indent="0">
              <a:buNone/>
            </a:pPr>
            <a:r>
              <a:rPr lang="en-IN" dirty="0"/>
              <a:t>    return id</a:t>
            </a:r>
          </a:p>
          <a:p>
            <a:pPr marL="0" indent="0">
              <a:buNone/>
            </a:pPr>
            <a:r>
              <a:rPr lang="en-IN" dirty="0"/>
              <a:t>@app.get("/items/")</a:t>
            </a:r>
          </a:p>
          <a:p>
            <a:pPr marL="0" indent="0">
              <a:buNone/>
            </a:pPr>
            <a:r>
              <a:rPr lang="en-IN" dirty="0"/>
              <a:t>async def </a:t>
            </a:r>
            <a:r>
              <a:rPr lang="en-IN" dirty="0" err="1"/>
              <a:t>read_items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id: Annotated[str | None, </a:t>
            </a:r>
            <a:r>
              <a:rPr lang="en-IN" dirty="0" err="1"/>
              <a:t>AfterValidator</a:t>
            </a:r>
            <a:r>
              <a:rPr lang="en-IN" dirty="0"/>
              <a:t>(</a:t>
            </a:r>
            <a:r>
              <a:rPr lang="en-IN" dirty="0" err="1"/>
              <a:t>check_valid_id</a:t>
            </a:r>
            <a:r>
              <a:rPr lang="en-IN" dirty="0"/>
              <a:t>)] = None,</a:t>
            </a:r>
          </a:p>
          <a:p>
            <a:pPr marL="0" indent="0">
              <a:buNone/>
            </a:pPr>
            <a:r>
              <a:rPr lang="en-IN" dirty="0"/>
              <a:t>):</a:t>
            </a:r>
          </a:p>
          <a:p>
            <a:pPr marL="0" indent="0">
              <a:buNone/>
            </a:pPr>
            <a:r>
              <a:rPr lang="en-IN" dirty="0"/>
              <a:t>    if id:</a:t>
            </a:r>
          </a:p>
          <a:p>
            <a:pPr marL="0" indent="0">
              <a:buNone/>
            </a:pPr>
            <a:r>
              <a:rPr lang="en-IN" dirty="0"/>
              <a:t>        item = </a:t>
            </a:r>
            <a:r>
              <a:rPr lang="en-IN" dirty="0" err="1"/>
              <a:t>data.get</a:t>
            </a:r>
            <a:r>
              <a:rPr lang="en-IN" dirty="0"/>
              <a:t>(id)</a:t>
            </a:r>
          </a:p>
          <a:p>
            <a:pPr marL="0" indent="0">
              <a:buNone/>
            </a:pPr>
            <a:r>
              <a:rPr lang="en-IN" dirty="0"/>
              <a:t>    else:</a:t>
            </a:r>
          </a:p>
          <a:p>
            <a:pPr marL="0" indent="0">
              <a:buNone/>
            </a:pPr>
            <a:r>
              <a:rPr lang="en-IN" dirty="0"/>
              <a:t>        id, item = </a:t>
            </a:r>
            <a:r>
              <a:rPr lang="en-IN" dirty="0" err="1"/>
              <a:t>random.choice</a:t>
            </a:r>
            <a:r>
              <a:rPr lang="en-IN" dirty="0"/>
              <a:t>(list(</a:t>
            </a:r>
            <a:r>
              <a:rPr lang="en-IN" dirty="0" err="1"/>
              <a:t>data.items</a:t>
            </a:r>
            <a:r>
              <a:rPr lang="en-IN" dirty="0"/>
              <a:t>()))</a:t>
            </a:r>
          </a:p>
          <a:p>
            <a:pPr marL="0" indent="0">
              <a:buNone/>
            </a:pPr>
            <a:r>
              <a:rPr lang="en-IN" dirty="0"/>
              <a:t>    return {"id": id, "name": item}</a:t>
            </a:r>
          </a:p>
        </p:txBody>
      </p:sp>
    </p:spTree>
    <p:extLst>
      <p:ext uri="{BB962C8B-B14F-4D97-AF65-F5344CB8AC3E}">
        <p14:creationId xmlns:p14="http://schemas.microsoft.com/office/powerpoint/2010/main" val="35211921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47F6F-60AC-26F4-0ED8-9DD3ECB58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385A1-4C2E-45F1-ED6F-5B488A048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Parameter Models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2BF84-4CC0-B46C-1813-582283755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r>
              <a:rPr lang="en-US" dirty="0"/>
              <a:t>If you have a group of </a:t>
            </a:r>
            <a:r>
              <a:rPr lang="en-US" b="1" dirty="0"/>
              <a:t>query parameters</a:t>
            </a:r>
            <a:r>
              <a:rPr lang="en-US" dirty="0"/>
              <a:t> that are related, you can create a </a:t>
            </a:r>
            <a:r>
              <a:rPr lang="en-US" b="1" dirty="0" err="1"/>
              <a:t>Pydantic</a:t>
            </a:r>
            <a:r>
              <a:rPr lang="en-US" b="1" dirty="0"/>
              <a:t> model</a:t>
            </a:r>
            <a:r>
              <a:rPr lang="en-US" dirty="0"/>
              <a:t> to declare them.</a:t>
            </a:r>
          </a:p>
          <a:p>
            <a:r>
              <a:rPr lang="en-US" dirty="0"/>
              <a:t>This would allow you to </a:t>
            </a:r>
            <a:r>
              <a:rPr lang="en-US" b="1" dirty="0"/>
              <a:t>re-use the model</a:t>
            </a:r>
            <a:r>
              <a:rPr lang="en-US" dirty="0"/>
              <a:t> in </a:t>
            </a:r>
            <a:r>
              <a:rPr lang="en-US" b="1" dirty="0"/>
              <a:t>multiple places</a:t>
            </a:r>
            <a:r>
              <a:rPr lang="en-US" dirty="0"/>
              <a:t> and also to declare validations and metadata for all the parameters at once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95473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CBD38-0A7E-FE7A-17C6-586B15C9C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6208D-F7C9-3464-A433-B4687949E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Parameters with a </a:t>
            </a:r>
            <a:r>
              <a:rPr lang="en-US" dirty="0" err="1"/>
              <a:t>Pydantic</a:t>
            </a:r>
            <a:r>
              <a:rPr lang="en-US" dirty="0"/>
              <a:t>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E4EA5-1D28-748E-8CEA-01AF5B265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Declare the </a:t>
            </a:r>
            <a:r>
              <a:rPr lang="en-US" b="1" dirty="0"/>
              <a:t>query parameters</a:t>
            </a:r>
            <a:r>
              <a:rPr lang="en-US" dirty="0"/>
              <a:t> that you need in a </a:t>
            </a:r>
            <a:r>
              <a:rPr lang="en-US" b="1" dirty="0" err="1"/>
              <a:t>Pydantic</a:t>
            </a:r>
            <a:r>
              <a:rPr lang="en-US" b="1" dirty="0"/>
              <a:t> model</a:t>
            </a:r>
            <a:r>
              <a:rPr lang="en-US" dirty="0"/>
              <a:t>, and then declare the parameter as Query: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class </a:t>
            </a:r>
            <a:r>
              <a:rPr lang="en-US" b="1" dirty="0" err="1">
                <a:solidFill>
                  <a:schemeClr val="accent3"/>
                </a:solidFill>
              </a:rPr>
              <a:t>FilterParams</a:t>
            </a:r>
            <a:r>
              <a:rPr lang="en-US" b="1" dirty="0">
                <a:solidFill>
                  <a:schemeClr val="accent3"/>
                </a:solidFill>
              </a:rPr>
              <a:t>(</a:t>
            </a:r>
            <a:r>
              <a:rPr lang="en-US" b="1" dirty="0" err="1">
                <a:solidFill>
                  <a:schemeClr val="accent3"/>
                </a:solidFill>
              </a:rPr>
              <a:t>BaseModel</a:t>
            </a:r>
            <a:r>
              <a:rPr lang="en-US" b="1" dirty="0">
                <a:solidFill>
                  <a:schemeClr val="accent3"/>
                </a:solidFill>
              </a:rPr>
              <a:t>):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    limit: int = Field(100, </a:t>
            </a:r>
            <a:r>
              <a:rPr lang="en-US" b="1" dirty="0" err="1">
                <a:solidFill>
                  <a:schemeClr val="accent3"/>
                </a:solidFill>
              </a:rPr>
              <a:t>gt</a:t>
            </a:r>
            <a:r>
              <a:rPr lang="en-US" b="1" dirty="0">
                <a:solidFill>
                  <a:schemeClr val="accent3"/>
                </a:solidFill>
              </a:rPr>
              <a:t>=0, le=100)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    offset: int = Field(0, </a:t>
            </a:r>
            <a:r>
              <a:rPr lang="en-US" b="1" dirty="0" err="1">
                <a:solidFill>
                  <a:schemeClr val="accent3"/>
                </a:solidFill>
              </a:rPr>
              <a:t>ge</a:t>
            </a:r>
            <a:r>
              <a:rPr lang="en-US" b="1" dirty="0">
                <a:solidFill>
                  <a:schemeClr val="accent3"/>
                </a:solidFill>
              </a:rPr>
              <a:t>=0)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    </a:t>
            </a:r>
            <a:r>
              <a:rPr lang="en-US" b="1" dirty="0" err="1">
                <a:solidFill>
                  <a:schemeClr val="accent3"/>
                </a:solidFill>
              </a:rPr>
              <a:t>order_by</a:t>
            </a:r>
            <a:r>
              <a:rPr lang="en-US" b="1" dirty="0">
                <a:solidFill>
                  <a:schemeClr val="accent3"/>
                </a:solidFill>
              </a:rPr>
              <a:t>: Literal["</a:t>
            </a:r>
            <a:r>
              <a:rPr lang="en-US" b="1" dirty="0" err="1">
                <a:solidFill>
                  <a:schemeClr val="accent3"/>
                </a:solidFill>
              </a:rPr>
              <a:t>created_at</a:t>
            </a:r>
            <a:r>
              <a:rPr lang="en-US" b="1" dirty="0">
                <a:solidFill>
                  <a:schemeClr val="accent3"/>
                </a:solidFill>
              </a:rPr>
              <a:t>", "</a:t>
            </a:r>
            <a:r>
              <a:rPr lang="en-US" b="1" dirty="0" err="1">
                <a:solidFill>
                  <a:schemeClr val="accent3"/>
                </a:solidFill>
              </a:rPr>
              <a:t>updated_at</a:t>
            </a:r>
            <a:r>
              <a:rPr lang="en-US" b="1" dirty="0">
                <a:solidFill>
                  <a:schemeClr val="accent3"/>
                </a:solidFill>
              </a:rPr>
              <a:t>"] = "</a:t>
            </a:r>
            <a:r>
              <a:rPr lang="en-US" b="1" dirty="0" err="1">
                <a:solidFill>
                  <a:schemeClr val="accent3"/>
                </a:solidFill>
              </a:rPr>
              <a:t>created_at</a:t>
            </a:r>
            <a:r>
              <a:rPr lang="en-US" b="1" dirty="0">
                <a:solidFill>
                  <a:schemeClr val="accent3"/>
                </a:solidFill>
              </a:rPr>
              <a:t>"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    tags: list[str] = []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@app.get("/items/")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async def </a:t>
            </a:r>
            <a:r>
              <a:rPr lang="en-US" b="1" dirty="0" err="1">
                <a:solidFill>
                  <a:schemeClr val="accent3"/>
                </a:solidFill>
              </a:rPr>
              <a:t>read_items</a:t>
            </a:r>
            <a:r>
              <a:rPr lang="en-US" b="1" dirty="0">
                <a:solidFill>
                  <a:schemeClr val="accent3"/>
                </a:solidFill>
              </a:rPr>
              <a:t>(</a:t>
            </a:r>
            <a:r>
              <a:rPr lang="en-US" b="1" dirty="0" err="1">
                <a:solidFill>
                  <a:schemeClr val="accent3"/>
                </a:solidFill>
              </a:rPr>
              <a:t>filter_query</a:t>
            </a:r>
            <a:r>
              <a:rPr lang="en-US" b="1" dirty="0">
                <a:solidFill>
                  <a:schemeClr val="accent3"/>
                </a:solidFill>
              </a:rPr>
              <a:t>: Annotated[</a:t>
            </a:r>
            <a:r>
              <a:rPr lang="en-US" b="1" dirty="0" err="1">
                <a:solidFill>
                  <a:schemeClr val="accent3"/>
                </a:solidFill>
              </a:rPr>
              <a:t>FilterParams</a:t>
            </a:r>
            <a:r>
              <a:rPr lang="en-US" b="1" dirty="0">
                <a:solidFill>
                  <a:schemeClr val="accent3"/>
                </a:solidFill>
              </a:rPr>
              <a:t>, Query()]):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</a:rPr>
              <a:t>    return </a:t>
            </a:r>
            <a:r>
              <a:rPr lang="en-US" b="1" dirty="0" err="1">
                <a:solidFill>
                  <a:schemeClr val="accent3"/>
                </a:solidFill>
              </a:rPr>
              <a:t>filter_query</a:t>
            </a:r>
            <a:endParaRPr lang="en-US" b="1" dirty="0">
              <a:solidFill>
                <a:schemeClr val="accent3"/>
              </a:solidFill>
            </a:endParaRPr>
          </a:p>
          <a:p>
            <a:r>
              <a:rPr lang="en-US" b="1" dirty="0" err="1"/>
              <a:t>FastAPI</a:t>
            </a:r>
            <a:r>
              <a:rPr lang="en-US" dirty="0"/>
              <a:t> will </a:t>
            </a:r>
            <a:r>
              <a:rPr lang="en-US" b="1" dirty="0"/>
              <a:t>extract</a:t>
            </a:r>
            <a:r>
              <a:rPr lang="en-US" dirty="0"/>
              <a:t> the data for </a:t>
            </a:r>
            <a:r>
              <a:rPr lang="en-US" b="1" dirty="0"/>
              <a:t>each field</a:t>
            </a:r>
            <a:r>
              <a:rPr lang="en-US" dirty="0"/>
              <a:t> from the </a:t>
            </a:r>
            <a:r>
              <a:rPr lang="en-US" b="1" dirty="0"/>
              <a:t>query parameters</a:t>
            </a:r>
            <a:r>
              <a:rPr lang="en-US" dirty="0"/>
              <a:t> in the request and give you the </a:t>
            </a:r>
            <a:r>
              <a:rPr lang="en-US" dirty="0" err="1"/>
              <a:t>Pydantic</a:t>
            </a:r>
            <a:r>
              <a:rPr lang="en-US" dirty="0"/>
              <a:t> model you defined.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69663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6F363-E422-23C1-2ECC-C1DBA94C6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4D798-6D60-7D3A-22AA-D186F86DB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Forbid Extra Query Parameters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63E77-BF52-4027-CCE4-34D020770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In some special use cases (probably not very common), you might want to </a:t>
            </a:r>
            <a:r>
              <a:rPr lang="en-US" b="1" dirty="0"/>
              <a:t>restrict</a:t>
            </a:r>
            <a:r>
              <a:rPr lang="en-US" dirty="0"/>
              <a:t> the query parameters that you want to receive.</a:t>
            </a:r>
          </a:p>
          <a:p>
            <a:r>
              <a:rPr lang="en-US" dirty="0"/>
              <a:t>You can use </a:t>
            </a:r>
            <a:r>
              <a:rPr lang="en-US" dirty="0" err="1"/>
              <a:t>Pydantic's</a:t>
            </a:r>
            <a:r>
              <a:rPr lang="en-US" dirty="0"/>
              <a:t> model configuration to forbid any extra fields: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FilterParams</a:t>
            </a:r>
            <a:r>
              <a:rPr lang="en-US" dirty="0"/>
              <a:t>(</a:t>
            </a:r>
            <a:r>
              <a:rPr lang="en-US" dirty="0" err="1"/>
              <a:t>BaseModel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b="1" dirty="0"/>
              <a:t>    </a:t>
            </a:r>
            <a:r>
              <a:rPr lang="en-US" b="1" dirty="0" err="1"/>
              <a:t>model_config</a:t>
            </a:r>
            <a:r>
              <a:rPr lang="en-US" b="1" dirty="0"/>
              <a:t> = {"extra": "forbid"}</a:t>
            </a:r>
          </a:p>
          <a:p>
            <a:pPr marL="0" indent="0">
              <a:buNone/>
            </a:pPr>
            <a:r>
              <a:rPr lang="en-US" dirty="0"/>
              <a:t>    limit: int = Field(100, </a:t>
            </a:r>
            <a:r>
              <a:rPr lang="en-US" dirty="0" err="1"/>
              <a:t>gt</a:t>
            </a:r>
            <a:r>
              <a:rPr lang="en-US" dirty="0"/>
              <a:t>=0, le=100)</a:t>
            </a:r>
          </a:p>
          <a:p>
            <a:pPr marL="0" indent="0">
              <a:buNone/>
            </a:pPr>
            <a:r>
              <a:rPr lang="en-US" dirty="0"/>
              <a:t>    offset: int = Field(0, </a:t>
            </a:r>
            <a:r>
              <a:rPr lang="en-US" dirty="0" err="1"/>
              <a:t>ge</a:t>
            </a:r>
            <a:r>
              <a:rPr lang="en-US" dirty="0"/>
              <a:t>=0)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order_by</a:t>
            </a:r>
            <a:r>
              <a:rPr lang="en-US" dirty="0"/>
              <a:t>: Literal["</a:t>
            </a:r>
            <a:r>
              <a:rPr lang="en-US" dirty="0" err="1"/>
              <a:t>created_at</a:t>
            </a:r>
            <a:r>
              <a:rPr lang="en-US" dirty="0"/>
              <a:t>", "</a:t>
            </a:r>
            <a:r>
              <a:rPr lang="en-US" dirty="0" err="1"/>
              <a:t>updated_at</a:t>
            </a:r>
            <a:r>
              <a:rPr lang="en-US" dirty="0"/>
              <a:t>"] = "</a:t>
            </a:r>
            <a:r>
              <a:rPr lang="en-US" dirty="0" err="1"/>
              <a:t>created_at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    tags: list[str] = []</a:t>
            </a:r>
          </a:p>
          <a:p>
            <a:pPr marL="0" indent="0">
              <a:buNone/>
            </a:pPr>
            <a:r>
              <a:rPr lang="en-US" dirty="0"/>
              <a:t>@app.get("/items/")</a:t>
            </a:r>
          </a:p>
          <a:p>
            <a:pPr marL="0" indent="0">
              <a:buNone/>
            </a:pPr>
            <a:r>
              <a:rPr lang="en-US" dirty="0"/>
              <a:t>async def </a:t>
            </a:r>
            <a:r>
              <a:rPr lang="en-US" dirty="0" err="1"/>
              <a:t>read_items</a:t>
            </a:r>
            <a:r>
              <a:rPr lang="en-US" dirty="0"/>
              <a:t>(</a:t>
            </a:r>
            <a:r>
              <a:rPr lang="en-US" dirty="0" err="1"/>
              <a:t>filter_query</a:t>
            </a:r>
            <a:r>
              <a:rPr lang="en-US" dirty="0"/>
              <a:t>: Annotated[</a:t>
            </a:r>
            <a:r>
              <a:rPr lang="en-US" dirty="0" err="1"/>
              <a:t>FilterParams</a:t>
            </a:r>
            <a:r>
              <a:rPr lang="en-US" dirty="0"/>
              <a:t>, Query()]):</a:t>
            </a:r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filter_query</a:t>
            </a:r>
            <a:endParaRPr lang="en-US" dirty="0"/>
          </a:p>
          <a:p>
            <a:r>
              <a:rPr lang="en-US" dirty="0"/>
              <a:t>If a client tries to send some extra data in the query parameters, they will receive an error response.</a:t>
            </a:r>
          </a:p>
          <a:p>
            <a:r>
              <a:rPr lang="en-US" dirty="0"/>
              <a:t>For example, if the client tries to send a tool query parameter with a value of </a:t>
            </a:r>
            <a:r>
              <a:rPr lang="en-US" dirty="0" err="1"/>
              <a:t>plumbus</a:t>
            </a:r>
            <a:r>
              <a:rPr lang="en-US" dirty="0"/>
              <a:t>, like:</a:t>
            </a:r>
          </a:p>
          <a:p>
            <a:pPr marL="0" indent="0">
              <a:buNone/>
            </a:pPr>
            <a:r>
              <a:rPr lang="en-US" dirty="0"/>
              <a:t>https://example.com/items/?limit=10&amp;tool=plumbus</a:t>
            </a:r>
          </a:p>
          <a:p>
            <a:r>
              <a:rPr lang="en-US" dirty="0"/>
              <a:t>Will receive an error response telling them that the query parameter tool is not allowed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6462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FD40E-FA4D-85EF-069C-6E6EBC069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2F63-B901-9C09-2019-5F76F245F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884C2-4F32-5402-834B-F3A828EA9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r>
              <a:rPr lang="en-US" b="1" dirty="0"/>
              <a:t>Filtering a Product List</a:t>
            </a:r>
          </a:p>
          <a:p>
            <a:r>
              <a:rPr lang="en-US" dirty="0"/>
              <a:t>Example of using query parameters to filter a product list: </a:t>
            </a:r>
            <a:r>
              <a:rPr lang="en-US" dirty="0">
                <a:hlinkClick r:id="rId2" action="ppaction://hlinkfile"/>
              </a:rPr>
              <a:t>productFilter.py</a:t>
            </a:r>
            <a:endParaRPr lang="en-US" dirty="0"/>
          </a:p>
          <a:p>
            <a:r>
              <a:rPr lang="en-IN" b="1" dirty="0"/>
              <a:t>Pagination Example</a:t>
            </a:r>
          </a:p>
          <a:p>
            <a:r>
              <a:rPr lang="en-IN" dirty="0"/>
              <a:t>implement pagination using query parameters: </a:t>
            </a:r>
            <a:r>
              <a:rPr lang="en-IN" dirty="0">
                <a:hlinkClick r:id="rId3" action="ppaction://hlinkfile"/>
              </a:rPr>
              <a:t>paginationExample.py</a:t>
            </a: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29416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E38A1-6440-D1BA-F499-B1913F93E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81934-CFA7-F695-B559-EEF4E68F9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Best Practices for Query Parameters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5A275-F744-5CF6-1A36-266B92F66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r>
              <a:rPr lang="en-US" b="1" dirty="0"/>
              <a:t>Use descriptive names</a:t>
            </a:r>
            <a:r>
              <a:rPr lang="en-US" dirty="0"/>
              <a:t>: Choose clear, understandable names for your parameters.</a:t>
            </a:r>
          </a:p>
          <a:p>
            <a:r>
              <a:rPr lang="en-US" b="1" dirty="0"/>
              <a:t>Provide defaults</a:t>
            </a:r>
            <a:r>
              <a:rPr lang="en-US" dirty="0"/>
              <a:t>: Use sensible default values when possible.</a:t>
            </a:r>
          </a:p>
          <a:p>
            <a:r>
              <a:rPr lang="en-US" b="1" dirty="0"/>
              <a:t>Validate inputs</a:t>
            </a:r>
            <a:r>
              <a:rPr lang="en-US" dirty="0"/>
              <a:t>: Use type hints and validators to ensure data quality.</a:t>
            </a:r>
          </a:p>
          <a:p>
            <a:r>
              <a:rPr lang="en-US" b="1" dirty="0"/>
              <a:t>Document parameters</a:t>
            </a:r>
            <a:r>
              <a:rPr lang="en-US" dirty="0"/>
              <a:t>: Add descriptions for all parameters in your API.</a:t>
            </a:r>
          </a:p>
          <a:p>
            <a:r>
              <a:rPr lang="en-US" b="1" dirty="0"/>
              <a:t>Follow conventions</a:t>
            </a:r>
            <a:r>
              <a:rPr lang="en-US" dirty="0"/>
              <a:t>: Use common parameter names like q for search, limit and offset for pagination.</a:t>
            </a:r>
          </a:p>
          <a:p>
            <a:r>
              <a:rPr lang="en-US" b="1" dirty="0"/>
              <a:t>Be consistent</a:t>
            </a:r>
            <a:r>
              <a:rPr lang="en-US" dirty="0"/>
              <a:t>: Use the same parameter names and formats across your API.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70097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65E21-826B-84F4-DB7A-84B9BA776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50023-3EFF-6F62-9762-6DAE09EF1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Parameters --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9FCAF-452C-8301-2A60-8A8EDEF23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r>
              <a:rPr lang="en-US" dirty="0" err="1"/>
              <a:t>FastAPI</a:t>
            </a:r>
            <a:r>
              <a:rPr lang="en-US" dirty="0"/>
              <a:t> makes working with query parameters simple and powerful:</a:t>
            </a:r>
          </a:p>
          <a:p>
            <a:r>
              <a:rPr lang="en-US" dirty="0"/>
              <a:t>Query parameters are automatically detected and parsed</a:t>
            </a:r>
          </a:p>
          <a:p>
            <a:r>
              <a:rPr lang="en-US" dirty="0"/>
              <a:t>Type validation and conversion is handled automatically</a:t>
            </a:r>
          </a:p>
          <a:p>
            <a:r>
              <a:rPr lang="en-US" dirty="0"/>
              <a:t>Query class provides advanced validation and documentation options</a:t>
            </a:r>
          </a:p>
          <a:p>
            <a:r>
              <a:rPr lang="en-US" dirty="0"/>
              <a:t>Can create complex filtering, searching, and pagination systems</a:t>
            </a:r>
          </a:p>
          <a:p>
            <a:r>
              <a:rPr lang="en-US" dirty="0"/>
              <a:t>Query parameters are essential for creating flexible APIs that allow clients to request exactly the data they need, in the format and quantity they require.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34479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E8C5E-6668-B757-A275-548B4722C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EF64D-CAE4-1040-A5FF-346A29C4F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5D838-95EA-7478-669C-24DC149D3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r>
              <a:rPr lang="en-US" dirty="0"/>
              <a:t>Create an endpoint that accepts search parameters for a book library, including title, author, and publication year.</a:t>
            </a:r>
          </a:p>
          <a:p>
            <a:r>
              <a:rPr lang="en-US" dirty="0"/>
              <a:t>Implement an API endpoint that supports sorting by multiple fields (e.g., /users/?sort=</a:t>
            </a:r>
            <a:r>
              <a:rPr lang="en-US" dirty="0" err="1"/>
              <a:t>name:asc,age:desc</a:t>
            </a:r>
            <a:r>
              <a:rPr lang="en-US" dirty="0"/>
              <a:t>).</a:t>
            </a:r>
          </a:p>
          <a:p>
            <a:r>
              <a:rPr lang="en-US" dirty="0"/>
              <a:t>Create a product search API with filtering by multiple categories, price range, and rating.</a:t>
            </a:r>
          </a:p>
          <a:p>
            <a:r>
              <a:rPr lang="en-US" dirty="0"/>
              <a:t>Implement a paginated endpoint that returns a list of users with configurable page size and number.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88250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F1528-1CEA-2F1D-74B0-0B6D70B83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E6E35-1437-CDDD-9C46-86A09994C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FastAPI</a:t>
            </a:r>
            <a:r>
              <a:rPr lang="en-US" b="1" dirty="0"/>
              <a:t> Request Body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2AAEE-6491-7507-1D46-B7B5F2182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 modern web applications, data is frequently sent from clients to servers using request bodies. </a:t>
            </a:r>
          </a:p>
          <a:p>
            <a:r>
              <a:rPr lang="en-US" dirty="0"/>
              <a:t>When building APIs with </a:t>
            </a:r>
            <a:r>
              <a:rPr lang="en-US" dirty="0" err="1"/>
              <a:t>FastAPI</a:t>
            </a:r>
            <a:r>
              <a:rPr lang="en-US" dirty="0"/>
              <a:t>, understanding how to properly handle and validate this incoming data is essential. </a:t>
            </a:r>
          </a:p>
          <a:p>
            <a:r>
              <a:rPr lang="en-US" dirty="0"/>
              <a:t>A request body is data sent by the client (typically a browser or another application) to your API. </a:t>
            </a:r>
          </a:p>
          <a:p>
            <a:r>
              <a:rPr lang="en-US" dirty="0"/>
              <a:t>Unlike query parameters or path parameters that appear in the URL, request bodies are included in the HTTP request's body section. </a:t>
            </a:r>
          </a:p>
          <a:p>
            <a:pPr marL="0" indent="0">
              <a:buNone/>
            </a:pPr>
            <a:r>
              <a:rPr lang="en-US" b="1" dirty="0"/>
              <a:t>Commonly used for:</a:t>
            </a:r>
          </a:p>
          <a:p>
            <a:r>
              <a:rPr lang="en-US" dirty="0"/>
              <a:t>Creating new resources (POST requests)</a:t>
            </a:r>
          </a:p>
          <a:p>
            <a:r>
              <a:rPr lang="en-US" dirty="0"/>
              <a:t>Updating existing resources (PUT, PATCH requests)</a:t>
            </a:r>
          </a:p>
          <a:p>
            <a:r>
              <a:rPr lang="en-US" dirty="0"/>
              <a:t>Sending complex data structures</a:t>
            </a:r>
          </a:p>
          <a:p>
            <a:r>
              <a:rPr lang="en-US" dirty="0"/>
              <a:t>Uploading files</a:t>
            </a:r>
          </a:p>
          <a:p>
            <a:r>
              <a:rPr lang="en-US" dirty="0" err="1"/>
              <a:t>FastAPI</a:t>
            </a:r>
            <a:r>
              <a:rPr lang="en-US" dirty="0"/>
              <a:t> makes handling request bodies straightforward by leveraging </a:t>
            </a:r>
            <a:r>
              <a:rPr lang="en-US" dirty="0" err="1"/>
              <a:t>Pydantic</a:t>
            </a:r>
            <a:r>
              <a:rPr lang="en-US" dirty="0"/>
              <a:t> models for automatic validation and type conversion.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10995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321D1-532F-1D56-2C75-2130AF2EE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A4CDE-30B4-F482-835C-1E2297879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Your First Request Body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C6F3B-9196-30F3-890D-D88B61B10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Let's start with a basic example of how to define and use a request body in </a:t>
            </a:r>
            <a:r>
              <a:rPr lang="en-US" dirty="0" err="1"/>
              <a:t>FastAPI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class Item(</a:t>
            </a:r>
            <a:r>
              <a:rPr lang="en-US" dirty="0" err="1"/>
              <a:t>BaseModel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name: str</a:t>
            </a:r>
          </a:p>
          <a:p>
            <a:pPr marL="0" indent="0">
              <a:buNone/>
            </a:pPr>
            <a:r>
              <a:rPr lang="en-US" dirty="0"/>
              <a:t>    description: str = None  # Optional field with default value None</a:t>
            </a:r>
          </a:p>
          <a:p>
            <a:pPr marL="0" indent="0">
              <a:buNone/>
            </a:pPr>
            <a:r>
              <a:rPr lang="en-US" dirty="0"/>
              <a:t>    price: float</a:t>
            </a:r>
          </a:p>
          <a:p>
            <a:pPr marL="0" indent="0">
              <a:buNone/>
            </a:pPr>
            <a:r>
              <a:rPr lang="en-US" dirty="0"/>
              <a:t>    tax: float = None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@app.post("/items/")</a:t>
            </a:r>
          </a:p>
          <a:p>
            <a:pPr marL="0" indent="0">
              <a:buNone/>
            </a:pPr>
            <a:r>
              <a:rPr lang="en-US" dirty="0"/>
              <a:t>async def </a:t>
            </a:r>
            <a:r>
              <a:rPr lang="en-US" dirty="0" err="1"/>
              <a:t>create_item</a:t>
            </a:r>
            <a:r>
              <a:rPr lang="en-US" dirty="0"/>
              <a:t>(item: Item):</a:t>
            </a:r>
          </a:p>
          <a:p>
            <a:pPr marL="0" indent="0">
              <a:buNone/>
            </a:pPr>
            <a:r>
              <a:rPr lang="en-US" dirty="0"/>
              <a:t>    # </a:t>
            </a:r>
            <a:r>
              <a:rPr lang="en-US" dirty="0" err="1"/>
              <a:t>FastAPI</a:t>
            </a:r>
            <a:r>
              <a:rPr lang="en-US" dirty="0"/>
              <a:t> automatically deserializes the JSON to your </a:t>
            </a:r>
            <a:r>
              <a:rPr lang="en-US" dirty="0" err="1"/>
              <a:t>Pydantic</a:t>
            </a:r>
            <a:r>
              <a:rPr lang="en-US" dirty="0"/>
              <a:t> model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item_dict</a:t>
            </a:r>
            <a:r>
              <a:rPr lang="en-US" dirty="0"/>
              <a:t> = </a:t>
            </a:r>
            <a:r>
              <a:rPr lang="en-US" dirty="0" err="1"/>
              <a:t>item.dict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if </a:t>
            </a:r>
            <a:r>
              <a:rPr lang="en-US" dirty="0" err="1"/>
              <a:t>item.tax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price_with_tax</a:t>
            </a:r>
            <a:r>
              <a:rPr lang="en-US" dirty="0"/>
              <a:t> = </a:t>
            </a:r>
            <a:r>
              <a:rPr lang="en-US" dirty="0" err="1"/>
              <a:t>item.price</a:t>
            </a:r>
            <a:r>
              <a:rPr lang="en-US" dirty="0"/>
              <a:t> + </a:t>
            </a:r>
            <a:r>
              <a:rPr lang="en-US" dirty="0" err="1"/>
              <a:t>item.tax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item_dict.update</a:t>
            </a:r>
            <a:r>
              <a:rPr lang="en-US" dirty="0"/>
              <a:t>({"</a:t>
            </a:r>
            <a:r>
              <a:rPr lang="en-US" dirty="0" err="1"/>
              <a:t>price_with_tax</a:t>
            </a:r>
            <a:r>
              <a:rPr lang="en-US" dirty="0"/>
              <a:t>": </a:t>
            </a:r>
            <a:r>
              <a:rPr lang="en-US" dirty="0" err="1"/>
              <a:t>price_with_tax</a:t>
            </a:r>
            <a:r>
              <a:rPr lang="en-US" dirty="0"/>
              <a:t>})</a:t>
            </a:r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item_dict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1756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8E7AD-B1D4-FD74-6835-B12240C14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41172-D800-F54B-220C-838AC2F14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Your First Request Body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174B0-C7B3-4D2B-6FCF-CBC2DF133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When you make a POST request to /items/ with a JSON body like: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"name": "Smartphone",</a:t>
            </a:r>
          </a:p>
          <a:p>
            <a:pPr marL="0" indent="0">
              <a:buNone/>
            </a:pPr>
            <a:r>
              <a:rPr lang="en-US" dirty="0"/>
              <a:t>  "description": "Latest model with high-end features",</a:t>
            </a:r>
          </a:p>
          <a:p>
            <a:pPr marL="0" indent="0">
              <a:buNone/>
            </a:pPr>
            <a:r>
              <a:rPr lang="en-US" dirty="0"/>
              <a:t>  "price": 799.99,</a:t>
            </a:r>
          </a:p>
          <a:p>
            <a:pPr marL="0" indent="0">
              <a:buNone/>
            </a:pPr>
            <a:r>
              <a:rPr lang="en-US" dirty="0"/>
              <a:t>  "tax": 80.00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FastAPI</a:t>
            </a:r>
            <a:r>
              <a:rPr lang="en-US" dirty="0"/>
              <a:t> will:</a:t>
            </a:r>
          </a:p>
          <a:p>
            <a:r>
              <a:rPr lang="en-US" dirty="0"/>
              <a:t>Read the request body as JSON</a:t>
            </a:r>
          </a:p>
          <a:p>
            <a:r>
              <a:rPr lang="en-US" dirty="0"/>
              <a:t>Convert the corresponding types (like strings, floats)</a:t>
            </a:r>
          </a:p>
          <a:p>
            <a:r>
              <a:rPr lang="en-US" dirty="0"/>
              <a:t>Validate the data (required fields, correct types)</a:t>
            </a:r>
          </a:p>
          <a:p>
            <a:r>
              <a:rPr lang="en-US" dirty="0"/>
              <a:t>Create the Item object with the attributes</a:t>
            </a:r>
          </a:p>
          <a:p>
            <a:r>
              <a:rPr lang="en-US" dirty="0"/>
              <a:t>Pass this object to your function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12497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1C7D0-8ABD-A92B-D5DC-28A058949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46835-0DE5-DDB4-A7B6-ADBE823AD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</a:t>
            </a:r>
            <a:r>
              <a:rPr lang="en-US" b="1" dirty="0" err="1"/>
              <a:t>FastAPI</a:t>
            </a:r>
            <a:r>
              <a:rPr lang="en-US" b="1" dirty="0"/>
              <a:t> Processes Request Bodies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6126F-AE4F-BED6-0BC3-E2DDD29CB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r>
              <a:rPr lang="en-US" dirty="0"/>
              <a:t>Under the hood, </a:t>
            </a:r>
            <a:r>
              <a:rPr lang="en-US" dirty="0" err="1"/>
              <a:t>FastAPI</a:t>
            </a:r>
            <a:r>
              <a:rPr lang="en-US" dirty="0"/>
              <a:t> performs several steps when handling request bodies:</a:t>
            </a:r>
          </a:p>
          <a:p>
            <a:r>
              <a:rPr lang="en-US" b="1" dirty="0"/>
              <a:t>Reads the request body</a:t>
            </a:r>
            <a:r>
              <a:rPr lang="en-US" dirty="0"/>
              <a:t>: Gets the raw JSON (or other formats) from the HTTP request</a:t>
            </a:r>
          </a:p>
          <a:p>
            <a:r>
              <a:rPr lang="en-US" b="1" dirty="0"/>
              <a:t>Parses the JSON</a:t>
            </a:r>
            <a:r>
              <a:rPr lang="en-US" dirty="0"/>
              <a:t>: Converts it into Python dictionaries, lists, etc.</a:t>
            </a:r>
          </a:p>
          <a:p>
            <a:r>
              <a:rPr lang="en-US" b="1" dirty="0"/>
              <a:t>Validates data types</a:t>
            </a:r>
            <a:r>
              <a:rPr lang="en-US" dirty="0"/>
              <a:t>: Ensures values match the types you defined</a:t>
            </a:r>
          </a:p>
          <a:p>
            <a:r>
              <a:rPr lang="en-US" b="1" dirty="0"/>
              <a:t>Creates the model instance</a:t>
            </a:r>
            <a:r>
              <a:rPr lang="en-US" dirty="0"/>
              <a:t>: Populates a </a:t>
            </a:r>
            <a:r>
              <a:rPr lang="en-US" dirty="0" err="1"/>
              <a:t>Pydantic</a:t>
            </a:r>
            <a:r>
              <a:rPr lang="en-US" dirty="0"/>
              <a:t> model with the validated data</a:t>
            </a:r>
          </a:p>
          <a:p>
            <a:r>
              <a:rPr lang="en-US" dirty="0"/>
              <a:t>This process happens automatically and provides built-in error handling.</a:t>
            </a:r>
          </a:p>
          <a:p>
            <a:r>
              <a:rPr lang="en-US" dirty="0"/>
              <a:t> If the request data doesn't match your model, </a:t>
            </a:r>
            <a:r>
              <a:rPr lang="en-US" dirty="0" err="1"/>
              <a:t>FastAPI</a:t>
            </a:r>
            <a:r>
              <a:rPr lang="en-US" dirty="0"/>
              <a:t> returns a detailed error response to the client.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04497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96218-3410-1A95-C724-4BD4D9B70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6861-732D-26CB-2B07-4F04F11C89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487568" y="1784902"/>
            <a:ext cx="3704432" cy="708025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Advanced Request Body Validation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C74056-FA04-5629-491E-557D4CF58471}"/>
              </a:ext>
            </a:extLst>
          </p:cNvPr>
          <p:cNvSpPr txBox="1"/>
          <p:nvPr/>
        </p:nvSpPr>
        <p:spPr>
          <a:xfrm>
            <a:off x="485191" y="197346"/>
            <a:ext cx="843837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from </a:t>
            </a:r>
            <a:r>
              <a:rPr lang="en-IN" dirty="0" err="1"/>
              <a:t>fastapi</a:t>
            </a:r>
            <a:r>
              <a:rPr lang="en-IN" dirty="0"/>
              <a:t> import </a:t>
            </a:r>
            <a:r>
              <a:rPr lang="en-IN" dirty="0" err="1"/>
              <a:t>FastAPI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pydantic</a:t>
            </a:r>
            <a:r>
              <a:rPr lang="en-IN" dirty="0"/>
              <a:t> import </a:t>
            </a:r>
            <a:r>
              <a:rPr lang="en-IN" dirty="0" err="1"/>
              <a:t>BaseModel</a:t>
            </a:r>
            <a:r>
              <a:rPr lang="en-IN" dirty="0"/>
              <a:t>, Field, validator</a:t>
            </a:r>
          </a:p>
          <a:p>
            <a:r>
              <a:rPr lang="en-IN" dirty="0"/>
              <a:t>from typing import List, Optional</a:t>
            </a:r>
          </a:p>
          <a:p>
            <a:endParaRPr lang="en-IN" dirty="0"/>
          </a:p>
          <a:p>
            <a:r>
              <a:rPr lang="en-IN" dirty="0"/>
              <a:t>app = </a:t>
            </a:r>
            <a:r>
              <a:rPr lang="en-IN" dirty="0" err="1"/>
              <a:t>FastAPI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class Product(</a:t>
            </a:r>
            <a:r>
              <a:rPr lang="en-IN" dirty="0" err="1"/>
              <a:t>BaseModel</a:t>
            </a:r>
            <a:r>
              <a:rPr lang="en-IN" dirty="0"/>
              <a:t>):</a:t>
            </a:r>
          </a:p>
          <a:p>
            <a:r>
              <a:rPr lang="en-IN" dirty="0"/>
              <a:t>    name: str = Field(..., </a:t>
            </a:r>
            <a:r>
              <a:rPr lang="en-IN" dirty="0" err="1"/>
              <a:t>min_length</a:t>
            </a:r>
            <a:r>
              <a:rPr lang="en-IN" dirty="0"/>
              <a:t>=1, </a:t>
            </a:r>
            <a:r>
              <a:rPr lang="en-IN" dirty="0" err="1"/>
              <a:t>max_length</a:t>
            </a:r>
            <a:r>
              <a:rPr lang="en-IN" dirty="0"/>
              <a:t>=50)</a:t>
            </a:r>
          </a:p>
          <a:p>
            <a:r>
              <a:rPr lang="en-IN" dirty="0"/>
              <a:t>    price: float = Field(..., </a:t>
            </a:r>
            <a:r>
              <a:rPr lang="en-IN" dirty="0" err="1"/>
              <a:t>gt</a:t>
            </a:r>
            <a:r>
              <a:rPr lang="en-IN" dirty="0"/>
              <a:t>=0)</a:t>
            </a:r>
          </a:p>
          <a:p>
            <a:r>
              <a:rPr lang="en-IN" dirty="0"/>
              <a:t>    </a:t>
            </a:r>
            <a:r>
              <a:rPr lang="en-IN" dirty="0" err="1"/>
              <a:t>is_offer</a:t>
            </a:r>
            <a:r>
              <a:rPr lang="en-IN" dirty="0"/>
              <a:t>: bool = False</a:t>
            </a:r>
          </a:p>
          <a:p>
            <a:r>
              <a:rPr lang="en-IN" dirty="0"/>
              <a:t>    tags: List[str] = []</a:t>
            </a:r>
          </a:p>
          <a:p>
            <a:r>
              <a:rPr lang="en-IN" dirty="0"/>
              <a:t>    inventory: Optional[int] = None</a:t>
            </a:r>
          </a:p>
          <a:p>
            <a:endParaRPr lang="en-IN" dirty="0"/>
          </a:p>
          <a:p>
            <a:r>
              <a:rPr lang="en-IN" dirty="0"/>
              <a:t>    # Custom validator</a:t>
            </a:r>
          </a:p>
          <a:p>
            <a:r>
              <a:rPr lang="en-IN" dirty="0"/>
              <a:t>    @validator('name')</a:t>
            </a:r>
          </a:p>
          <a:p>
            <a:r>
              <a:rPr lang="en-IN" dirty="0"/>
              <a:t>    def </a:t>
            </a:r>
            <a:r>
              <a:rPr lang="en-IN" dirty="0" err="1"/>
              <a:t>name_must_be_capitalized</a:t>
            </a:r>
            <a:r>
              <a:rPr lang="en-IN" dirty="0"/>
              <a:t>(</a:t>
            </a:r>
            <a:r>
              <a:rPr lang="en-IN" dirty="0" err="1"/>
              <a:t>cls</a:t>
            </a:r>
            <a:r>
              <a:rPr lang="en-IN" dirty="0"/>
              <a:t>, v):</a:t>
            </a:r>
          </a:p>
          <a:p>
            <a:r>
              <a:rPr lang="en-IN" dirty="0"/>
              <a:t>        if not v[0].</a:t>
            </a:r>
            <a:r>
              <a:rPr lang="en-IN" dirty="0" err="1"/>
              <a:t>isupper</a:t>
            </a:r>
            <a:r>
              <a:rPr lang="en-IN" dirty="0"/>
              <a:t>():</a:t>
            </a:r>
          </a:p>
          <a:p>
            <a:r>
              <a:rPr lang="en-IN" dirty="0"/>
              <a:t>            raise </a:t>
            </a:r>
            <a:r>
              <a:rPr lang="en-IN" dirty="0" err="1"/>
              <a:t>ValueError</a:t>
            </a:r>
            <a:r>
              <a:rPr lang="en-IN" dirty="0"/>
              <a:t>('Product name must be capitalized')</a:t>
            </a:r>
          </a:p>
          <a:p>
            <a:r>
              <a:rPr lang="en-IN" dirty="0"/>
              <a:t>        return v</a:t>
            </a:r>
          </a:p>
          <a:p>
            <a:endParaRPr lang="en-IN" dirty="0"/>
          </a:p>
          <a:p>
            <a:r>
              <a:rPr lang="en-IN" dirty="0"/>
              <a:t>@app.post("/products/")</a:t>
            </a:r>
          </a:p>
          <a:p>
            <a:r>
              <a:rPr lang="en-IN" dirty="0"/>
              <a:t>async def </a:t>
            </a:r>
            <a:r>
              <a:rPr lang="en-IN" dirty="0" err="1"/>
              <a:t>create_product</a:t>
            </a:r>
            <a:r>
              <a:rPr lang="en-IN" dirty="0"/>
              <a:t>(product: Product):</a:t>
            </a:r>
          </a:p>
          <a:p>
            <a:r>
              <a:rPr lang="en-IN" dirty="0"/>
              <a:t>    return {"product": product, "message": "Product created successfully"}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3D5D45-353C-5649-19EF-06412A3EDCC9}"/>
              </a:ext>
            </a:extLst>
          </p:cNvPr>
          <p:cNvSpPr txBox="1"/>
          <p:nvPr/>
        </p:nvSpPr>
        <p:spPr>
          <a:xfrm>
            <a:off x="7614945" y="3068748"/>
            <a:ext cx="4324643" cy="308289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l">
              <a:spcAft>
                <a:spcPts val="1425"/>
              </a:spcAft>
              <a:buNone/>
            </a:pP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With this model:</a:t>
            </a:r>
          </a:p>
          <a:p>
            <a:pPr algn="l">
              <a:spcAft>
                <a:spcPts val="14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3E3E3"/>
                </a:solidFill>
                <a:effectLst/>
                <a:latin typeface="SFMono-Regular"/>
              </a:rPr>
              <a:t>name</a:t>
            </a: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 must be between 1-50 characters and capitalized</a:t>
            </a:r>
          </a:p>
          <a:p>
            <a:pPr algn="l">
              <a:spcBef>
                <a:spcPts val="285"/>
              </a:spcBef>
              <a:spcAft>
                <a:spcPts val="14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3E3E3"/>
                </a:solidFill>
                <a:effectLst/>
                <a:latin typeface="SFMono-Regular"/>
              </a:rPr>
              <a:t>price</a:t>
            </a: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 must be greater than 0</a:t>
            </a:r>
          </a:p>
          <a:p>
            <a:pPr algn="l">
              <a:spcBef>
                <a:spcPts val="285"/>
              </a:spcBef>
              <a:spcAft>
                <a:spcPts val="1425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E3E3E3"/>
                </a:solidFill>
                <a:effectLst/>
                <a:latin typeface="SFMono-Regular"/>
              </a:rPr>
              <a:t>is_offer</a:t>
            </a: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 defaults to </a:t>
            </a:r>
            <a:r>
              <a:rPr lang="en-US" b="0" i="0" dirty="0">
                <a:solidFill>
                  <a:srgbClr val="E3E3E3"/>
                </a:solidFill>
                <a:effectLst/>
                <a:latin typeface="SFMono-Regular"/>
              </a:rPr>
              <a:t>False</a:t>
            </a: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 if not provided</a:t>
            </a:r>
          </a:p>
          <a:p>
            <a:pPr algn="l">
              <a:spcBef>
                <a:spcPts val="285"/>
              </a:spcBef>
              <a:spcAft>
                <a:spcPts val="14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3E3E3"/>
                </a:solidFill>
                <a:effectLst/>
                <a:latin typeface="SFMono-Regular"/>
              </a:rPr>
              <a:t>tags</a:t>
            </a: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 accepts a list of strings</a:t>
            </a:r>
          </a:p>
          <a:p>
            <a:pPr algn="l">
              <a:spcBef>
                <a:spcPts val="285"/>
              </a:spcBef>
              <a:spcAft>
                <a:spcPts val="14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3E3E3"/>
                </a:solidFill>
                <a:effectLst/>
                <a:latin typeface="SFMono-Regular"/>
              </a:rPr>
              <a:t>inventory</a:t>
            </a:r>
            <a:r>
              <a:rPr lang="en-US" b="0" i="0" dirty="0">
                <a:solidFill>
                  <a:srgbClr val="E3E3E3"/>
                </a:solidFill>
                <a:effectLst/>
                <a:latin typeface="system-ui"/>
              </a:rPr>
              <a:t> is optional</a:t>
            </a:r>
          </a:p>
        </p:txBody>
      </p:sp>
    </p:spTree>
    <p:extLst>
      <p:ext uri="{BB962C8B-B14F-4D97-AF65-F5344CB8AC3E}">
        <p14:creationId xmlns:p14="http://schemas.microsoft.com/office/powerpoint/2010/main" val="33177676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DD9518-6315-0A3E-A1B7-CB8CAE4EE0A7}"/>
              </a:ext>
            </a:extLst>
          </p:cNvPr>
          <p:cNvSpPr txBox="1"/>
          <p:nvPr/>
        </p:nvSpPr>
        <p:spPr>
          <a:xfrm>
            <a:off x="8835991" y="1742689"/>
            <a:ext cx="33560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850"/>
              </a:spcBef>
              <a:spcAft>
                <a:spcPts val="1425"/>
              </a:spcAft>
              <a:buNone/>
            </a:pPr>
            <a:r>
              <a:rPr lang="en-US" sz="2400" b="1" i="0" dirty="0">
                <a:effectLst/>
                <a:latin typeface="system-ui"/>
              </a:rPr>
              <a:t>Multiple Models and Nested Request Bodies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EB0D7F-9CA3-2BBB-117F-F74D886AFA50}"/>
              </a:ext>
            </a:extLst>
          </p:cNvPr>
          <p:cNvSpPr txBox="1"/>
          <p:nvPr/>
        </p:nvSpPr>
        <p:spPr>
          <a:xfrm>
            <a:off x="1419225" y="524351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from </a:t>
            </a:r>
            <a:r>
              <a:rPr lang="en-IN" dirty="0" err="1"/>
              <a:t>fastapi</a:t>
            </a:r>
            <a:r>
              <a:rPr lang="en-IN" dirty="0"/>
              <a:t> import </a:t>
            </a:r>
            <a:r>
              <a:rPr lang="en-IN" dirty="0" err="1"/>
              <a:t>FastAPI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pydantic</a:t>
            </a:r>
            <a:r>
              <a:rPr lang="en-IN" dirty="0"/>
              <a:t> import </a:t>
            </a:r>
            <a:r>
              <a:rPr lang="en-IN" dirty="0" err="1"/>
              <a:t>BaseModel</a:t>
            </a:r>
            <a:endParaRPr lang="en-IN" dirty="0"/>
          </a:p>
          <a:p>
            <a:r>
              <a:rPr lang="en-IN" dirty="0"/>
              <a:t>from typing import List</a:t>
            </a:r>
          </a:p>
          <a:p>
            <a:endParaRPr lang="en-IN" dirty="0"/>
          </a:p>
          <a:p>
            <a:r>
              <a:rPr lang="en-IN" dirty="0"/>
              <a:t>app = </a:t>
            </a:r>
            <a:r>
              <a:rPr lang="en-IN" dirty="0" err="1"/>
              <a:t>FastAPI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class Address(</a:t>
            </a:r>
            <a:r>
              <a:rPr lang="en-IN" dirty="0" err="1"/>
              <a:t>BaseModel</a:t>
            </a:r>
            <a:r>
              <a:rPr lang="en-IN" dirty="0"/>
              <a:t>):</a:t>
            </a:r>
          </a:p>
          <a:p>
            <a:r>
              <a:rPr lang="en-IN" dirty="0"/>
              <a:t>    street: str</a:t>
            </a:r>
          </a:p>
          <a:p>
            <a:r>
              <a:rPr lang="en-IN" dirty="0"/>
              <a:t>    city: str</a:t>
            </a:r>
          </a:p>
          <a:p>
            <a:r>
              <a:rPr lang="en-IN" dirty="0"/>
              <a:t>    </a:t>
            </a:r>
            <a:r>
              <a:rPr lang="en-IN" dirty="0" err="1"/>
              <a:t>postal_code</a:t>
            </a:r>
            <a:r>
              <a:rPr lang="en-IN" dirty="0"/>
              <a:t>: str</a:t>
            </a:r>
          </a:p>
          <a:p>
            <a:r>
              <a:rPr lang="en-IN" dirty="0"/>
              <a:t>    country: str</a:t>
            </a:r>
          </a:p>
          <a:p>
            <a:endParaRPr lang="en-IN" dirty="0"/>
          </a:p>
          <a:p>
            <a:r>
              <a:rPr lang="en-IN" dirty="0"/>
              <a:t>class User(</a:t>
            </a:r>
            <a:r>
              <a:rPr lang="en-IN" dirty="0" err="1"/>
              <a:t>BaseModel</a:t>
            </a:r>
            <a:r>
              <a:rPr lang="en-IN" dirty="0"/>
              <a:t>):</a:t>
            </a:r>
          </a:p>
          <a:p>
            <a:r>
              <a:rPr lang="en-IN" dirty="0"/>
              <a:t>    username: str</a:t>
            </a:r>
          </a:p>
          <a:p>
            <a:r>
              <a:rPr lang="en-IN" dirty="0"/>
              <a:t>    email: str</a:t>
            </a:r>
          </a:p>
          <a:p>
            <a:r>
              <a:rPr lang="en-IN" dirty="0"/>
              <a:t>    </a:t>
            </a:r>
            <a:r>
              <a:rPr lang="en-IN" dirty="0" err="1"/>
              <a:t>full_name</a:t>
            </a:r>
            <a:r>
              <a:rPr lang="en-IN" dirty="0"/>
              <a:t>: str = None</a:t>
            </a:r>
          </a:p>
          <a:p>
            <a:r>
              <a:rPr lang="en-IN" dirty="0"/>
              <a:t>    addresses: List[Address]</a:t>
            </a:r>
          </a:p>
          <a:p>
            <a:endParaRPr lang="en-IN" dirty="0"/>
          </a:p>
          <a:p>
            <a:r>
              <a:rPr lang="en-IN" dirty="0"/>
              <a:t>@app.post("/users/")</a:t>
            </a:r>
          </a:p>
          <a:p>
            <a:r>
              <a:rPr lang="en-IN" dirty="0"/>
              <a:t>async def </a:t>
            </a:r>
            <a:r>
              <a:rPr lang="en-IN" dirty="0" err="1"/>
              <a:t>create_user</a:t>
            </a:r>
            <a:r>
              <a:rPr lang="en-IN" dirty="0"/>
              <a:t>(user: User):</a:t>
            </a:r>
          </a:p>
          <a:p>
            <a:r>
              <a:rPr lang="en-IN" dirty="0"/>
              <a:t>    return user</a:t>
            </a:r>
          </a:p>
        </p:txBody>
      </p:sp>
    </p:spTree>
    <p:extLst>
      <p:ext uri="{BB962C8B-B14F-4D97-AF65-F5344CB8AC3E}">
        <p14:creationId xmlns:p14="http://schemas.microsoft.com/office/powerpoint/2010/main" val="19128469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553CB6-CCD8-E6C2-6130-55250179FBF2}"/>
              </a:ext>
            </a:extLst>
          </p:cNvPr>
          <p:cNvSpPr txBox="1"/>
          <p:nvPr/>
        </p:nvSpPr>
        <p:spPr>
          <a:xfrm>
            <a:off x="8872538" y="2251298"/>
            <a:ext cx="3152775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850"/>
              </a:spcBef>
              <a:spcAft>
                <a:spcPts val="1425"/>
              </a:spcAft>
              <a:buNone/>
            </a:pPr>
            <a:r>
              <a:rPr lang="en-US" b="1" i="0" dirty="0">
                <a:effectLst/>
                <a:latin typeface="system-ui"/>
              </a:rPr>
              <a:t>Request Body + Path Parameters</a:t>
            </a:r>
          </a:p>
          <a:p>
            <a:pPr algn="l">
              <a:spcAft>
                <a:spcPts val="1425"/>
              </a:spcAft>
              <a:buNone/>
            </a:pPr>
            <a:r>
              <a:rPr lang="en-US" b="0" i="0" dirty="0">
                <a:effectLst/>
                <a:latin typeface="system-ui"/>
              </a:rPr>
              <a:t>You can combine request bodies with path parameters and query parameters: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55B1F1-D95A-C693-6340-2D9680FF8716}"/>
              </a:ext>
            </a:extLst>
          </p:cNvPr>
          <p:cNvSpPr txBox="1"/>
          <p:nvPr/>
        </p:nvSpPr>
        <p:spPr>
          <a:xfrm>
            <a:off x="1209675" y="474345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from </a:t>
            </a:r>
            <a:r>
              <a:rPr lang="en-IN" dirty="0" err="1"/>
              <a:t>fastapi</a:t>
            </a:r>
            <a:r>
              <a:rPr lang="en-IN" dirty="0"/>
              <a:t> import </a:t>
            </a:r>
            <a:r>
              <a:rPr lang="en-IN" dirty="0" err="1"/>
              <a:t>FastAPI</a:t>
            </a:r>
            <a:r>
              <a:rPr lang="en-IN" dirty="0"/>
              <a:t>, Query</a:t>
            </a:r>
          </a:p>
          <a:p>
            <a:r>
              <a:rPr lang="en-IN" dirty="0"/>
              <a:t>from </a:t>
            </a:r>
            <a:r>
              <a:rPr lang="en-IN" dirty="0" err="1"/>
              <a:t>pydantic</a:t>
            </a:r>
            <a:r>
              <a:rPr lang="en-IN" dirty="0"/>
              <a:t> import </a:t>
            </a:r>
            <a:r>
              <a:rPr lang="en-IN" dirty="0" err="1"/>
              <a:t>BaseModel</a:t>
            </a:r>
            <a:endParaRPr lang="en-IN" dirty="0"/>
          </a:p>
          <a:p>
            <a:endParaRPr lang="en-IN" dirty="0"/>
          </a:p>
          <a:p>
            <a:r>
              <a:rPr lang="en-IN" dirty="0"/>
              <a:t>app = </a:t>
            </a:r>
            <a:r>
              <a:rPr lang="en-IN" dirty="0" err="1"/>
              <a:t>FastAPI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class Item(</a:t>
            </a:r>
            <a:r>
              <a:rPr lang="en-IN" dirty="0" err="1"/>
              <a:t>BaseModel</a:t>
            </a:r>
            <a:r>
              <a:rPr lang="en-IN" dirty="0"/>
              <a:t>):</a:t>
            </a:r>
          </a:p>
          <a:p>
            <a:r>
              <a:rPr lang="en-IN" dirty="0"/>
              <a:t>    name: str</a:t>
            </a:r>
          </a:p>
          <a:p>
            <a:r>
              <a:rPr lang="en-IN" dirty="0"/>
              <a:t>    description: str = None</a:t>
            </a:r>
          </a:p>
          <a:p>
            <a:r>
              <a:rPr lang="en-IN" dirty="0"/>
              <a:t>    price: float</a:t>
            </a:r>
          </a:p>
          <a:p>
            <a:r>
              <a:rPr lang="en-IN" dirty="0"/>
              <a:t>    tax: float = None</a:t>
            </a:r>
          </a:p>
          <a:p>
            <a:endParaRPr lang="en-IN" dirty="0"/>
          </a:p>
          <a:p>
            <a:r>
              <a:rPr lang="en-IN" dirty="0"/>
              <a:t>@app.put("/items/{item_id}")</a:t>
            </a:r>
          </a:p>
          <a:p>
            <a:r>
              <a:rPr lang="en-IN" dirty="0"/>
              <a:t>async def </a:t>
            </a:r>
            <a:r>
              <a:rPr lang="en-IN" dirty="0" err="1"/>
              <a:t>update_item</a:t>
            </a:r>
            <a:r>
              <a:rPr lang="en-IN" dirty="0"/>
              <a:t>(</a:t>
            </a:r>
          </a:p>
          <a:p>
            <a:r>
              <a:rPr lang="en-IN" dirty="0"/>
              <a:t>    </a:t>
            </a:r>
            <a:r>
              <a:rPr lang="en-IN" dirty="0" err="1"/>
              <a:t>item_id</a:t>
            </a:r>
            <a:r>
              <a:rPr lang="en-IN" dirty="0"/>
              <a:t>: int, </a:t>
            </a:r>
          </a:p>
          <a:p>
            <a:r>
              <a:rPr lang="en-IN" dirty="0"/>
              <a:t>    item: Item, </a:t>
            </a:r>
          </a:p>
          <a:p>
            <a:r>
              <a:rPr lang="en-IN" dirty="0"/>
              <a:t>    q: str = Query(None, </a:t>
            </a:r>
            <a:r>
              <a:rPr lang="en-IN" dirty="0" err="1"/>
              <a:t>max_length</a:t>
            </a:r>
            <a:r>
              <a:rPr lang="en-IN" dirty="0"/>
              <a:t>=50)</a:t>
            </a:r>
          </a:p>
          <a:p>
            <a:r>
              <a:rPr lang="en-IN" dirty="0"/>
              <a:t>):</a:t>
            </a:r>
          </a:p>
          <a:p>
            <a:r>
              <a:rPr lang="en-IN" dirty="0"/>
              <a:t>    result = {"</a:t>
            </a:r>
            <a:r>
              <a:rPr lang="en-IN" dirty="0" err="1"/>
              <a:t>item_id</a:t>
            </a:r>
            <a:r>
              <a:rPr lang="en-IN" dirty="0"/>
              <a:t>": </a:t>
            </a:r>
            <a:r>
              <a:rPr lang="en-IN" dirty="0" err="1"/>
              <a:t>item_id</a:t>
            </a:r>
            <a:r>
              <a:rPr lang="en-IN" dirty="0"/>
              <a:t>, **</a:t>
            </a:r>
            <a:r>
              <a:rPr lang="en-IN" dirty="0" err="1"/>
              <a:t>item.dict</a:t>
            </a:r>
            <a:r>
              <a:rPr lang="en-IN" dirty="0"/>
              <a:t>()}</a:t>
            </a:r>
          </a:p>
          <a:p>
            <a:r>
              <a:rPr lang="en-IN" dirty="0"/>
              <a:t>    if q:</a:t>
            </a:r>
          </a:p>
          <a:p>
            <a:r>
              <a:rPr lang="en-IN" dirty="0"/>
              <a:t>        </a:t>
            </a:r>
            <a:r>
              <a:rPr lang="en-IN" dirty="0" err="1"/>
              <a:t>result.update</a:t>
            </a:r>
            <a:r>
              <a:rPr lang="en-IN" dirty="0"/>
              <a:t>({"q": q})</a:t>
            </a:r>
          </a:p>
          <a:p>
            <a:r>
              <a:rPr lang="en-IN" dirty="0"/>
              <a:t>    return result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ED94D-B634-F62E-9D50-A91C1DEAC1BB}"/>
              </a:ext>
            </a:extLst>
          </p:cNvPr>
          <p:cNvSpPr txBox="1"/>
          <p:nvPr/>
        </p:nvSpPr>
        <p:spPr>
          <a:xfrm>
            <a:off x="8872538" y="4090302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25"/>
              </a:spcAft>
              <a:buNone/>
            </a:pPr>
            <a:r>
              <a:rPr lang="en-US" b="0" i="0" dirty="0">
                <a:effectLst/>
                <a:latin typeface="system-ui"/>
              </a:rPr>
              <a:t>In this example:</a:t>
            </a:r>
          </a:p>
          <a:p>
            <a:pPr algn="l">
              <a:spcAft>
                <a:spcPts val="1425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SFMono-Regular"/>
              </a:rPr>
              <a:t>item_id</a:t>
            </a:r>
            <a:r>
              <a:rPr lang="en-US" b="0" i="0" dirty="0">
                <a:effectLst/>
                <a:latin typeface="system-ui"/>
              </a:rPr>
              <a:t> is a path parameter</a:t>
            </a:r>
          </a:p>
          <a:p>
            <a:pPr algn="l">
              <a:spcBef>
                <a:spcPts val="285"/>
              </a:spcBef>
              <a:spcAft>
                <a:spcPts val="14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FMono-Regular"/>
              </a:rPr>
              <a:t>item</a:t>
            </a:r>
            <a:r>
              <a:rPr lang="en-US" b="0" i="0" dirty="0">
                <a:effectLst/>
                <a:latin typeface="system-ui"/>
              </a:rPr>
              <a:t> is the request body</a:t>
            </a:r>
          </a:p>
          <a:p>
            <a:pPr algn="l">
              <a:spcBef>
                <a:spcPts val="285"/>
              </a:spcBef>
              <a:spcAft>
                <a:spcPts val="14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FMono-Regular"/>
              </a:rPr>
              <a:t>q</a:t>
            </a:r>
            <a:r>
              <a:rPr lang="en-US" b="0" i="0" dirty="0">
                <a:effectLst/>
                <a:latin typeface="system-ui"/>
              </a:rPr>
              <a:t> is an optional query parameter</a:t>
            </a:r>
          </a:p>
        </p:txBody>
      </p:sp>
    </p:spTree>
    <p:extLst>
      <p:ext uri="{BB962C8B-B14F-4D97-AF65-F5344CB8AC3E}">
        <p14:creationId xmlns:p14="http://schemas.microsoft.com/office/powerpoint/2010/main" val="35887297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502BE-CE04-0614-15C6-B4249ECEA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4C6B4-BA04-C17C-7041-4FBF4D255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Request Body in Form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135C8-3FC5-946E-7235-692274431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>
            <a:normAutofit/>
          </a:bodyPr>
          <a:lstStyle/>
          <a:p>
            <a:r>
              <a:rPr lang="en-IN" dirty="0"/>
              <a:t>Sometimes you need to receive form data instead of JSON:</a:t>
            </a:r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fastapi</a:t>
            </a:r>
            <a:r>
              <a:rPr lang="en-IN" dirty="0"/>
              <a:t> import </a:t>
            </a:r>
            <a:r>
              <a:rPr lang="en-IN" dirty="0" err="1"/>
              <a:t>FastAPI</a:t>
            </a:r>
            <a:r>
              <a:rPr lang="en-IN" dirty="0"/>
              <a:t>, Form</a:t>
            </a:r>
          </a:p>
          <a:p>
            <a:pPr marL="0" indent="0">
              <a:buNone/>
            </a:pPr>
            <a:r>
              <a:rPr lang="en-IN" dirty="0"/>
              <a:t>app = </a:t>
            </a:r>
            <a:r>
              <a:rPr lang="en-IN" dirty="0" err="1"/>
              <a:t>FastAPI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@app.post("/login/")</a:t>
            </a:r>
          </a:p>
          <a:p>
            <a:pPr marL="0" indent="0">
              <a:buNone/>
            </a:pPr>
            <a:r>
              <a:rPr lang="en-IN" dirty="0"/>
              <a:t>async def login(username: str = Form(...), password: str = Form(...)):</a:t>
            </a:r>
          </a:p>
          <a:p>
            <a:pPr marL="0" indent="0">
              <a:buNone/>
            </a:pPr>
            <a:r>
              <a:rPr lang="en-IN" dirty="0"/>
              <a:t>    return {"username": username}</a:t>
            </a:r>
          </a:p>
          <a:p>
            <a:endParaRPr lang="en-IN" dirty="0"/>
          </a:p>
          <a:p>
            <a:r>
              <a:rPr lang="en-IN" dirty="0"/>
              <a:t>This endpoint expects form data with fields "username" and "password". </a:t>
            </a:r>
          </a:p>
          <a:p>
            <a:r>
              <a:rPr lang="en-IN" b="1" dirty="0"/>
              <a:t>Need to install python-multipart to use Form.</a:t>
            </a:r>
          </a:p>
        </p:txBody>
      </p:sp>
    </p:spTree>
    <p:extLst>
      <p:ext uri="{BB962C8B-B14F-4D97-AF65-F5344CB8AC3E}">
        <p14:creationId xmlns:p14="http://schemas.microsoft.com/office/powerpoint/2010/main" val="36016444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27239-126E-E601-B161-B911AAF5D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82B85A-6F4B-BA68-C976-27C9BA127CC0}"/>
              </a:ext>
            </a:extLst>
          </p:cNvPr>
          <p:cNvSpPr txBox="1"/>
          <p:nvPr/>
        </p:nvSpPr>
        <p:spPr>
          <a:xfrm>
            <a:off x="7055109" y="1696039"/>
            <a:ext cx="46734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File Uploads with Request Body</a:t>
            </a:r>
          </a:p>
          <a:p>
            <a:r>
              <a:rPr lang="en-US" dirty="0"/>
              <a:t>Can combine form fields with file uploads: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65AC00-739C-529F-89E2-182E9AEB1192}"/>
              </a:ext>
            </a:extLst>
          </p:cNvPr>
          <p:cNvSpPr txBox="1"/>
          <p:nvPr/>
        </p:nvSpPr>
        <p:spPr>
          <a:xfrm>
            <a:off x="831591" y="957491"/>
            <a:ext cx="609522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from </a:t>
            </a:r>
            <a:r>
              <a:rPr lang="en-IN" dirty="0" err="1"/>
              <a:t>fastapi</a:t>
            </a:r>
            <a:r>
              <a:rPr lang="en-IN" dirty="0"/>
              <a:t> import </a:t>
            </a:r>
            <a:r>
              <a:rPr lang="en-IN" dirty="0" err="1"/>
              <a:t>FastAPI</a:t>
            </a:r>
            <a:r>
              <a:rPr lang="en-IN" dirty="0"/>
              <a:t>, File, </a:t>
            </a:r>
            <a:r>
              <a:rPr lang="en-IN" dirty="0" err="1"/>
              <a:t>UploadFile</a:t>
            </a:r>
            <a:r>
              <a:rPr lang="en-IN" dirty="0"/>
              <a:t>, Form</a:t>
            </a:r>
          </a:p>
          <a:p>
            <a:endParaRPr lang="en-IN" dirty="0"/>
          </a:p>
          <a:p>
            <a:r>
              <a:rPr lang="en-IN" dirty="0"/>
              <a:t>app = </a:t>
            </a:r>
            <a:r>
              <a:rPr lang="en-IN" dirty="0" err="1"/>
              <a:t>FastAPI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@app.post("/files/")</a:t>
            </a:r>
          </a:p>
          <a:p>
            <a:r>
              <a:rPr lang="en-IN" dirty="0"/>
              <a:t>async def </a:t>
            </a:r>
            <a:r>
              <a:rPr lang="en-IN" dirty="0" err="1"/>
              <a:t>create_file</a:t>
            </a:r>
            <a:r>
              <a:rPr lang="en-IN" dirty="0"/>
              <a:t>(</a:t>
            </a:r>
          </a:p>
          <a:p>
            <a:r>
              <a:rPr lang="en-IN" dirty="0"/>
              <a:t>    file: </a:t>
            </a:r>
            <a:r>
              <a:rPr lang="en-IN" dirty="0" err="1"/>
              <a:t>UploadFile</a:t>
            </a:r>
            <a:r>
              <a:rPr lang="en-IN" dirty="0"/>
              <a:t> = File(...),</a:t>
            </a:r>
          </a:p>
          <a:p>
            <a:r>
              <a:rPr lang="en-IN" dirty="0"/>
              <a:t>    description: str = Form(None),</a:t>
            </a:r>
          </a:p>
          <a:p>
            <a:r>
              <a:rPr lang="en-IN" dirty="0"/>
              <a:t>    category: str = Form(...)</a:t>
            </a:r>
          </a:p>
          <a:p>
            <a:r>
              <a:rPr lang="en-IN" dirty="0"/>
              <a:t>):</a:t>
            </a:r>
          </a:p>
          <a:p>
            <a:r>
              <a:rPr lang="en-IN" dirty="0"/>
              <a:t>    contents = await </a:t>
            </a:r>
            <a:r>
              <a:rPr lang="en-IN" dirty="0" err="1"/>
              <a:t>file.read</a:t>
            </a:r>
            <a:r>
              <a:rPr lang="en-IN" dirty="0"/>
              <a:t>()</a:t>
            </a:r>
          </a:p>
          <a:p>
            <a:r>
              <a:rPr lang="en-IN" dirty="0"/>
              <a:t>    return {</a:t>
            </a:r>
          </a:p>
          <a:p>
            <a:r>
              <a:rPr lang="en-IN" dirty="0"/>
              <a:t>        "filename": </a:t>
            </a:r>
            <a:r>
              <a:rPr lang="en-IN" dirty="0" err="1"/>
              <a:t>file.filename</a:t>
            </a:r>
            <a:r>
              <a:rPr lang="en-IN" dirty="0"/>
              <a:t>,</a:t>
            </a:r>
          </a:p>
          <a:p>
            <a:r>
              <a:rPr lang="en-IN" dirty="0"/>
              <a:t>        "</a:t>
            </a:r>
            <a:r>
              <a:rPr lang="en-IN" dirty="0" err="1"/>
              <a:t>content_type</a:t>
            </a:r>
            <a:r>
              <a:rPr lang="en-IN" dirty="0"/>
              <a:t>": </a:t>
            </a:r>
            <a:r>
              <a:rPr lang="en-IN" dirty="0" err="1"/>
              <a:t>file.content_type</a:t>
            </a:r>
            <a:r>
              <a:rPr lang="en-IN" dirty="0"/>
              <a:t>,</a:t>
            </a:r>
          </a:p>
          <a:p>
            <a:r>
              <a:rPr lang="en-IN" dirty="0"/>
              <a:t>        "description": description,</a:t>
            </a:r>
          </a:p>
          <a:p>
            <a:r>
              <a:rPr lang="en-IN" dirty="0"/>
              <a:t>        "category": category,</a:t>
            </a:r>
          </a:p>
          <a:p>
            <a:r>
              <a:rPr lang="en-IN" dirty="0"/>
              <a:t>        "</a:t>
            </a:r>
            <a:r>
              <a:rPr lang="en-IN" dirty="0" err="1"/>
              <a:t>file_size</a:t>
            </a:r>
            <a:r>
              <a:rPr lang="en-IN" dirty="0"/>
              <a:t>": </a:t>
            </a:r>
            <a:r>
              <a:rPr lang="en-IN" dirty="0" err="1"/>
              <a:t>len</a:t>
            </a:r>
            <a:r>
              <a:rPr lang="en-IN" dirty="0"/>
              <a:t>(contents)</a:t>
            </a:r>
          </a:p>
          <a:p>
            <a:r>
              <a:rPr lang="en-IN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8876852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77BA7-CC49-6194-FF6F-5D98CC925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65525-40B3-8D11-D982-F886F20CE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Exercises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00A60-7180-F58A-E4D9-75E1BE888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r>
              <a:rPr lang="en-US" dirty="0"/>
              <a:t>Create a </a:t>
            </a:r>
            <a:r>
              <a:rPr lang="en-US" dirty="0" err="1"/>
              <a:t>Pydantic</a:t>
            </a:r>
            <a:r>
              <a:rPr lang="en-US" dirty="0"/>
              <a:t> model for a product with name, description, price, and categories (list of strings). Add appropriate validation rules.</a:t>
            </a:r>
          </a:p>
          <a:p>
            <a:r>
              <a:rPr lang="en-US" dirty="0"/>
              <a:t>Build an API endpoint that accepts user information (name, email, age) and validates that the user is between 18 and 65 years old.</a:t>
            </a:r>
          </a:p>
          <a:p>
            <a:r>
              <a:rPr lang="en-US" dirty="0"/>
              <a:t>Extend the user registration example to include address validation with country, postal code, and phone number validation.</a:t>
            </a:r>
          </a:p>
          <a:p>
            <a:r>
              <a:rPr lang="en-US" dirty="0"/>
              <a:t>Create a custom validation error handler that formats error messages in a user-friendly way.</a:t>
            </a:r>
          </a:p>
          <a:p>
            <a:r>
              <a:rPr lang="en-US" dirty="0"/>
              <a:t>Build a form submission API that validates that all required fields are filled and that dates are in the correct format.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12206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D41C6-67CF-94F2-20BD-A57157034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10A29-20B7-133A-CC09-0A31B29A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F9B42-4B16-DDD6-40F0-60E3BEBE7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84464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A317A-C7EC-5061-C5C4-04F444648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0D43-56D0-230A-B9E0-A92C3AC18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EB7B1-9A50-12CC-2E6D-B83C00208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9703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BC267-740B-5738-38B7-EC7406B81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0FBE0-5B96-4FBD-8BCB-A3ECC51F4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A18B5-61FB-4E44-2F0D-89CF8441B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6663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30993-D150-42B8-8C48-D01285B27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2C64F-1A14-77E5-65FE-16947CE5C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E99F8-962E-3F27-AA13-6AAAFD2AB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23131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CAC6E-BAED-DD39-472F-F8C24ABB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0EF5A-3034-A831-F0D7-5B5510FD1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F5F60-1D9C-3F4D-644C-441F3FA1A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49627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48B61-BD5A-98A1-EF8B-45723A140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6CD4A-8161-3A02-7C70-D72085859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C05E9-FD83-6014-11F2-3B4E8CC0D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07729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6B72F-A400-D7D2-A0E5-57970D415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04BF-75D7-17EB-CEEA-CAF85DD8E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B0B2C-1599-BE3C-90B5-EA2668166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040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98903-CDD1-9AAF-0D9B-233DF8FB3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F4194-D2CB-55DB-6887-D65175BA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48099-3C4A-2B5E-1D90-71C008322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54154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3FE61-E0B3-10F8-6811-5C3215724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5D471-9EF6-DAA2-CE00-C61DCEAAB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BAC52-AEED-C76C-B6CA-AF6B641B6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85473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B010F-4639-0105-ABDF-2E1C02228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351BC-B72D-7BF8-C35A-673EE7775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0A881-0EE9-658C-D02E-F19C46DE8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186234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DA5D6-B3E3-2CDD-5A22-7BB8D68CA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B8A09-13F0-E922-3B62-E2D2E8F27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2D880-FD47-3659-3603-4A9C251FC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89669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1EB8C-1563-D5D4-BC57-3F8FE10FD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85308-ACF2-7C39-227B-0B13E3E64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D6C1-F72F-455C-0A93-738FFA1D7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31597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0527A-2EF2-9179-E878-C7A88B106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2D27B-4F58-89C4-5768-B7B2A6878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636DA-B28C-EF53-66C3-089BCC994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632827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4EB56-71CC-396D-76A3-7BBB6D326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03E0E-8C96-C06C-F34D-3647A205B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003BD-F895-A98D-9302-AF1183E30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9061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76127-E6DE-4501-2292-12429CD71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BBCD9-FAE1-DC0B-941A-30535E1C7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E4DB7-6191-1BB8-A075-805D19B22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84493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B7BB1-511E-5A67-EF86-A03C22BF5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C6A4F-FB0C-FCCF-B43F-C7C831136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7EBC7-1E92-28FB-677F-79B0CCCC2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118361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73AE0-2C29-CFD8-8CAE-02BB1B384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F5CE8-D446-CC9D-DC76-321E83D87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7AED9-26E6-8912-6E1A-24CF4A6CC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42224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B02BA-AF3D-890C-1838-CC7E1390E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66BB4-D8AB-FC01-5B35-70EFD7242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1C83A-8C4A-7F42-05D9-9D6493E7F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571960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AD669-CC62-F83E-035F-DF3665FE3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BB411-FF68-D36A-AE48-EFA824B60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DB398-69C7-C7B6-854E-2205B8652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87592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2DC29-F416-4590-FC11-D27484C36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B19D0-675F-CA6E-978A-BEBACE8A4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4E5D9-914C-1EF4-7915-2B024EF9E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4271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1F435-9169-8F80-1E97-494E6CB00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2AFA6-19B1-52D3-200D-F0A69F3C2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5D077-E9A8-BA6F-3998-AD3C54C7D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46046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D95DE-73C6-AE2C-2C85-FCCC0A4C9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31306-EB98-F094-DEA8-500B0EBA7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AC3B-E74B-030C-ED02-783453CFE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135187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87C21-D5B7-B405-4FBF-A41765339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1FACA-81EA-0407-B097-C1F652AA8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6B7CD-34B2-9201-B243-12BA41A7D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85338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6FD07-D17B-1021-70B6-9FEFAE985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FE96-B5AA-64B6-EFC6-39BA345CF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F9E81-4721-50CC-FFB6-282568B33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945202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660DF-82EB-458C-5C2C-8C247AE79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02C6F-A5D3-CDCC-589C-951729ECF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5A7F5-1C8A-2C3F-E66F-CFD2D9055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409819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B1304-AA12-421F-2973-25C8C7FAE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51136-7830-A875-AF04-AE3463EF3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0771F-2D3A-2835-84DE-967CC509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712682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7AC20-14AB-0FB7-6ABA-1BB8D497E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4295F-096C-BEC8-6F37-AA632017A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6835E-4282-5004-C127-FE9FA3128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940796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1B0E9-EF1F-0278-531A-B6FFD7A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FD621-C49A-D615-5A30-5C08499F8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859AE-4975-581F-8655-70ACCEE7C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417972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C0091-59B7-7A08-AF65-D0F4B70B3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5C6A8-DA47-F0D0-6D83-808045D85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C62DE-0225-8266-FDD8-69C9B9540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76055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C603C-04E3-8595-231E-3D85890EF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64F3-A2BA-8BBE-FBB7-0397B0EA4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8F4BA-145D-EC76-FCDE-117DBBDD9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410448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55F72-4A40-C526-41AA-5A18D68A5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53F56-8F45-C8C3-A977-723EE9324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58705-A0FD-BC50-D4D7-80D263390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739402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9D946-9EFC-9AF5-90EA-5A05523A2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F1471-56E1-4FD8-7507-221E7FBE1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35EFE-9B26-6F81-8C16-A8C535BE5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7683" cy="390460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80963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{F8256BB2-945D-4561-AA61-C6767B945917}tf02900722</Template>
  <TotalTime>140</TotalTime>
  <Words>5540</Words>
  <Application>Microsoft Office PowerPoint</Application>
  <PresentationFormat>Widescreen</PresentationFormat>
  <Paragraphs>514</Paragraphs>
  <Slides>84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1" baseType="lpstr">
      <vt:lpstr>Arial</vt:lpstr>
      <vt:lpstr>Century Gothic</vt:lpstr>
      <vt:lpstr>SFMono-Regular</vt:lpstr>
      <vt:lpstr>system-ui</vt:lpstr>
      <vt:lpstr>Wingdings</vt:lpstr>
      <vt:lpstr>Wingdings 3</vt:lpstr>
      <vt:lpstr>Ion Boardroom</vt:lpstr>
      <vt:lpstr>Request and Response in fast api</vt:lpstr>
      <vt:lpstr>FastAPI Path Operations</vt:lpstr>
      <vt:lpstr>Basic Path Operations</vt:lpstr>
      <vt:lpstr>HTTP Methods</vt:lpstr>
      <vt:lpstr>Path Parameters</vt:lpstr>
      <vt:lpstr>Multiple Path Parameters</vt:lpstr>
      <vt:lpstr>Path Parameters with Type Validation</vt:lpstr>
      <vt:lpstr>Path Parameter Order Matters</vt:lpstr>
      <vt:lpstr>Predefined Path Parameters</vt:lpstr>
      <vt:lpstr>Predefined Path Parameters</vt:lpstr>
      <vt:lpstr>Using Annotated as part of path params</vt:lpstr>
      <vt:lpstr>Important</vt:lpstr>
      <vt:lpstr>Number validations: greater than or equal</vt:lpstr>
      <vt:lpstr>Number validations</vt:lpstr>
      <vt:lpstr>Number validations</vt:lpstr>
      <vt:lpstr>Query Parameters</vt:lpstr>
      <vt:lpstr>Basic Query Parameters</vt:lpstr>
      <vt:lpstr>Required vs Optional Query Parameters</vt:lpstr>
      <vt:lpstr>Optional Query Parameters</vt:lpstr>
      <vt:lpstr>Type Conversion and Validation</vt:lpstr>
      <vt:lpstr>Bool Conversion</vt:lpstr>
      <vt:lpstr>Validation using Annotated</vt:lpstr>
      <vt:lpstr>Use Annotated in the type for the q parameter</vt:lpstr>
      <vt:lpstr>Use Annotated in the type for the q parameter</vt:lpstr>
      <vt:lpstr>Without Annotated</vt:lpstr>
      <vt:lpstr>Using the Query Class</vt:lpstr>
      <vt:lpstr>Using the Query Class</vt:lpstr>
      <vt:lpstr>Required Query Parameters</vt:lpstr>
      <vt:lpstr>Required Query Parameters</vt:lpstr>
      <vt:lpstr>Required, can be None</vt:lpstr>
      <vt:lpstr>Query Parameter Validation</vt:lpstr>
      <vt:lpstr>Query Parameter Aliasing</vt:lpstr>
      <vt:lpstr>Exclude parameters from OpenAPI</vt:lpstr>
      <vt:lpstr>Custom Validation</vt:lpstr>
      <vt:lpstr>Custom Validation</vt:lpstr>
      <vt:lpstr>Query Parameter Models</vt:lpstr>
      <vt:lpstr>Query Parameters with a Pydantic Model</vt:lpstr>
      <vt:lpstr>Forbid Extra Query Parameters</vt:lpstr>
      <vt:lpstr>Examples</vt:lpstr>
      <vt:lpstr>Best Practices for Query Parameters</vt:lpstr>
      <vt:lpstr>Query Parameters -- Summary</vt:lpstr>
      <vt:lpstr>Assignments</vt:lpstr>
      <vt:lpstr>FastAPI Request Body</vt:lpstr>
      <vt:lpstr>Creating Your First Request Body</vt:lpstr>
      <vt:lpstr>Creating Your First Request Body</vt:lpstr>
      <vt:lpstr>How FastAPI Processes Request Bodies</vt:lpstr>
      <vt:lpstr>Advanced Request Body Validation</vt:lpstr>
      <vt:lpstr>PowerPoint Presentation</vt:lpstr>
      <vt:lpstr>PowerPoint Presentation</vt:lpstr>
      <vt:lpstr>Request Body in Form Data</vt:lpstr>
      <vt:lpstr>PowerPoint Presentation</vt:lpstr>
      <vt:lpstr>Exercises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anju munoth</dc:creator>
  <cp:lastModifiedBy>anju munoth</cp:lastModifiedBy>
  <cp:revision>71</cp:revision>
  <dcterms:created xsi:type="dcterms:W3CDTF">2025-12-09T01:03:19Z</dcterms:created>
  <dcterms:modified xsi:type="dcterms:W3CDTF">2025-12-09T03:24:19Z</dcterms:modified>
</cp:coreProperties>
</file>
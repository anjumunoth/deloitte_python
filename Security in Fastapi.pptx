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305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304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0" autoAdjust="0"/>
    <p:restoredTop sz="94660"/>
  </p:normalViewPr>
  <p:slideViewPr>
    <p:cSldViewPr snapToGrid="0">
      <p:cViewPr>
        <p:scale>
          <a:sx n="82" d="100"/>
          <a:sy n="82" d="100"/>
        </p:scale>
        <p:origin x="290" y="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12/11/2025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12/11/2025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12/11/2025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12/11/2025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12/11/2025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12/11/2025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12/11/2025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12/11/2025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12/11/2025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12/11/2025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12/11/2025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12/11/2025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12/11/2025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12/11/2025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12/11/2025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12/11/2025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12/11/2025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12/11/2025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72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AA0B6-CCEC-B680-0403-77C23B68A3B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Security in </a:t>
            </a:r>
            <a:r>
              <a:rPr lang="en-IN" dirty="0" err="1"/>
              <a:t>Fastapi</a:t>
            </a:r>
            <a:r>
              <a:rPr lang="en-IN" dirty="0"/>
              <a:t>		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BC4F8A-831F-C624-5BC0-6E36A094338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Anju munoth</a:t>
            </a:r>
          </a:p>
        </p:txBody>
      </p:sp>
    </p:spTree>
    <p:extLst>
      <p:ext uri="{BB962C8B-B14F-4D97-AF65-F5344CB8AC3E}">
        <p14:creationId xmlns:p14="http://schemas.microsoft.com/office/powerpoint/2010/main" val="20866953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AC918-EE7A-5004-9CF0-50DB3A700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Why API Security Matters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21D5D8-2637-ED46-FF8B-4B835B16AC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582956" cy="387661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In today's interconnected world, APIs often handle sensitive information and provide access to critical functionality. Without proper security:</a:t>
            </a:r>
          </a:p>
          <a:p>
            <a:r>
              <a:rPr lang="en-US" dirty="0"/>
              <a:t>Unauthorized users could access private data</a:t>
            </a:r>
          </a:p>
          <a:p>
            <a:r>
              <a:rPr lang="en-US" dirty="0"/>
              <a:t>Malicious actors could manipulate your API</a:t>
            </a:r>
          </a:p>
          <a:p>
            <a:r>
              <a:rPr lang="en-US" dirty="0"/>
              <a:t>User credentials might be exposed</a:t>
            </a:r>
          </a:p>
          <a:p>
            <a:r>
              <a:rPr lang="en-US" dirty="0"/>
              <a:t>Your application could face compliance issues</a:t>
            </a:r>
          </a:p>
          <a:p>
            <a:r>
              <a:rPr lang="en-US" dirty="0" err="1"/>
              <a:t>FastAPI</a:t>
            </a:r>
            <a:r>
              <a:rPr lang="en-US" dirty="0"/>
              <a:t> provides several built-in security utilities that help you implement industry-standard security practices with minimal effort.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270192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B4DA2B-3F46-9C56-A84C-D8F1DCA3C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950CB-7B3B-CAF6-C81A-7F71F556E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F61F31-B282-0DE5-6D8F-DA428A690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582956" cy="3876610"/>
          </a:xfrm>
        </p:spPr>
        <p:txBody>
          <a:bodyPr/>
          <a:lstStyle/>
          <a:p>
            <a:r>
              <a:rPr lang="en-US" dirty="0" err="1"/>
              <a:t>FastAPI's</a:t>
            </a:r>
            <a:r>
              <a:rPr lang="en-US" dirty="0"/>
              <a:t> security features are built around a few key concepts:</a:t>
            </a:r>
          </a:p>
          <a:p>
            <a:r>
              <a:rPr lang="en-US" b="1" dirty="0"/>
              <a:t>Authentication</a:t>
            </a:r>
            <a:r>
              <a:rPr lang="en-US" dirty="0"/>
              <a:t>: Verifying the identity of users (who they are)</a:t>
            </a:r>
          </a:p>
          <a:p>
            <a:r>
              <a:rPr lang="en-US" b="1" dirty="0"/>
              <a:t>Authorization</a:t>
            </a:r>
            <a:r>
              <a:rPr lang="en-US" dirty="0"/>
              <a:t>: Determining what authenticated users can do</a:t>
            </a:r>
          </a:p>
          <a:p>
            <a:r>
              <a:rPr lang="en-US" b="1" dirty="0"/>
              <a:t>Dependencies</a:t>
            </a:r>
            <a:r>
              <a:rPr lang="en-US" dirty="0"/>
              <a:t>: </a:t>
            </a:r>
            <a:r>
              <a:rPr lang="en-US" dirty="0" err="1"/>
              <a:t>FastAPI's</a:t>
            </a:r>
            <a:r>
              <a:rPr lang="en-US" dirty="0"/>
              <a:t> mechanism for implementing reusable security logic</a:t>
            </a:r>
          </a:p>
          <a:p>
            <a:r>
              <a:rPr lang="en-US" b="1" dirty="0"/>
              <a:t>OAuth2</a:t>
            </a:r>
            <a:r>
              <a:rPr lang="en-US" dirty="0"/>
              <a:t>: Industry standard protocol for authorization</a:t>
            </a:r>
          </a:p>
          <a:p>
            <a:r>
              <a:rPr lang="en-US" b="1" dirty="0"/>
              <a:t>JWT (JSON Web Tokens)</a:t>
            </a:r>
            <a:r>
              <a:rPr lang="en-US" dirty="0"/>
              <a:t>: A common method for securely transmitting information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852054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CE572-34FE-FDBC-000D-C37E88776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F2A0C6-216B-754E-3668-625E681489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</a:t>
            </a:r>
            <a:r>
              <a:rPr lang="en-US" dirty="0" err="1"/>
              <a:t>FastAPI</a:t>
            </a:r>
            <a:r>
              <a:rPr lang="en-US" dirty="0"/>
              <a:t>, one of the most elegant ways to implement security measures is through </a:t>
            </a:r>
            <a:r>
              <a:rPr lang="en-US" b="1" dirty="0"/>
              <a:t>dependency injection</a:t>
            </a:r>
            <a:r>
              <a:rPr lang="en-US" dirty="0"/>
              <a:t> - a powerful feature that allows you to create reusable security components.</a:t>
            </a:r>
          </a:p>
          <a:p>
            <a:pPr marL="0" indent="0">
              <a:buNone/>
            </a:pPr>
            <a:r>
              <a:rPr lang="en-US" dirty="0"/>
              <a:t>Security dependencies in </a:t>
            </a:r>
            <a:r>
              <a:rPr lang="en-US" dirty="0" err="1"/>
              <a:t>FastAPI</a:t>
            </a:r>
            <a:r>
              <a:rPr lang="en-US" dirty="0"/>
              <a:t> enable you to:</a:t>
            </a:r>
          </a:p>
          <a:p>
            <a:r>
              <a:rPr lang="en-US" dirty="0"/>
              <a:t>Control access to your API endpoints</a:t>
            </a:r>
          </a:p>
          <a:p>
            <a:r>
              <a:rPr lang="en-US" dirty="0"/>
              <a:t>Validate user credentials</a:t>
            </a:r>
          </a:p>
          <a:p>
            <a:r>
              <a:rPr lang="en-US" dirty="0"/>
              <a:t>Apply consistent security policies across your application</a:t>
            </a:r>
          </a:p>
          <a:p>
            <a:r>
              <a:rPr lang="en-US" dirty="0"/>
              <a:t>Extract and validate authentication tokens</a:t>
            </a:r>
          </a:p>
          <a:p>
            <a:r>
              <a:rPr lang="en-US" dirty="0"/>
              <a:t>Implement role-based access control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503394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3E41B7-863D-77D5-6975-7BBABB8B19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3A6D9-97C5-A631-1360-2484664F8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Security Best Practices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5FA690-69BA-7D4C-A79E-AF0F263FCD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582956" cy="3876610"/>
          </a:xfrm>
        </p:spPr>
        <p:txBody>
          <a:bodyPr/>
          <a:lstStyle/>
          <a:p>
            <a:r>
              <a:rPr lang="en-US" dirty="0"/>
              <a:t>When implementing security in your </a:t>
            </a:r>
            <a:r>
              <a:rPr lang="en-US" dirty="0" err="1"/>
              <a:t>FastAPI</a:t>
            </a:r>
            <a:r>
              <a:rPr lang="en-US" dirty="0"/>
              <a:t> application:</a:t>
            </a:r>
          </a:p>
          <a:p>
            <a:r>
              <a:rPr lang="en-US" b="1" dirty="0"/>
              <a:t>Never store plain text passwords</a:t>
            </a:r>
            <a:r>
              <a:rPr lang="en-US" dirty="0"/>
              <a:t> - always use a proper hashing algorithm</a:t>
            </a:r>
          </a:p>
          <a:p>
            <a:r>
              <a:rPr lang="en-US" b="1" dirty="0"/>
              <a:t>Use HTTPS</a:t>
            </a:r>
            <a:r>
              <a:rPr lang="en-US" dirty="0"/>
              <a:t> in production to encrypt data in transit</a:t>
            </a:r>
          </a:p>
          <a:p>
            <a:r>
              <a:rPr lang="en-US" b="1" dirty="0"/>
              <a:t>Implement rate limiting</a:t>
            </a:r>
            <a:r>
              <a:rPr lang="en-US" dirty="0"/>
              <a:t> to prevent brute force attacks</a:t>
            </a:r>
          </a:p>
          <a:p>
            <a:r>
              <a:rPr lang="en-US" b="1" dirty="0"/>
              <a:t>Keep secrets secure</a:t>
            </a:r>
            <a:r>
              <a:rPr lang="en-US" dirty="0"/>
              <a:t> - use environment variables or secret management services</a:t>
            </a:r>
          </a:p>
          <a:p>
            <a:r>
              <a:rPr lang="en-US" b="1" dirty="0"/>
              <a:t>Follow the principle of least privilege</a:t>
            </a:r>
            <a:r>
              <a:rPr lang="en-US" dirty="0"/>
              <a:t> - only give users the access they need</a:t>
            </a:r>
          </a:p>
          <a:p>
            <a:r>
              <a:rPr lang="en-US" b="1" dirty="0"/>
              <a:t>Validate all inputs</a:t>
            </a:r>
            <a:r>
              <a:rPr lang="en-US" dirty="0"/>
              <a:t> - </a:t>
            </a:r>
            <a:r>
              <a:rPr lang="en-US" dirty="0" err="1"/>
              <a:t>FastAPI</a:t>
            </a:r>
            <a:r>
              <a:rPr lang="en-US" dirty="0"/>
              <a:t> helps with this but remain vigilant</a:t>
            </a:r>
          </a:p>
          <a:p>
            <a:r>
              <a:rPr lang="en-US" b="1" dirty="0"/>
              <a:t>Keep dependencies updated</a:t>
            </a:r>
            <a:r>
              <a:rPr lang="en-US" dirty="0"/>
              <a:t> to address security vulnerabilities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229653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D72363-654D-93EA-7504-6EC586C68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330FE-479B-CE5F-21C4-8651F03513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Real-World Security Implementation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5F280E-F397-BF21-4E28-F07EA636EA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582956" cy="387661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In real-world applications, you would typically:</a:t>
            </a:r>
          </a:p>
          <a:p>
            <a:r>
              <a:rPr lang="en-US" dirty="0"/>
              <a:t>Use a database to store user information</a:t>
            </a:r>
          </a:p>
          <a:p>
            <a:r>
              <a:rPr lang="en-US" dirty="0"/>
              <a:t>Implement role-based access control (RBAC)</a:t>
            </a:r>
          </a:p>
          <a:p>
            <a:r>
              <a:rPr lang="en-US" dirty="0"/>
              <a:t>Add refresh token functionality</a:t>
            </a:r>
          </a:p>
          <a:p>
            <a:r>
              <a:rPr lang="en-US" dirty="0"/>
              <a:t>Implement additional security headers</a:t>
            </a:r>
          </a:p>
          <a:p>
            <a:r>
              <a:rPr lang="en-US" dirty="0"/>
              <a:t>Add CORS protection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635733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3431BD-1C88-8A27-796D-78AEA73D2B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DDBCB-0F5D-3091-69B6-28DC2C3B2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FastAPI</a:t>
            </a:r>
            <a:r>
              <a:rPr lang="en-US" b="1" dirty="0"/>
              <a:t> OAuth2 Implementation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B1E902-3C04-9183-170E-2B5C2FE6F2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582956" cy="3876610"/>
          </a:xfrm>
        </p:spPr>
        <p:txBody>
          <a:bodyPr/>
          <a:lstStyle/>
          <a:p>
            <a:r>
              <a:rPr lang="en-US" dirty="0"/>
              <a:t>OAuth2 is an industry-standard protocol for authorization that enables third-party applications to obtain limited access to a user's account on a server. </a:t>
            </a:r>
          </a:p>
          <a:p>
            <a:r>
              <a:rPr lang="en-US" dirty="0" err="1"/>
              <a:t>FastAPI</a:t>
            </a:r>
            <a:r>
              <a:rPr lang="en-US" dirty="0"/>
              <a:t> provides built-in support for OAuth2 through its security utilities, making it straightforward to implement various authentication flows. </a:t>
            </a:r>
          </a:p>
          <a:p>
            <a:r>
              <a:rPr lang="en-US" b="1" dirty="0"/>
              <a:t>Can use password flow (also known as Resource Owner Password Credentials) and  JWT (JSON Web Tokens) for maintaining authenticated sessions.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5951657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4E22EC-4D80-0931-355C-7D1945AD2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E673B-E3FE-5FB3-9354-1349D9671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Understanding OAuth2 Concepts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13E839-1522-83D7-6C89-9333E29155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582956" cy="3876610"/>
          </a:xfrm>
        </p:spPr>
        <p:txBody>
          <a:bodyPr/>
          <a:lstStyle/>
          <a:p>
            <a:r>
              <a:rPr lang="en-US" dirty="0"/>
              <a:t>OAuth2 involves several key components:</a:t>
            </a:r>
          </a:p>
          <a:p>
            <a:r>
              <a:rPr lang="en-US" b="1" dirty="0"/>
              <a:t>Resource Owner</a:t>
            </a:r>
            <a:r>
              <a:rPr lang="en-US" dirty="0"/>
              <a:t>: The user who owns the data (e.g., a user with an account)</a:t>
            </a:r>
          </a:p>
          <a:p>
            <a:r>
              <a:rPr lang="en-US" b="1" dirty="0"/>
              <a:t>Client</a:t>
            </a:r>
            <a:r>
              <a:rPr lang="en-US" dirty="0"/>
              <a:t>: The application requesting access to the user's data</a:t>
            </a:r>
          </a:p>
          <a:p>
            <a:r>
              <a:rPr lang="en-US" b="1" dirty="0"/>
              <a:t>Authorization Server</a:t>
            </a:r>
            <a:r>
              <a:rPr lang="en-US" dirty="0"/>
              <a:t>: The server that authenticates the user and issues tokens</a:t>
            </a:r>
          </a:p>
          <a:p>
            <a:r>
              <a:rPr lang="en-US" b="1" dirty="0"/>
              <a:t>Resource Server</a:t>
            </a:r>
            <a:r>
              <a:rPr lang="en-US" dirty="0"/>
              <a:t>: The server that hosts the protected resources</a:t>
            </a:r>
          </a:p>
          <a:p>
            <a:r>
              <a:rPr lang="en-US" b="1" dirty="0"/>
              <a:t>Access Token</a:t>
            </a:r>
            <a:r>
              <a:rPr lang="en-US" dirty="0"/>
              <a:t>: A credential used to access protected resources</a:t>
            </a:r>
          </a:p>
          <a:p>
            <a:r>
              <a:rPr lang="en-US" dirty="0" err="1"/>
              <a:t>FastAPI</a:t>
            </a:r>
            <a:r>
              <a:rPr lang="en-US" dirty="0"/>
              <a:t> can act as both the Authorization Server and the Resource Server.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89608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31D4C9-DBB5-1D91-FC02-17264EBDB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BFAC8-2AF6-2F91-887C-5918A2506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Basic OAuth2 Implementation with Password Flow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A94ECE-208B-C955-BB20-1CDDD3CEE4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582956" cy="3876610"/>
          </a:xfrm>
        </p:spPr>
        <p:txBody>
          <a:bodyPr/>
          <a:lstStyle/>
          <a:p>
            <a:r>
              <a:rPr lang="en-US" b="1" dirty="0"/>
              <a:t>Step 1: Set up the necessary imports and create the app</a:t>
            </a:r>
          </a:p>
          <a:p>
            <a:r>
              <a:rPr lang="en-US" b="1" dirty="0"/>
              <a:t>Step 2: Define the models for users and tokens</a:t>
            </a:r>
          </a:p>
          <a:p>
            <a:r>
              <a:rPr lang="en-US" b="1" dirty="0"/>
              <a:t>Step 3: Create a user database and utility functions</a:t>
            </a:r>
          </a:p>
          <a:p>
            <a:r>
              <a:rPr lang="en-US" b="1" dirty="0"/>
              <a:t>Step 4: Implement the JWT token creation function</a:t>
            </a:r>
          </a:p>
          <a:p>
            <a:r>
              <a:rPr lang="en-US" b="1" dirty="0"/>
              <a:t>Step 5: Create the function to get the current user from a token</a:t>
            </a:r>
          </a:p>
          <a:p>
            <a:r>
              <a:rPr lang="en-US" b="1" dirty="0"/>
              <a:t>Step 6: Create the token endpoint</a:t>
            </a:r>
          </a:p>
          <a:p>
            <a:r>
              <a:rPr lang="en-US" b="1" dirty="0"/>
              <a:t>Step 7: Create a protected endpoint</a:t>
            </a:r>
          </a:p>
          <a:p>
            <a:br>
              <a:rPr lang="en-US" dirty="0"/>
            </a:b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74504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925645-0006-1153-2121-D290D0AA8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65E87-D48C-C03A-F6EE-FE3802EAC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Password Hashing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7DC134-D127-9086-E57E-B210BD2C9A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582956" cy="3876610"/>
          </a:xfrm>
        </p:spPr>
        <p:txBody>
          <a:bodyPr/>
          <a:lstStyle/>
          <a:p>
            <a:r>
              <a:rPr lang="en-US" dirty="0"/>
              <a:t>Password security is one of the most critical aspects of any web application. </a:t>
            </a:r>
          </a:p>
          <a:p>
            <a:r>
              <a:rPr lang="en-US" dirty="0"/>
              <a:t>Storing plain-text passwords in a database is a severe security risk - if your database is compromised, all user accounts are immediately vulnerable. </a:t>
            </a:r>
          </a:p>
          <a:p>
            <a:r>
              <a:rPr lang="en-US" dirty="0"/>
              <a:t>That's where password hashing comes into play.</a:t>
            </a:r>
          </a:p>
          <a:p>
            <a:r>
              <a:rPr lang="en-US" dirty="0"/>
              <a:t>Use Python's </a:t>
            </a:r>
            <a:r>
              <a:rPr lang="en-US" dirty="0" err="1"/>
              <a:t>passlib</a:t>
            </a:r>
            <a:r>
              <a:rPr lang="en-US" dirty="0"/>
              <a:t> library, which provides robust password hashing algorithms and is recommended by the </a:t>
            </a:r>
            <a:r>
              <a:rPr lang="en-US" dirty="0" err="1"/>
              <a:t>FastAPI</a:t>
            </a:r>
            <a:r>
              <a:rPr lang="en-US" dirty="0"/>
              <a:t> team.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537825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D5F83C-F73B-BF6E-B989-A737EEA8BE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8AC01-61BC-57AF-1C0B-520F92077F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Password Hashing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1039FD-02D2-D0DD-D756-BF016CD7AE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582956" cy="3876610"/>
          </a:xfrm>
        </p:spPr>
        <p:txBody>
          <a:bodyPr/>
          <a:lstStyle/>
          <a:p>
            <a:r>
              <a:rPr lang="en-US" dirty="0"/>
              <a:t>Password hashing is a one-way transformation of a password into a fixed-length string of characters. </a:t>
            </a:r>
          </a:p>
          <a:p>
            <a:r>
              <a:rPr lang="en-US" dirty="0"/>
              <a:t>Unlike encryption, hashing is designed to be irreversible - you cannot convert the hash back to the original password.</a:t>
            </a:r>
          </a:p>
          <a:p>
            <a:r>
              <a:rPr lang="en-US" dirty="0"/>
              <a:t>Key benefits of password hashing include:</a:t>
            </a:r>
          </a:p>
          <a:p>
            <a:r>
              <a:rPr lang="en-US" b="1" dirty="0"/>
              <a:t>One-way transformation</a:t>
            </a:r>
            <a:r>
              <a:rPr lang="en-US" dirty="0"/>
              <a:t>: Even if attackers gain access to your database, they can't reverse the hashes to reveal original passwords</a:t>
            </a:r>
          </a:p>
          <a:p>
            <a:r>
              <a:rPr lang="en-US" b="1" dirty="0"/>
              <a:t>Fingerprinting</a:t>
            </a:r>
            <a:r>
              <a:rPr lang="en-US" dirty="0"/>
              <a:t>: The same password always produces the same hash (though we'll add "salt" to improve security)</a:t>
            </a:r>
          </a:p>
          <a:p>
            <a:r>
              <a:rPr lang="en-US" b="1" dirty="0"/>
              <a:t>Fixed output length</a:t>
            </a:r>
            <a:r>
              <a:rPr lang="en-US" dirty="0"/>
              <a:t>: Regardless of password length, the hash has a consistent size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718065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0D0959-F42D-DF5C-153F-F1A15A13C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69961-E5C5-7926-449A-8770F7C69B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Understanding </a:t>
            </a:r>
            <a:r>
              <a:rPr lang="en-US" b="1" dirty="0" err="1"/>
              <a:t>bcrypt</a:t>
            </a:r>
            <a:r>
              <a:rPr lang="en-US" b="1" dirty="0"/>
              <a:t> and Salting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8A28B8-1CAC-5472-6FA6-22D3100A8E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582956" cy="3876610"/>
          </a:xfrm>
        </p:spPr>
        <p:txBody>
          <a:bodyPr/>
          <a:lstStyle/>
          <a:p>
            <a:r>
              <a:rPr lang="en-US" dirty="0"/>
              <a:t>When using </a:t>
            </a:r>
            <a:r>
              <a:rPr lang="en-US" dirty="0" err="1"/>
              <a:t>bcrypt</a:t>
            </a:r>
            <a:r>
              <a:rPr lang="en-US" dirty="0"/>
              <a:t> (via </a:t>
            </a:r>
            <a:r>
              <a:rPr lang="en-US" dirty="0" err="1"/>
              <a:t>passlib</a:t>
            </a:r>
            <a:r>
              <a:rPr lang="en-US" dirty="0"/>
              <a:t>), we don't need to manually handle "salting" - </a:t>
            </a:r>
            <a:r>
              <a:rPr lang="en-US" dirty="0" err="1"/>
              <a:t>bcrypt</a:t>
            </a:r>
            <a:r>
              <a:rPr lang="en-US" dirty="0"/>
              <a:t> does it automatically. </a:t>
            </a:r>
          </a:p>
          <a:p>
            <a:r>
              <a:rPr lang="en-US" dirty="0"/>
              <a:t>A salt is a random value added to the password before hashing to ensure that identical passwords don't produce identical hashes.</a:t>
            </a:r>
          </a:p>
          <a:p>
            <a:pPr marL="0" indent="0">
              <a:buNone/>
            </a:pPr>
            <a:r>
              <a:rPr lang="en-US" dirty="0"/>
              <a:t>With </a:t>
            </a:r>
            <a:r>
              <a:rPr lang="en-US" dirty="0" err="1"/>
              <a:t>bcrypt</a:t>
            </a:r>
            <a:r>
              <a:rPr lang="en-US" dirty="0"/>
              <a:t>, the salt is:</a:t>
            </a:r>
          </a:p>
          <a:p>
            <a:r>
              <a:rPr lang="en-US" dirty="0"/>
              <a:t>Automatically generated</a:t>
            </a:r>
          </a:p>
          <a:p>
            <a:r>
              <a:rPr lang="en-US" dirty="0"/>
              <a:t>Stored as part of the hash string</a:t>
            </a:r>
          </a:p>
          <a:p>
            <a:r>
              <a:rPr lang="en-US" dirty="0"/>
              <a:t>Used during verification without any extra code</a:t>
            </a:r>
          </a:p>
          <a:p>
            <a:r>
              <a:rPr lang="en-US" dirty="0"/>
              <a:t>This is why we don't need separate salt fields in our database - the </a:t>
            </a:r>
            <a:r>
              <a:rPr lang="en-US" dirty="0" err="1"/>
              <a:t>bcrypt</a:t>
            </a:r>
            <a:r>
              <a:rPr lang="en-US" dirty="0"/>
              <a:t> hash contains everything needed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526167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52E97-6AF5-088E-5FE5-07EE36423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Security Scopes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1BFE5-2CCF-FAB8-736E-026A885B2C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368352" cy="4058557"/>
          </a:xfrm>
        </p:spPr>
        <p:txBody>
          <a:bodyPr>
            <a:normAutofit/>
          </a:bodyPr>
          <a:lstStyle/>
          <a:p>
            <a:r>
              <a:rPr lang="en-US" dirty="0"/>
              <a:t>OAuth2 supports scopes to limit the actions an authenticated user can perform. </a:t>
            </a:r>
          </a:p>
          <a:p>
            <a:r>
              <a:rPr lang="en-US" dirty="0"/>
              <a:t>Security scopes provide a powerful way to control access to specific resources or operations in your API based on user permissions. </a:t>
            </a:r>
          </a:p>
          <a:p>
            <a:r>
              <a:rPr lang="en-US" dirty="0"/>
              <a:t>In OAuth2 terminology, scopes define the specific permissions that a token grants to access protected resources.</a:t>
            </a:r>
          </a:p>
          <a:p>
            <a:pPr marL="0" indent="0">
              <a:buNone/>
            </a:pPr>
            <a:r>
              <a:rPr lang="en-US" dirty="0"/>
              <a:t>With </a:t>
            </a:r>
            <a:r>
              <a:rPr lang="en-US" dirty="0" err="1"/>
              <a:t>FastAPI's</a:t>
            </a:r>
            <a:r>
              <a:rPr lang="en-US" dirty="0"/>
              <a:t> security scopes functionality, you can:</a:t>
            </a:r>
          </a:p>
          <a:p>
            <a:r>
              <a:rPr lang="en-US" dirty="0"/>
              <a:t>Limit access to endpoints based on user permissions</a:t>
            </a:r>
          </a:p>
          <a:p>
            <a:r>
              <a:rPr lang="en-US" dirty="0"/>
              <a:t>Implement role-based access control</a:t>
            </a:r>
          </a:p>
          <a:p>
            <a:r>
              <a:rPr lang="en-US" dirty="0"/>
              <a:t>Create a granular permission system for your API</a:t>
            </a:r>
          </a:p>
          <a:p>
            <a:r>
              <a:rPr lang="en-US" dirty="0"/>
              <a:t>Handle different permission levels across your application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572126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566B54-020E-F3DE-E486-6D92E10E63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28B42-E2B0-A70A-7312-20EF409D9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Understanding OAuth2 Scopes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A781B5-AFB4-087C-EBF8-37AF6E40E4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582956" cy="3876610"/>
          </a:xfrm>
        </p:spPr>
        <p:txBody>
          <a:bodyPr>
            <a:normAutofit/>
          </a:bodyPr>
          <a:lstStyle/>
          <a:p>
            <a:r>
              <a:rPr lang="en-US" dirty="0"/>
              <a:t>Scopes are strings that represent permissions. For example:</a:t>
            </a:r>
          </a:p>
          <a:p>
            <a:r>
              <a:rPr lang="en-US" dirty="0" err="1"/>
              <a:t>read:items</a:t>
            </a:r>
            <a:r>
              <a:rPr lang="en-US" dirty="0"/>
              <a:t> - Permission to read items</a:t>
            </a:r>
          </a:p>
          <a:p>
            <a:r>
              <a:rPr lang="en-US" dirty="0" err="1"/>
              <a:t>write:items</a:t>
            </a:r>
            <a:r>
              <a:rPr lang="en-US" dirty="0"/>
              <a:t> - Permission to create or modify items</a:t>
            </a:r>
          </a:p>
          <a:p>
            <a:r>
              <a:rPr lang="en-US" dirty="0"/>
              <a:t>admin - Administrative access</a:t>
            </a:r>
          </a:p>
          <a:p>
            <a:r>
              <a:rPr lang="en-US" dirty="0"/>
              <a:t>profile - Access to user profile information</a:t>
            </a:r>
          </a:p>
          <a:p>
            <a:r>
              <a:rPr lang="en-US" dirty="0"/>
              <a:t>When a user authenticates, they receive a token with specific scopes attached. Your API then checks if the token contains the required scopes before allowing access to protected resources.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34439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B35677-2B48-A291-A426-7831F0ACD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26233-0FB7-3EE7-585D-50B726FDC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Setting Up Security Scopes in </a:t>
            </a:r>
            <a:r>
              <a:rPr lang="en-US" b="1" dirty="0" err="1"/>
              <a:t>FastAPI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97B127-1091-3F02-3B74-2859F0506B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582956" cy="3876610"/>
          </a:xfrm>
        </p:spPr>
        <p:txBody>
          <a:bodyPr/>
          <a:lstStyle/>
          <a:p>
            <a:r>
              <a:rPr lang="en-US" b="1" dirty="0"/>
              <a:t>Step 1: Define Your Scopes</a:t>
            </a:r>
          </a:p>
          <a:p>
            <a:r>
              <a:rPr lang="en-US" b="1" dirty="0"/>
              <a:t>Step 2: Create a Security Scheme with Scopes</a:t>
            </a:r>
          </a:p>
          <a:p>
            <a:r>
              <a:rPr lang="en-US" b="1" dirty="0"/>
              <a:t>Step 3: Define the Token and User Models</a:t>
            </a:r>
          </a:p>
          <a:p>
            <a:r>
              <a:rPr lang="en-US" b="1" dirty="0"/>
              <a:t>Step 4: Create Mock Database and Helper Functions</a:t>
            </a:r>
          </a:p>
          <a:p>
            <a:r>
              <a:rPr lang="en-US" b="1" dirty="0"/>
              <a:t>Step 5: Create the Token Endpoint</a:t>
            </a:r>
          </a:p>
          <a:p>
            <a:r>
              <a:rPr lang="en-US" b="1" dirty="0"/>
              <a:t>Step 6: Create a Dependency for Getting the Current User with Scopes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633452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1971F5-5D55-EE90-24ED-B2ED89FE4E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59F17-B52B-948A-5891-A17373C78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Using Security Scopes in Endpoints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9C19F5-8A09-70F4-17ED-CC079845DD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582956" cy="3876610"/>
          </a:xfrm>
        </p:spPr>
        <p:txBody>
          <a:bodyPr>
            <a:normAutofit/>
          </a:bodyPr>
          <a:lstStyle/>
          <a:p>
            <a:r>
              <a:rPr lang="en-US" dirty="0"/>
              <a:t>Protect various endpoints with different permission requirements.</a:t>
            </a:r>
          </a:p>
          <a:p>
            <a:r>
              <a:rPr lang="en-US" b="1" dirty="0"/>
              <a:t>Example 1: Read User Profile (Requires </a:t>
            </a:r>
            <a:r>
              <a:rPr lang="en-US" b="1" dirty="0" err="1"/>
              <a:t>users:read</a:t>
            </a:r>
            <a:r>
              <a:rPr lang="en-US" b="1" dirty="0"/>
              <a:t> Scope)</a:t>
            </a:r>
          </a:p>
          <a:p>
            <a:r>
              <a:rPr lang="en-US" dirty="0"/>
              <a:t>@app.get("/users/me/", </a:t>
            </a:r>
            <a:r>
              <a:rPr lang="en-US" dirty="0" err="1"/>
              <a:t>response_model</a:t>
            </a:r>
            <a:r>
              <a:rPr lang="en-US" dirty="0"/>
              <a:t>=User)</a:t>
            </a:r>
            <a:br>
              <a:rPr lang="en-US" dirty="0"/>
            </a:br>
            <a:r>
              <a:rPr lang="en-US" i="1" dirty="0"/>
              <a:t>async</a:t>
            </a:r>
            <a:r>
              <a:rPr lang="en-US" dirty="0"/>
              <a:t> </a:t>
            </a:r>
            <a:r>
              <a:rPr lang="en-US" i="1" dirty="0"/>
              <a:t>def</a:t>
            </a:r>
            <a:r>
              <a:rPr lang="en-US" dirty="0"/>
              <a:t> </a:t>
            </a:r>
            <a:r>
              <a:rPr lang="en-US" dirty="0" err="1"/>
              <a:t>read_users_me</a:t>
            </a:r>
            <a:r>
              <a:rPr lang="en-US" dirty="0"/>
              <a:t>(</a:t>
            </a:r>
            <a:br>
              <a:rPr lang="en-US" dirty="0"/>
            </a:br>
            <a:r>
              <a:rPr lang="en-US" dirty="0"/>
              <a:t>   </a:t>
            </a:r>
            <a:r>
              <a:rPr lang="en-US" b="1" dirty="0"/>
              <a:t> </a:t>
            </a:r>
            <a:r>
              <a:rPr lang="en-US" b="1" dirty="0" err="1"/>
              <a:t>current_user</a:t>
            </a:r>
            <a:r>
              <a:rPr lang="en-US" b="1" dirty="0"/>
              <a:t>: User = Security(</a:t>
            </a:r>
            <a:r>
              <a:rPr lang="en-US" b="1" dirty="0" err="1"/>
              <a:t>get_current_user</a:t>
            </a:r>
            <a:r>
              <a:rPr lang="en-US" b="1" dirty="0"/>
              <a:t>, scopes=["</a:t>
            </a:r>
            <a:r>
              <a:rPr lang="en-US" b="1" dirty="0" err="1"/>
              <a:t>users:read</a:t>
            </a:r>
            <a:r>
              <a:rPr lang="en-US" b="1" dirty="0"/>
              <a:t>"])</a:t>
            </a:r>
            <a:br>
              <a:rPr lang="en-US" b="1" dirty="0"/>
            </a:br>
            <a:r>
              <a:rPr lang="en-US" dirty="0"/>
              <a:t>):</a:t>
            </a:r>
            <a:br>
              <a:rPr lang="en-US" dirty="0"/>
            </a:br>
            <a:r>
              <a:rPr lang="en-US" dirty="0"/>
              <a:t>    """</a:t>
            </a:r>
            <a:br>
              <a:rPr lang="en-US" dirty="0"/>
            </a:br>
            <a:r>
              <a:rPr lang="en-US" dirty="0"/>
              <a:t>    This endpoint requires the </a:t>
            </a:r>
            <a:r>
              <a:rPr lang="en-US" dirty="0" err="1"/>
              <a:t>users:read</a:t>
            </a:r>
            <a:r>
              <a:rPr lang="en-US" dirty="0"/>
              <a:t> scope.</a:t>
            </a:r>
            <a:br>
              <a:rPr lang="en-US" dirty="0"/>
            </a:br>
            <a:r>
              <a:rPr lang="en-US" dirty="0"/>
              <a:t>    It returns the current user's information.</a:t>
            </a:r>
            <a:br>
              <a:rPr lang="en-US" dirty="0"/>
            </a:br>
            <a:r>
              <a:rPr lang="en-US" dirty="0"/>
              <a:t>    """</a:t>
            </a:r>
            <a:br>
              <a:rPr lang="en-US" dirty="0"/>
            </a:br>
            <a:r>
              <a:rPr lang="en-US" dirty="0"/>
              <a:t>    </a:t>
            </a:r>
            <a:r>
              <a:rPr lang="en-US" i="1" dirty="0"/>
              <a:t>return</a:t>
            </a:r>
            <a:r>
              <a:rPr lang="en-US" dirty="0"/>
              <a:t> </a:t>
            </a:r>
            <a:r>
              <a:rPr lang="en-US" dirty="0" err="1"/>
              <a:t>current_user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486148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10FB51-064A-13DE-21F3-6E111E526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742A2-D0B1-D81A-9BC2-B879E2FCB5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Example 2: Read All Users (Requires admin Scope)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61921A-CC31-2005-B300-ACA81AD1F0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582956" cy="387661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@app.get("/users/", </a:t>
            </a:r>
            <a:r>
              <a:rPr lang="en-IN" dirty="0" err="1"/>
              <a:t>response_model</a:t>
            </a:r>
            <a:r>
              <a:rPr lang="en-IN" dirty="0"/>
              <a:t>=List[User])</a:t>
            </a:r>
            <a:br>
              <a:rPr lang="en-IN" dirty="0"/>
            </a:br>
            <a:r>
              <a:rPr lang="en-IN" i="1" dirty="0"/>
              <a:t>async</a:t>
            </a:r>
            <a:r>
              <a:rPr lang="en-IN" dirty="0"/>
              <a:t> </a:t>
            </a:r>
            <a:r>
              <a:rPr lang="en-IN" i="1" dirty="0"/>
              <a:t>def</a:t>
            </a:r>
            <a:r>
              <a:rPr lang="en-IN" dirty="0"/>
              <a:t> </a:t>
            </a:r>
            <a:r>
              <a:rPr lang="en-IN" dirty="0" err="1"/>
              <a:t>read_all_users</a:t>
            </a:r>
            <a:r>
              <a:rPr lang="en-IN" dirty="0"/>
              <a:t>(</a:t>
            </a:r>
            <a:br>
              <a:rPr lang="en-IN" dirty="0"/>
            </a:br>
            <a:r>
              <a:rPr lang="en-IN" dirty="0"/>
              <a:t>    </a:t>
            </a:r>
            <a:r>
              <a:rPr lang="en-IN" dirty="0" err="1"/>
              <a:t>current_user</a:t>
            </a:r>
            <a:r>
              <a:rPr lang="en-IN" dirty="0"/>
              <a:t>: User = Security(</a:t>
            </a:r>
            <a:r>
              <a:rPr lang="en-IN" dirty="0" err="1"/>
              <a:t>get_current_user</a:t>
            </a:r>
            <a:r>
              <a:rPr lang="en-IN" dirty="0"/>
              <a:t>, scopes=["admin"])</a:t>
            </a:r>
            <a:br>
              <a:rPr lang="en-IN" dirty="0"/>
            </a:br>
            <a:r>
              <a:rPr lang="en-IN" dirty="0"/>
              <a:t>):</a:t>
            </a:r>
            <a:br>
              <a:rPr lang="en-IN" dirty="0"/>
            </a:br>
            <a:r>
              <a:rPr lang="en-IN" dirty="0"/>
              <a:t>    """</a:t>
            </a:r>
            <a:br>
              <a:rPr lang="en-IN" dirty="0"/>
            </a:br>
            <a:r>
              <a:rPr lang="en-IN" dirty="0"/>
              <a:t>    This endpoint requires the admin scope.</a:t>
            </a:r>
            <a:br>
              <a:rPr lang="en-IN" dirty="0"/>
            </a:br>
            <a:r>
              <a:rPr lang="en-IN" dirty="0"/>
              <a:t>    It returns a list of all users.</a:t>
            </a:r>
            <a:br>
              <a:rPr lang="en-IN" dirty="0"/>
            </a:br>
            <a:r>
              <a:rPr lang="en-IN" dirty="0"/>
              <a:t>    """</a:t>
            </a:r>
            <a:br>
              <a:rPr lang="en-IN" dirty="0"/>
            </a:br>
            <a:r>
              <a:rPr lang="en-IN" dirty="0"/>
              <a:t>    users = []</a:t>
            </a:r>
            <a:br>
              <a:rPr lang="en-IN" dirty="0"/>
            </a:br>
            <a:r>
              <a:rPr lang="en-IN" dirty="0"/>
              <a:t>    </a:t>
            </a:r>
            <a:r>
              <a:rPr lang="en-IN" i="1" dirty="0"/>
              <a:t>for</a:t>
            </a:r>
            <a:r>
              <a:rPr lang="en-IN" dirty="0"/>
              <a:t> username, data </a:t>
            </a:r>
            <a:r>
              <a:rPr lang="en-IN" i="1" dirty="0"/>
              <a:t>in</a:t>
            </a:r>
            <a:r>
              <a:rPr lang="en-IN" dirty="0"/>
              <a:t> </a:t>
            </a:r>
            <a:r>
              <a:rPr lang="en-IN" dirty="0" err="1"/>
              <a:t>fake_users_db.items</a:t>
            </a:r>
            <a:r>
              <a:rPr lang="en-IN" dirty="0"/>
              <a:t>():</a:t>
            </a:r>
            <a:br>
              <a:rPr lang="en-IN" dirty="0"/>
            </a:br>
            <a:r>
              <a:rPr lang="en-IN" dirty="0"/>
              <a:t>        user = User(**data)</a:t>
            </a:r>
            <a:br>
              <a:rPr lang="en-IN" dirty="0"/>
            </a:br>
            <a:r>
              <a:rPr lang="en-IN" dirty="0"/>
              <a:t>        </a:t>
            </a:r>
            <a:r>
              <a:rPr lang="en-IN" dirty="0" err="1"/>
              <a:t>users.append</a:t>
            </a:r>
            <a:r>
              <a:rPr lang="en-IN" dirty="0"/>
              <a:t>(user)</a:t>
            </a:r>
            <a:br>
              <a:rPr lang="en-IN" dirty="0"/>
            </a:br>
            <a:r>
              <a:rPr lang="en-IN" dirty="0"/>
              <a:t>    </a:t>
            </a:r>
            <a:r>
              <a:rPr lang="en-IN" i="1" dirty="0"/>
              <a:t>return</a:t>
            </a:r>
            <a:r>
              <a:rPr lang="en-IN" dirty="0"/>
              <a:t> users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935403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1DD4BF-DBCD-EA3B-CB15-2FE7C9842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22274-132D-2D73-3781-8A2CE0381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Best Practices for Security Scopes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06B822-9EF0-3170-FE24-9BDC1D11A1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582956" cy="3876610"/>
          </a:xfrm>
        </p:spPr>
        <p:txBody>
          <a:bodyPr/>
          <a:lstStyle/>
          <a:p>
            <a:r>
              <a:rPr lang="en-US" b="1" dirty="0"/>
              <a:t>Be specific with scope names</a:t>
            </a:r>
            <a:r>
              <a:rPr lang="en-US" dirty="0"/>
              <a:t>: Use clear, descriptive names that indicate what resources and actions they permit.</a:t>
            </a:r>
          </a:p>
          <a:p>
            <a:r>
              <a:rPr lang="en-US" b="1" dirty="0"/>
              <a:t>Follow the </a:t>
            </a:r>
            <a:r>
              <a:rPr lang="en-US" b="1" dirty="0" err="1"/>
              <a:t>resource:action</a:t>
            </a:r>
            <a:r>
              <a:rPr lang="en-US" b="1" dirty="0"/>
              <a:t> pattern</a:t>
            </a:r>
            <a:r>
              <a:rPr lang="en-US" dirty="0"/>
              <a:t>: For example, </a:t>
            </a:r>
            <a:r>
              <a:rPr lang="en-US" dirty="0" err="1"/>
              <a:t>users:read</a:t>
            </a:r>
            <a:r>
              <a:rPr lang="en-US" dirty="0"/>
              <a:t>, </a:t>
            </a:r>
            <a:r>
              <a:rPr lang="en-US" dirty="0" err="1"/>
              <a:t>items:write</a:t>
            </a:r>
            <a:r>
              <a:rPr lang="en-US" dirty="0"/>
              <a:t>.</a:t>
            </a:r>
          </a:p>
          <a:p>
            <a:r>
              <a:rPr lang="en-US" b="1" dirty="0"/>
              <a:t>Assign minimum required scopes</a:t>
            </a:r>
            <a:r>
              <a:rPr lang="en-US" dirty="0"/>
              <a:t>: Always follow the principle of least privilege.</a:t>
            </a:r>
          </a:p>
          <a:p>
            <a:r>
              <a:rPr lang="en-US" b="1" dirty="0"/>
              <a:t>Document your scopes</a:t>
            </a:r>
            <a:r>
              <a:rPr lang="en-US" dirty="0"/>
              <a:t>: Make sure users and developers understand what each scope allows.</a:t>
            </a:r>
          </a:p>
          <a:p>
            <a:r>
              <a:rPr lang="en-US" b="1" dirty="0"/>
              <a:t>Validate scopes on every request</a:t>
            </a:r>
            <a:r>
              <a:rPr lang="en-US" dirty="0"/>
              <a:t>: Don't assume that because a user is authenticated, they have all required permissions.</a:t>
            </a:r>
          </a:p>
          <a:p>
            <a:r>
              <a:rPr lang="en-US" b="1" dirty="0"/>
              <a:t>Consider scope hierarchies</a:t>
            </a:r>
            <a:r>
              <a:rPr lang="en-US" dirty="0"/>
              <a:t>: You might want higher-level scopes to include lower-level permissions.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038462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2A98B8-C296-2028-6BBF-B982F1DE22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95ABE-0333-C4B8-3263-19741B98F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0C47DA-D8F4-9492-F305-884C9B7C24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582956" cy="3876610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557812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62DDDA-9CF4-A3F6-19D2-21543829C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63E3F-D987-42F1-FD75-CF94EED29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7B3631-34B6-6634-25F3-AD22C411A9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582956" cy="3876610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090941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051265-FB3D-9904-0C05-8C106505F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56B83-A0A2-4575-91B2-DFA5603C0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0F8A40-39FE-3E76-A0D4-850DE47784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582956" cy="3876610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524801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986D14-75E6-9684-4F5F-B478C74E29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78E0B-97E5-C03E-5886-E7A97F771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DE3CA8-7CE6-A374-441D-143C33133C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582956" cy="3876610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096777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58A389-9502-3BAE-F20A-AF7FB714D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5638B-AB43-88B9-49B5-63F919420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22659B-9C32-2899-8EFB-5AC9486B75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582956" cy="3876610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930139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AE5D0B-0149-B985-D8D7-9DC2D976D1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033C89-BC00-4823-741F-12E5C8B1D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5374A8-9564-5662-20EC-07A8375B53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582956" cy="3876610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1277214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C67278-35AA-E75D-164D-5A476AEE2D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20073-C595-630F-403E-56563B6D1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E2AE50-FD68-0A9C-E92C-09067A6F67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582956" cy="3876610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530913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4B28F0-C37A-D820-875A-8B7B22D09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2231BC-4DA9-D075-CDFD-04B6AB471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85474E-2286-D552-E799-54E4395980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582956" cy="3876610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5618972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9B24C9-4BD6-10C8-068C-666540D62B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BCE31-8746-E00F-6B9B-BA68434A1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4E0B62-0BF0-8C50-3F90-4948D4BD6E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582956" cy="3876610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6876982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DB0401-A8DD-A140-236F-CCA3AD99E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DCB19-D1DE-7EC7-BB36-3004BE3E36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72FACF-ED35-6604-EEC2-256282BB20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582956" cy="3876610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6752679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77944C-773F-4A04-9742-E644B6DF65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E5719-10CF-B0DD-B41F-C1B63DE72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4E710-3A20-9AD2-CE6F-4D35A3A601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582956" cy="3876610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929384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2E87E9-E7F8-F7FF-EAB3-210C28E83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F5E00-724C-ED3B-0673-D1D4ADD11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34346D-1094-9403-08BA-7C62B435B2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582956" cy="3876610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1240684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059859-6953-8536-B2C0-A22BE1860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525E8-8991-93E0-6AC2-DCD3D78C0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36E82C-A1CE-ADCF-3B83-3C572E3117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582956" cy="3876610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4301859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D7FEF6-6354-A980-0F56-02E46D92F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4519E-50FD-39F7-6A74-E3C39060B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E8690E-55DF-43C5-555F-01139B8043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582956" cy="3876610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496445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950DE8-6C5C-55D7-08B1-0827F2775D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FD6DA-A14D-1729-BA90-D2B10E082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C38E6D-2B07-0535-A65B-EF2F5CE505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582956" cy="3876610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757188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B69ADC-81E9-C165-4CE6-65DB1D92FB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48D5F-D1CE-D0B0-C437-B77D48BB8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A212CE-DA6B-FA54-916A-79C6C8B671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582956" cy="3876610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5350044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8DAA99-7049-B913-6AA9-89AA9E1ED2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38C34-2932-ECA4-092E-3DC984B43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552398-121D-AC11-906C-F7D2E25F9D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582956" cy="3876610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485630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C99D31-6688-FCD4-FC31-972E9EEC53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B3189-02AA-B55A-573D-B150C0E60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2D27CE-79F6-F2A0-5AB2-CF164B25C2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582956" cy="3876610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1972559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D08056-2FE9-504C-6809-CC04B0D0B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D845A-CB4E-B853-B9AB-5CE404922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513210-F378-B60F-2177-0F5457319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582956" cy="3876610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2379330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F6E30B-47D0-46DF-F797-5028D4D25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A4A58-C322-5DC6-4E42-253F9BA15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C21DC5-CBF0-251D-2F6D-F0588BA2C0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582956" cy="3876610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8328009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CC8F84-EC53-4BCB-BCF9-6F0A3551D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3DC40-FE89-588A-CD4F-537CE3442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7E7EDE-016B-8E5B-1393-455CDA8904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582956" cy="3876610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8651768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FD5610-B309-9ADE-5AC7-065D40AB44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1905E-1FC5-D2A6-4AA4-D94831FEA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6A954F-FBB3-6537-555D-26DE897B06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582956" cy="3876610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674807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88B7AA-CD47-2BE1-0D73-516E9B3B80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9767A-E847-509E-BF10-3DCB62439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499FFE-8D0C-8048-B477-9F7C7D7319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582956" cy="3876610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0608116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6EDB2A-20E4-DB30-5BAB-EECAE791EC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4572A-ACC8-F921-CC41-49E735CF6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55E9D6-7363-C087-4733-11E4258164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582956" cy="3876610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0457984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F7BE0B-051B-ECA6-4677-349C0DC189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F3E44-D4E4-FB8A-F5F1-B0BDF574F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11970-23B1-3B5F-4496-B4D5938E54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582956" cy="3876610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7469468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A10E08-9A40-C148-63FF-0F068C6A2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18D82-9EC4-C224-E66E-3C1F82AF0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97A112-C566-3691-D1CD-EAB7DEBA21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582956" cy="3876610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4375693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578308-460A-B4F6-7A6D-6788AF1F1F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506F6-6082-4EDA-49FA-3D6C6A7E6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D364CD-4B6B-1405-45D6-776F07AB65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582956" cy="3876610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2591230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47A020-A65D-AD63-2B0C-18C8A6091B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3B118E-59ED-201D-B6D1-640CA132B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5A9D61-8E4C-0373-D4C3-7E1C8C8DAE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582956" cy="3876610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8788121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9797A6-E354-49C0-B278-7CA154977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2855E-8916-04F1-EAA7-A553BCAC5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0E4FA3-7E20-6EA9-F8EE-805BCC08FA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582956" cy="3876610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8541406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D68C47-1E9D-B0ED-3D89-57864A4A1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C7ED8-6A1A-505B-B118-117FA5E7B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FEA237-77C6-2D7F-EDC7-857E70CF3E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582956" cy="3876610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9425899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E28544-E9CF-7A28-03AF-F6A3290C0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05D1B1-E5D8-9010-A2C9-9FB97C6B5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63A340-26E7-C7EE-5ED9-06FFF91785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582956" cy="3876610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3299344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E0E1F9-C06B-CDEF-2688-4DDF6A2E8C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5B137-BA46-5399-55D7-243A48B78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7413E7-ACA1-7EFA-B499-5CCD683F26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582956" cy="3876610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6791842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{F8256BB2-945D-4561-AA61-C6767B945917}tf02900722</Template>
  <TotalTime>146</TotalTime>
  <Words>1366</Words>
  <Application>Microsoft Office PowerPoint</Application>
  <PresentationFormat>Widescreen</PresentationFormat>
  <Paragraphs>116</Paragraphs>
  <Slides>50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4" baseType="lpstr">
      <vt:lpstr>Arial</vt:lpstr>
      <vt:lpstr>Century Gothic</vt:lpstr>
      <vt:lpstr>Wingdings 3</vt:lpstr>
      <vt:lpstr>Ion Boardroom</vt:lpstr>
      <vt:lpstr>Security in Fastapi  </vt:lpstr>
      <vt:lpstr>Why API Security Matters</vt:lpstr>
      <vt:lpstr>Features</vt:lpstr>
      <vt:lpstr>PowerPoint Presentation</vt:lpstr>
      <vt:lpstr>Security Best Practices</vt:lpstr>
      <vt:lpstr>Real-World Security Implementation</vt:lpstr>
      <vt:lpstr>FastAPI OAuth2 Implementation</vt:lpstr>
      <vt:lpstr>Understanding OAuth2 Concepts</vt:lpstr>
      <vt:lpstr>Basic OAuth2 Implementation with Password Flow</vt:lpstr>
      <vt:lpstr>Password Hashing</vt:lpstr>
      <vt:lpstr>Password Hashing</vt:lpstr>
      <vt:lpstr>Understanding bcrypt and Salting</vt:lpstr>
      <vt:lpstr>Security Scopes</vt:lpstr>
      <vt:lpstr>Understanding OAuth2 Scopes</vt:lpstr>
      <vt:lpstr>Setting Up Security Scopes in FastAPI</vt:lpstr>
      <vt:lpstr>Using Security Scopes in Endpoints</vt:lpstr>
      <vt:lpstr>Example 2: Read All Users (Requires admin Scope)</vt:lpstr>
      <vt:lpstr>Best Practices for Security Scopes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anju munoth</dc:creator>
  <cp:lastModifiedBy>anju munoth</cp:lastModifiedBy>
  <cp:revision>17</cp:revision>
  <dcterms:created xsi:type="dcterms:W3CDTF">2025-12-11T01:00:57Z</dcterms:created>
  <dcterms:modified xsi:type="dcterms:W3CDTF">2025-12-11T03:27:09Z</dcterms:modified>
</cp:coreProperties>
</file>
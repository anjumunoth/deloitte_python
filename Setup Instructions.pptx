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13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308" r:id="rId13"/>
    <p:sldId id="309" r:id="rId14"/>
    <p:sldId id="310" r:id="rId15"/>
    <p:sldId id="312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78" d="100"/>
          <a:sy n="78" d="100"/>
        </p:scale>
        <p:origin x="4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750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83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4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88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225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970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5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38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064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37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347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059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423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24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82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468A0F2-658F-49CF-884F-851EB55D67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7F86F16-E52A-4953-80D7-00227E615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30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2228-6580-964A-72D4-E1BA32DA8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89A77-7D27-2F61-826A-26333F1EE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820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23D63-5957-E3EC-A5EF-624BD57E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9CF6F-8BEC-DA00-4BBA-CFDFC57EA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r>
              <a:rPr lang="en-US" dirty="0"/>
              <a:t>Virtual environment in a Python </a:t>
            </a:r>
            <a:r>
              <a:rPr lang="en-US" dirty="0" err="1"/>
              <a:t>FastAPI</a:t>
            </a:r>
            <a:r>
              <a:rPr lang="en-US" dirty="0"/>
              <a:t> project is essentially a self-contained workspace where you install and manage dependencies (libraries, frameworks, tools) without interfering with your system-wide Python installation. </a:t>
            </a:r>
          </a:p>
          <a:p>
            <a:r>
              <a:rPr lang="en-US" dirty="0"/>
              <a:t>Think of it as a sandbox that keeps the project clean, reproducible, and isolated.</a:t>
            </a:r>
          </a:p>
          <a:p>
            <a:r>
              <a:rPr lang="en-US" dirty="0"/>
              <a:t>Virtual environment ensures these dependencies are scoped to your project only, making it easier to maintain and deploy.</a:t>
            </a:r>
          </a:p>
          <a:p>
            <a:r>
              <a:rPr lang="en-US" dirty="0"/>
              <a:t>Guarantees that your app runs consistently across local dev, Docker, and CI/CD pipelines by isolating dependencies.</a:t>
            </a:r>
          </a:p>
          <a:p>
            <a:r>
              <a:rPr lang="en-US" b="1" dirty="0"/>
              <a:t>Virtual environment</a:t>
            </a:r>
            <a:r>
              <a:rPr lang="en-US" dirty="0"/>
              <a:t> is a directory with some files in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14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E6621-0ED0-7319-A864-FA66F318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65915-8939-A34F-6260-EE88BD315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25422" cy="3489240"/>
          </a:xfrm>
        </p:spPr>
        <p:txBody>
          <a:bodyPr>
            <a:normAutofit/>
          </a:bodyPr>
          <a:lstStyle/>
          <a:p>
            <a:r>
              <a:rPr lang="en-US" b="1" dirty="0"/>
              <a:t>Isolation</a:t>
            </a:r>
            <a:r>
              <a:rPr lang="en-US" dirty="0"/>
              <a:t>: Each </a:t>
            </a:r>
            <a:r>
              <a:rPr lang="en-US" dirty="0" err="1"/>
              <a:t>FastAPI</a:t>
            </a:r>
            <a:r>
              <a:rPr lang="en-US" dirty="0"/>
              <a:t> project can have its own set of packages and versions.</a:t>
            </a:r>
            <a:br>
              <a:rPr lang="en-US" dirty="0"/>
            </a:br>
            <a:r>
              <a:rPr lang="en-US" dirty="0"/>
              <a:t>Example: One project may use </a:t>
            </a:r>
            <a:r>
              <a:rPr lang="en-US" dirty="0" err="1"/>
              <a:t>FastAPI</a:t>
            </a:r>
            <a:r>
              <a:rPr lang="en-US" dirty="0"/>
              <a:t>==0.115.0, another may use </a:t>
            </a:r>
            <a:r>
              <a:rPr lang="en-US" dirty="0" err="1"/>
              <a:t>FastAPI</a:t>
            </a:r>
            <a:r>
              <a:rPr lang="en-US" dirty="0"/>
              <a:t>==0.95.0, and they won’t conflict.</a:t>
            </a:r>
          </a:p>
          <a:p>
            <a:r>
              <a:rPr lang="en-US" b="1" dirty="0"/>
              <a:t>Reproducibility</a:t>
            </a:r>
            <a:r>
              <a:rPr lang="en-US" dirty="0"/>
              <a:t>: Ensures that when you share your project (via requirements.txt), others can recreate the exact same environment.</a:t>
            </a:r>
          </a:p>
          <a:p>
            <a:r>
              <a:rPr lang="en-US" b="1" dirty="0"/>
              <a:t>Portability</a:t>
            </a:r>
            <a:r>
              <a:rPr lang="en-US" dirty="0"/>
              <a:t>: Works seamlessly with Docker, CI/CD pipelines, and cloud deployments.</a:t>
            </a:r>
          </a:p>
          <a:p>
            <a:r>
              <a:rPr lang="en-US" b="1" dirty="0"/>
              <a:t>Safety</a:t>
            </a:r>
            <a:r>
              <a:rPr lang="en-US" dirty="0"/>
              <a:t>: Prevents “dependency hell” where different projects overwrite each other’s libraries.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0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0F6FB-3824-6048-4F7F-4ECC743C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4259-9866-3A41-7084-D282FC4B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2450-74A3-8855-1EF6-F623BFEDF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r>
              <a:rPr lang="en-US" dirty="0"/>
              <a:t>Create a Project</a:t>
            </a:r>
          </a:p>
          <a:p>
            <a:pPr lvl="1"/>
            <a:r>
              <a:rPr lang="en-US" dirty="0"/>
              <a:t>First, create a directory for your project.</a:t>
            </a:r>
          </a:p>
          <a:p>
            <a:r>
              <a:rPr lang="en-US" dirty="0"/>
              <a:t>Create a Virtual Environment</a:t>
            </a:r>
          </a:p>
          <a:p>
            <a:pPr lvl="1"/>
            <a:r>
              <a:rPr lang="en-US" dirty="0"/>
              <a:t>When you start working on a Python project for the first time, create a virtual environment inside your project.</a:t>
            </a:r>
          </a:p>
          <a:p>
            <a:pPr lvl="1"/>
            <a:r>
              <a:rPr lang="en-US" dirty="0"/>
              <a:t>only need to do this </a:t>
            </a:r>
            <a:r>
              <a:rPr lang="en-US" b="1" dirty="0"/>
              <a:t>once per project</a:t>
            </a:r>
            <a:r>
              <a:rPr lang="en-US" dirty="0"/>
              <a:t>, not every time you work.</a:t>
            </a:r>
          </a:p>
          <a:p>
            <a:pPr lvl="1"/>
            <a:r>
              <a:rPr lang="en-US" dirty="0"/>
              <a:t>To create a virtual environment, you can use the </a:t>
            </a:r>
            <a:r>
              <a:rPr lang="en-US" dirty="0" err="1"/>
              <a:t>venv</a:t>
            </a:r>
            <a:r>
              <a:rPr lang="en-US" dirty="0"/>
              <a:t> module that comes with Python.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66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EB1F-A68D-3686-3E44-C7FADAE59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BE49E-49BF-62F6-8FC3-AF9D60AE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venv</a:t>
            </a:r>
            <a:r>
              <a:rPr lang="en-US" dirty="0"/>
              <a:t> (built-in with Python)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D710D-F4B7-EE70-142C-C190DA09A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Run these commands in your project root:</a:t>
            </a:r>
          </a:p>
          <a:p>
            <a:r>
              <a:rPr lang="en-US" dirty="0"/>
              <a:t># Create a virtual environment named '</a:t>
            </a:r>
            <a:r>
              <a:rPr lang="en-US" dirty="0" err="1"/>
              <a:t>venv</a:t>
            </a:r>
            <a:r>
              <a:rPr lang="en-US" dirty="0"/>
              <a:t>'</a:t>
            </a:r>
          </a:p>
          <a:p>
            <a:r>
              <a:rPr lang="en-US" b="1" dirty="0"/>
              <a:t>python -m </a:t>
            </a:r>
            <a:r>
              <a:rPr lang="en-US" b="1" dirty="0" err="1"/>
              <a:t>venv</a:t>
            </a:r>
            <a:r>
              <a:rPr lang="en-US" b="1" dirty="0"/>
              <a:t> </a:t>
            </a:r>
            <a:r>
              <a:rPr lang="en-US" b="1" dirty="0" err="1"/>
              <a:t>venv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# Activate it (Linux/Mac)</a:t>
            </a:r>
          </a:p>
          <a:p>
            <a:r>
              <a:rPr lang="en-US" b="1" dirty="0"/>
              <a:t>source </a:t>
            </a:r>
            <a:r>
              <a:rPr lang="en-US" b="1" dirty="0" err="1"/>
              <a:t>venv</a:t>
            </a:r>
            <a:r>
              <a:rPr lang="en-US" b="1" dirty="0"/>
              <a:t>/bin/activate</a:t>
            </a:r>
          </a:p>
          <a:p>
            <a:endParaRPr lang="en-US" dirty="0"/>
          </a:p>
          <a:p>
            <a:r>
              <a:rPr lang="en-US" dirty="0"/>
              <a:t># Activate it (Windows PowerShell)</a:t>
            </a:r>
          </a:p>
          <a:p>
            <a:r>
              <a:rPr lang="en-US" b="1" dirty="0" err="1"/>
              <a:t>venv</a:t>
            </a:r>
            <a:r>
              <a:rPr lang="en-US" b="1" dirty="0"/>
              <a:t>\Scripts\Activate.ps1</a:t>
            </a:r>
          </a:p>
          <a:p>
            <a:endParaRPr lang="en-US" dirty="0"/>
          </a:p>
          <a:p>
            <a:r>
              <a:rPr lang="en-US" dirty="0"/>
              <a:t># Activate it (Windows CMD)</a:t>
            </a:r>
          </a:p>
          <a:p>
            <a:r>
              <a:rPr lang="en-US" b="1" dirty="0" err="1"/>
              <a:t>venv</a:t>
            </a:r>
            <a:r>
              <a:rPr lang="en-US" b="1" dirty="0"/>
              <a:t>\Scripts\activate.bat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Once activated, your shell prompt will show (</a:t>
            </a:r>
            <a:r>
              <a:rPr lang="en-US" sz="2000" b="1" dirty="0" err="1">
                <a:solidFill>
                  <a:srgbClr val="FF0000"/>
                </a:solidFill>
              </a:rPr>
              <a:t>venv</a:t>
            </a:r>
            <a:r>
              <a:rPr lang="en-US" sz="2000" b="1" dirty="0">
                <a:solidFill>
                  <a:srgbClr val="FF0000"/>
                </a:solidFill>
              </a:rPr>
              <a:t>) — meaning you’re inside the virtual environment.</a:t>
            </a:r>
          </a:p>
          <a:p>
            <a:endParaRPr lang="en-US" b="1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349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47CD-44F1-8C0E-0304-5011B063B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10D6-12B9-97C0-37AF-8E69C26F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Dependencies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C827-C5D5-7C10-95D0-73F754D94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r>
              <a:rPr lang="en-US" dirty="0"/>
              <a:t>Inside the activated environment: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pip install --upgrade pip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pip install </a:t>
            </a:r>
            <a:r>
              <a:rPr lang="en-US" b="1" dirty="0" err="1">
                <a:solidFill>
                  <a:srgbClr val="FF0000"/>
                </a:solidFill>
              </a:rPr>
              <a:t>fastapi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uvicorn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/>
              <a:t>If you have a requirements.txt:</a:t>
            </a:r>
          </a:p>
          <a:p>
            <a:pPr marL="0" indent="0">
              <a:buNone/>
            </a:pPr>
            <a:r>
              <a:rPr lang="en-US" dirty="0"/>
              <a:t>pip install -r requirements.txt</a:t>
            </a:r>
          </a:p>
          <a:p>
            <a:r>
              <a:rPr lang="en-US" dirty="0"/>
              <a:t>Run Your </a:t>
            </a:r>
            <a:r>
              <a:rPr lang="en-US" dirty="0" err="1"/>
              <a:t>FastAPI</a:t>
            </a:r>
            <a:r>
              <a:rPr lang="en-US" dirty="0"/>
              <a:t> Project With the environment active: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uvicorn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app.main:app</a:t>
            </a:r>
            <a:r>
              <a:rPr lang="en-US" b="1" dirty="0">
                <a:solidFill>
                  <a:srgbClr val="FF0000"/>
                </a:solidFill>
              </a:rPr>
              <a:t> --reload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68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9C4F7-A11F-83EE-129C-CE02EB4F8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D4B9-C13D-7753-C5D0-4D0D7C627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(Optional) Using </a:t>
            </a:r>
            <a:r>
              <a:rPr lang="en-IN" dirty="0" err="1"/>
              <a:t>virtualenv</a:t>
            </a:r>
            <a:r>
              <a:rPr lang="en-IN" dirty="0"/>
              <a:t> or </a:t>
            </a:r>
            <a:r>
              <a:rPr lang="en-IN" dirty="0" err="1"/>
              <a:t>pipenv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D66AB-C4B2-9C39-8050-4D64696C1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/>
          </a:bodyPr>
          <a:lstStyle/>
          <a:p>
            <a:r>
              <a:rPr lang="en-IN" b="1" dirty="0" err="1"/>
              <a:t>virtualenv</a:t>
            </a:r>
            <a:r>
              <a:rPr lang="en-IN" dirty="0"/>
              <a:t> (older but still popular):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pip install </a:t>
            </a:r>
            <a:r>
              <a:rPr lang="en-IN" b="1" dirty="0" err="1">
                <a:solidFill>
                  <a:srgbClr val="FF0000"/>
                </a:solidFill>
              </a:rPr>
              <a:t>virtualenv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b="1" dirty="0" err="1">
                <a:solidFill>
                  <a:srgbClr val="FF0000"/>
                </a:solidFill>
              </a:rPr>
              <a:t>virtualenv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b="1" dirty="0" err="1">
                <a:solidFill>
                  <a:srgbClr val="FF0000"/>
                </a:solidFill>
              </a:rPr>
              <a:t>venv</a:t>
            </a:r>
            <a:r>
              <a:rPr lang="en-IN" b="1" dirty="0">
                <a:solidFill>
                  <a:srgbClr val="FF0000"/>
                </a:solidFill>
              </a:rPr>
              <a:t> source </a:t>
            </a:r>
            <a:r>
              <a:rPr lang="en-IN" b="1" dirty="0" err="1">
                <a:solidFill>
                  <a:srgbClr val="FF0000"/>
                </a:solidFill>
              </a:rPr>
              <a:t>venv</a:t>
            </a:r>
            <a:r>
              <a:rPr lang="en-IN" b="1" dirty="0">
                <a:solidFill>
                  <a:srgbClr val="FF0000"/>
                </a:solidFill>
              </a:rPr>
              <a:t>/bin/activate </a:t>
            </a:r>
          </a:p>
          <a:p>
            <a:r>
              <a:rPr lang="en-IN" b="1" dirty="0" err="1"/>
              <a:t>pipenv</a:t>
            </a:r>
            <a:r>
              <a:rPr lang="en-IN" dirty="0"/>
              <a:t> (manages both </a:t>
            </a:r>
            <a:r>
              <a:rPr lang="en-IN" dirty="0" err="1"/>
              <a:t>venv</a:t>
            </a:r>
            <a:r>
              <a:rPr lang="en-IN" dirty="0"/>
              <a:t> + dependencies):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pip install </a:t>
            </a:r>
            <a:r>
              <a:rPr lang="en-IN" b="1" dirty="0" err="1">
                <a:solidFill>
                  <a:srgbClr val="FF0000"/>
                </a:solidFill>
              </a:rPr>
              <a:t>pipenv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b="1" dirty="0" err="1">
                <a:solidFill>
                  <a:srgbClr val="FF0000"/>
                </a:solidFill>
              </a:rPr>
              <a:t>pipenv</a:t>
            </a:r>
            <a:r>
              <a:rPr lang="en-IN" b="1" dirty="0">
                <a:solidFill>
                  <a:srgbClr val="FF0000"/>
                </a:solidFill>
              </a:rPr>
              <a:t> install </a:t>
            </a:r>
            <a:r>
              <a:rPr lang="en-IN" b="1" dirty="0" err="1">
                <a:solidFill>
                  <a:srgbClr val="FF0000"/>
                </a:solidFill>
              </a:rPr>
              <a:t>fastapi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b="1" dirty="0" err="1">
                <a:solidFill>
                  <a:srgbClr val="FF0000"/>
                </a:solidFill>
              </a:rPr>
              <a:t>uvicorn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b="1" dirty="0" err="1">
                <a:solidFill>
                  <a:srgbClr val="FF0000"/>
                </a:solidFill>
              </a:rPr>
              <a:t>pipenv</a:t>
            </a:r>
            <a:r>
              <a:rPr lang="en-IN" b="1" dirty="0">
                <a:solidFill>
                  <a:srgbClr val="FF0000"/>
                </a:solidFill>
              </a:rPr>
              <a:t> shell </a:t>
            </a:r>
          </a:p>
          <a:p>
            <a:pPr marL="0" indent="0">
              <a:buNone/>
            </a:pPr>
            <a:r>
              <a:rPr lang="en-IN" b="1" dirty="0"/>
              <a:t> Best Practice </a:t>
            </a:r>
          </a:p>
          <a:p>
            <a:r>
              <a:rPr lang="en-IN" dirty="0"/>
              <a:t>Keep your </a:t>
            </a:r>
            <a:r>
              <a:rPr lang="en-IN" dirty="0" err="1"/>
              <a:t>venv</a:t>
            </a:r>
            <a:r>
              <a:rPr lang="en-IN" dirty="0"/>
              <a:t>/ folder </a:t>
            </a:r>
            <a:r>
              <a:rPr lang="en-IN" b="1" dirty="0"/>
              <a:t>out of version control</a:t>
            </a:r>
            <a:r>
              <a:rPr lang="en-IN" dirty="0"/>
              <a:t> by adding it to .</a:t>
            </a:r>
            <a:r>
              <a:rPr lang="en-IN" dirty="0" err="1"/>
              <a:t>gitignore</a:t>
            </a:r>
            <a:r>
              <a:rPr lang="en-IN" dirty="0"/>
              <a:t>.</a:t>
            </a:r>
          </a:p>
          <a:p>
            <a:r>
              <a:rPr lang="en-IN" dirty="0"/>
              <a:t>Always document activation steps in your README.md so teammates can replicate easily.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3553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BF786-9C43-0566-4D04-9BB35F4C1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A0FC-7503-9EE7-54AD-D9F2363E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Virtual environment workflow with Docker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8AA50-DCF4-6CA4-B82D-ABF245843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r>
              <a:rPr lang="en-IN" dirty="0"/>
              <a:t>Combine  </a:t>
            </a:r>
            <a:r>
              <a:rPr lang="en-IN" b="1" dirty="0"/>
              <a:t>virtual environment workflow</a:t>
            </a:r>
            <a:r>
              <a:rPr lang="en-IN" dirty="0"/>
              <a:t> with </a:t>
            </a:r>
            <a:r>
              <a:rPr lang="en-IN" b="1" dirty="0"/>
              <a:t>Docker</a:t>
            </a:r>
            <a:r>
              <a:rPr lang="en-IN" dirty="0"/>
              <a:t> to get reproducible builds and don’t have to manually activate environments when deploying.</a:t>
            </a:r>
          </a:p>
          <a:p>
            <a:pPr marL="0" indent="0">
              <a:buNone/>
            </a:pPr>
            <a:r>
              <a:rPr lang="en-IN" dirty="0"/>
              <a:t>Why Combine </a:t>
            </a:r>
            <a:r>
              <a:rPr lang="en-IN" dirty="0" err="1"/>
              <a:t>venv</a:t>
            </a:r>
            <a:r>
              <a:rPr lang="en-IN" dirty="0"/>
              <a:t> + Docker?</a:t>
            </a:r>
          </a:p>
          <a:p>
            <a:r>
              <a:rPr lang="en-IN" b="1" dirty="0"/>
              <a:t>Local dev</a:t>
            </a:r>
            <a:r>
              <a:rPr lang="en-IN" dirty="0"/>
              <a:t>: Use </a:t>
            </a:r>
            <a:r>
              <a:rPr lang="en-IN" dirty="0" err="1"/>
              <a:t>venv</a:t>
            </a:r>
            <a:r>
              <a:rPr lang="en-IN" dirty="0"/>
              <a:t> to isolate dependencies while coding.</a:t>
            </a:r>
          </a:p>
          <a:p>
            <a:r>
              <a:rPr lang="en-IN" b="1" dirty="0"/>
              <a:t>Deployment</a:t>
            </a:r>
            <a:r>
              <a:rPr lang="en-IN" dirty="0"/>
              <a:t>: Docker ensures the same environment runs everywhere (CI/CD, cloud, teammates’ machines).</a:t>
            </a:r>
          </a:p>
          <a:p>
            <a:r>
              <a:rPr lang="en-IN" b="1" dirty="0"/>
              <a:t>Best practice</a:t>
            </a:r>
            <a:r>
              <a:rPr lang="en-IN" dirty="0"/>
              <a:t>: Keep </a:t>
            </a:r>
            <a:r>
              <a:rPr lang="en-IN" dirty="0" err="1"/>
              <a:t>venv</a:t>
            </a:r>
            <a:r>
              <a:rPr lang="en-IN" dirty="0"/>
              <a:t> for local development, but let Docker handle environments in production.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29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346F-1017-C06A-AE5C-F8C5EC6B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4C6B-81DE-A193-7BC8-41E3C14AE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39099B-4144-3464-E472-B21EF8E66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1786" y="2966532"/>
            <a:ext cx="4121013" cy="216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8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5D06F-A2BF-0F88-0B85-B1BD2DF8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C692-AD19-F343-AE1F-D191FB3ED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</a:t>
            </a:r>
            <a:r>
              <a:rPr lang="en-US" dirty="0" err="1"/>
              <a:t>Dockerfile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40A45-8D60-1CBD-057E-7CB3B92D4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Instead of copying your local </a:t>
            </a:r>
            <a:r>
              <a:rPr lang="en-US" dirty="0" err="1"/>
              <a:t>venv</a:t>
            </a:r>
            <a:r>
              <a:rPr lang="en-US" dirty="0"/>
              <a:t>, Docker creates its own isolated environment:</a:t>
            </a:r>
          </a:p>
          <a:p>
            <a:pPr marL="0" indent="0">
              <a:buNone/>
            </a:pPr>
            <a:r>
              <a:rPr lang="en-US" dirty="0"/>
              <a:t># Base image</a:t>
            </a:r>
          </a:p>
          <a:p>
            <a:pPr marL="0" indent="0">
              <a:buNone/>
            </a:pPr>
            <a:r>
              <a:rPr lang="en-US" dirty="0"/>
              <a:t>FROM python:3.11-slim</a:t>
            </a:r>
          </a:p>
          <a:p>
            <a:pPr marL="0" indent="0">
              <a:buNone/>
            </a:pPr>
            <a:r>
              <a:rPr lang="en-US" dirty="0"/>
              <a:t># Set working directory</a:t>
            </a:r>
          </a:p>
          <a:p>
            <a:pPr marL="0" indent="0">
              <a:buNone/>
            </a:pPr>
            <a:r>
              <a:rPr lang="en-US" dirty="0"/>
              <a:t>WORKDIR /app</a:t>
            </a:r>
          </a:p>
          <a:p>
            <a:pPr marL="0" indent="0">
              <a:buNone/>
            </a:pPr>
            <a:r>
              <a:rPr lang="en-US" dirty="0"/>
              <a:t># Install dependencies</a:t>
            </a:r>
          </a:p>
          <a:p>
            <a:pPr marL="0" indent="0">
              <a:buNone/>
            </a:pPr>
            <a:r>
              <a:rPr lang="en-US" dirty="0"/>
              <a:t>COPY requirements.txt .</a:t>
            </a:r>
          </a:p>
          <a:p>
            <a:pPr marL="0" indent="0">
              <a:buNone/>
            </a:pPr>
            <a:r>
              <a:rPr lang="en-US" dirty="0"/>
              <a:t>RUN pip install --no-cache-</a:t>
            </a:r>
            <a:r>
              <a:rPr lang="en-US" dirty="0" err="1"/>
              <a:t>dir</a:t>
            </a:r>
            <a:r>
              <a:rPr lang="en-US" dirty="0"/>
              <a:t> -r requirements.txt</a:t>
            </a:r>
          </a:p>
          <a:p>
            <a:pPr marL="0" indent="0">
              <a:buNone/>
            </a:pPr>
            <a:r>
              <a:rPr lang="en-US" dirty="0"/>
              <a:t># Copy project files</a:t>
            </a:r>
          </a:p>
          <a:p>
            <a:pPr marL="0" indent="0">
              <a:buNone/>
            </a:pPr>
            <a:r>
              <a:rPr lang="en-US" dirty="0"/>
              <a:t>COPY . .</a:t>
            </a:r>
          </a:p>
          <a:p>
            <a:pPr marL="0" indent="0">
              <a:buNone/>
            </a:pPr>
            <a:r>
              <a:rPr lang="en-US" dirty="0"/>
              <a:t># Expose </a:t>
            </a:r>
            <a:r>
              <a:rPr lang="en-US" dirty="0" err="1"/>
              <a:t>FastAPI</a:t>
            </a:r>
            <a:r>
              <a:rPr lang="en-US" dirty="0"/>
              <a:t> port</a:t>
            </a:r>
          </a:p>
          <a:p>
            <a:pPr marL="0" indent="0">
              <a:buNone/>
            </a:pPr>
            <a:r>
              <a:rPr lang="en-US" dirty="0"/>
              <a:t>EXPOSE 8000</a:t>
            </a:r>
          </a:p>
          <a:p>
            <a:pPr marL="0" indent="0">
              <a:buNone/>
            </a:pPr>
            <a:r>
              <a:rPr lang="en-US" dirty="0"/>
              <a:t># Run </a:t>
            </a:r>
            <a:r>
              <a:rPr lang="en-US" dirty="0" err="1"/>
              <a:t>FastAPI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CMD ["</a:t>
            </a:r>
            <a:r>
              <a:rPr lang="en-US" dirty="0" err="1"/>
              <a:t>uvicorn</a:t>
            </a:r>
            <a:r>
              <a:rPr lang="en-US" dirty="0"/>
              <a:t>", "</a:t>
            </a:r>
            <a:r>
              <a:rPr lang="en-US" dirty="0" err="1"/>
              <a:t>app.main:app</a:t>
            </a:r>
            <a:r>
              <a:rPr lang="en-US" dirty="0"/>
              <a:t>", "--host", "0.0.0.0", "--port", "8000"]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294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B6F4-CA57-0DC4-FD59-92EE0A40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32A0-A7CB-0B2A-6856-F8FA5A1E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.</a:t>
            </a:r>
            <a:r>
              <a:rPr lang="en-IN" dirty="0" err="1"/>
              <a:t>dockerignore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454EA-3C29-B561-3FC9-1BA7E65D0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/>
          </a:bodyPr>
          <a:lstStyle/>
          <a:p>
            <a:r>
              <a:rPr lang="en-IN" dirty="0"/>
              <a:t>Prevent unnecessary files (like your local </a:t>
            </a:r>
            <a:r>
              <a:rPr lang="en-IN" dirty="0" err="1"/>
              <a:t>venv</a:t>
            </a:r>
            <a:r>
              <a:rPr lang="en-IN" dirty="0"/>
              <a:t>) from bloating the image:</a:t>
            </a:r>
          </a:p>
          <a:p>
            <a:pPr marL="0" indent="0">
              <a:buNone/>
            </a:pPr>
            <a:r>
              <a:rPr lang="en-IN" dirty="0" err="1"/>
              <a:t>venv</a:t>
            </a:r>
            <a:r>
              <a:rPr lang="en-IN" dirty="0"/>
              <a:t>/</a:t>
            </a:r>
          </a:p>
          <a:p>
            <a:pPr marL="0" indent="0">
              <a:buNone/>
            </a:pPr>
            <a:r>
              <a:rPr lang="en-IN" dirty="0"/>
              <a:t>__</a:t>
            </a:r>
            <a:r>
              <a:rPr lang="en-IN" dirty="0" err="1"/>
              <a:t>pycache</a:t>
            </a:r>
            <a:r>
              <a:rPr lang="en-IN" dirty="0"/>
              <a:t>__/</a:t>
            </a:r>
          </a:p>
          <a:p>
            <a:pPr marL="0" indent="0">
              <a:buNone/>
            </a:pPr>
            <a:r>
              <a:rPr lang="en-IN" dirty="0"/>
              <a:t>*.</a:t>
            </a:r>
            <a:r>
              <a:rPr lang="en-IN" dirty="0" err="1"/>
              <a:t>pyc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*.</a:t>
            </a:r>
            <a:r>
              <a:rPr lang="en-IN" dirty="0" err="1"/>
              <a:t>pyo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*.</a:t>
            </a:r>
            <a:r>
              <a:rPr lang="en-IN" dirty="0" err="1"/>
              <a:t>pyd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.env</a:t>
            </a:r>
          </a:p>
          <a:p>
            <a:pPr marL="0" indent="0">
              <a:buNone/>
            </a:pPr>
            <a:r>
              <a:rPr lang="en-IN" dirty="0"/>
              <a:t>.git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613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8B96-3230-4D4C-91AB-EB0BC13C6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Build &amp;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9120E-15AD-F230-FE1C-A00FFE55F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Build image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docker build -t </a:t>
            </a:r>
            <a:r>
              <a:rPr lang="en-IN" b="1" dirty="0" err="1">
                <a:solidFill>
                  <a:srgbClr val="FF0000"/>
                </a:solidFill>
              </a:rPr>
              <a:t>fastapi</a:t>
            </a:r>
            <a:r>
              <a:rPr lang="en-IN" b="1" dirty="0">
                <a:solidFill>
                  <a:srgbClr val="FF0000"/>
                </a:solidFill>
              </a:rPr>
              <a:t>-app .</a:t>
            </a:r>
          </a:p>
          <a:p>
            <a:endParaRPr lang="en-IN" dirty="0"/>
          </a:p>
          <a:p>
            <a:r>
              <a:rPr lang="en-IN" dirty="0"/>
              <a:t># Run container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docker run -d -p 8000:8000 </a:t>
            </a:r>
            <a:r>
              <a:rPr lang="en-IN" b="1" dirty="0" err="1">
                <a:solidFill>
                  <a:srgbClr val="FF0000"/>
                </a:solidFill>
              </a:rPr>
              <a:t>fastapi</a:t>
            </a:r>
            <a:r>
              <a:rPr lang="en-IN" b="1" dirty="0">
                <a:solidFill>
                  <a:srgbClr val="FF0000"/>
                </a:solidFill>
              </a:rPr>
              <a:t>-app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162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AA95-5E57-1709-8ACF-5FB81732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Local Dev vs Docker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45D153-2542-D994-FE80-8E2EFAD4B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Local dev: </a:t>
            </a:r>
          </a:p>
          <a:p>
            <a:pPr marL="0" indent="0">
              <a:buNone/>
            </a:pPr>
            <a:r>
              <a:rPr lang="en-IN" dirty="0"/>
              <a:t>python -m </a:t>
            </a:r>
            <a:r>
              <a:rPr lang="en-IN" dirty="0" err="1"/>
              <a:t>venv</a:t>
            </a:r>
            <a:r>
              <a:rPr lang="en-IN" dirty="0"/>
              <a:t> </a:t>
            </a:r>
            <a:r>
              <a:rPr lang="en-IN" dirty="0" err="1"/>
              <a:t>venv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source </a:t>
            </a:r>
            <a:r>
              <a:rPr lang="en-IN" dirty="0" err="1"/>
              <a:t>venv</a:t>
            </a:r>
            <a:r>
              <a:rPr lang="en-IN" dirty="0"/>
              <a:t>/bin/activate</a:t>
            </a:r>
          </a:p>
          <a:p>
            <a:pPr marL="0" indent="0">
              <a:buNone/>
            </a:pPr>
            <a:r>
              <a:rPr lang="en-IN" dirty="0"/>
              <a:t>pip install -r requirements.txt</a:t>
            </a:r>
          </a:p>
          <a:p>
            <a:pPr marL="0" indent="0">
              <a:buNone/>
            </a:pPr>
            <a:r>
              <a:rPr lang="en-IN" dirty="0" err="1"/>
              <a:t>uvicorn</a:t>
            </a:r>
            <a:r>
              <a:rPr lang="en-IN" dirty="0"/>
              <a:t> </a:t>
            </a:r>
            <a:r>
              <a:rPr lang="en-IN" dirty="0" err="1"/>
              <a:t>app.main:app</a:t>
            </a:r>
            <a:r>
              <a:rPr lang="en-IN" dirty="0"/>
              <a:t> --reload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728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A9D4-6460-2B26-A206-9B778CDB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98A8-DE6C-9C06-85EC-D8078B1E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Local Dev vs Docker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FF9D1-322A-0C76-A575-74E5A6489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Production (Docker)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docker build -t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fastapi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-app 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docker run -d -p 8000:8000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fastapi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-app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2974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08BF3-53C5-8E9C-6BCF-E2EC4101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2F174-51D2-E2A8-73B3-9E3800F0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Use </a:t>
            </a:r>
            <a:r>
              <a:rPr lang="en-US" dirty="0" err="1"/>
              <a:t>venv</a:t>
            </a:r>
            <a:r>
              <a:rPr lang="en-US" dirty="0"/>
              <a:t> for local development convenience.</a:t>
            </a:r>
          </a:p>
          <a:p>
            <a:r>
              <a:rPr lang="en-US" dirty="0"/>
              <a:t>- Use Docker for deployment and CI/CD consistency.</a:t>
            </a:r>
          </a:p>
          <a:p>
            <a:r>
              <a:rPr lang="en-US" dirty="0"/>
              <a:t>- Never copy your local </a:t>
            </a:r>
            <a:r>
              <a:rPr lang="en-US" dirty="0" err="1"/>
              <a:t>venv</a:t>
            </a:r>
            <a:r>
              <a:rPr lang="en-US" dirty="0"/>
              <a:t> into Docker — let Docker rebuild dependencies from requirements.txt.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724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941C8-B2B6-131D-6572-EF76093A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3237-66F5-1CE4-15AC-760C2E58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Scaffold a </a:t>
            </a:r>
            <a:r>
              <a:rPr lang="en-IN" dirty="0" err="1"/>
              <a:t>FastAPI</a:t>
            </a:r>
            <a:r>
              <a:rPr lang="en-IN" dirty="0"/>
              <a:t>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2DFA-4467-0FFD-9E88-90BFF4E42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Can use a CLI tool called </a:t>
            </a:r>
            <a:r>
              <a:rPr lang="en-US" b="1" dirty="0" err="1">
                <a:solidFill>
                  <a:srgbClr val="FF0000"/>
                </a:solidFill>
              </a:rPr>
              <a:t>fastapi</a:t>
            </a:r>
            <a:r>
              <a:rPr lang="en-US" b="1" dirty="0">
                <a:solidFill>
                  <a:srgbClr val="FF0000"/>
                </a:solidFill>
              </a:rPr>
              <a:t>-project-creator</a:t>
            </a:r>
            <a:r>
              <a:rPr lang="en-US" dirty="0"/>
              <a:t> to automatically scaffold a </a:t>
            </a:r>
            <a:r>
              <a:rPr lang="en-US" dirty="0" err="1"/>
              <a:t>FastAPI</a:t>
            </a:r>
            <a:r>
              <a:rPr lang="en-US" dirty="0"/>
              <a:t> project with a best-practice folder structure.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pip install </a:t>
            </a:r>
            <a:r>
              <a:rPr lang="en-IN" b="1" dirty="0" err="1">
                <a:solidFill>
                  <a:srgbClr val="FF0000"/>
                </a:solidFill>
              </a:rPr>
              <a:t>fastapi</a:t>
            </a:r>
            <a:r>
              <a:rPr lang="en-IN" b="1" dirty="0">
                <a:solidFill>
                  <a:srgbClr val="FF0000"/>
                </a:solidFill>
              </a:rPr>
              <a:t>-project-creator</a:t>
            </a:r>
          </a:p>
          <a:p>
            <a:r>
              <a:rPr lang="en-IN" dirty="0"/>
              <a:t>Create a new project: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create-</a:t>
            </a:r>
            <a:r>
              <a:rPr lang="en-IN" b="1" dirty="0" err="1">
                <a:solidFill>
                  <a:srgbClr val="FF0000"/>
                </a:solidFill>
              </a:rPr>
              <a:t>fastapi</a:t>
            </a:r>
            <a:r>
              <a:rPr lang="en-IN" b="1" dirty="0">
                <a:solidFill>
                  <a:srgbClr val="FF0000"/>
                </a:solidFill>
              </a:rPr>
              <a:t>-app my-project-name</a:t>
            </a:r>
          </a:p>
          <a:p>
            <a:r>
              <a:rPr lang="en-IN" dirty="0"/>
              <a:t>- This generates a ready-to-use </a:t>
            </a:r>
            <a:r>
              <a:rPr lang="en-IN" dirty="0" err="1"/>
              <a:t>FastAPI</a:t>
            </a:r>
            <a:r>
              <a:rPr lang="en-IN" dirty="0"/>
              <a:t> project with:</a:t>
            </a:r>
          </a:p>
          <a:p>
            <a:pPr lvl="1"/>
            <a:r>
              <a:rPr lang="en-IN" dirty="0"/>
              <a:t>- Organized directory structure</a:t>
            </a:r>
          </a:p>
          <a:p>
            <a:pPr lvl="1"/>
            <a:r>
              <a:rPr lang="en-IN" dirty="0"/>
              <a:t>- Pre-configured API routers (controllers &amp; services)</a:t>
            </a:r>
          </a:p>
          <a:p>
            <a:pPr lvl="1"/>
            <a:r>
              <a:rPr lang="en-IN" dirty="0"/>
              <a:t>- Database connection setup (</a:t>
            </a:r>
            <a:r>
              <a:rPr lang="en-IN" dirty="0" err="1"/>
              <a:t>SQLAlchemy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- Environment variable configuration</a:t>
            </a:r>
          </a:p>
          <a:p>
            <a:pPr lvl="1"/>
            <a:r>
              <a:rPr lang="en-IN" dirty="0"/>
              <a:t>- Proper entry point (main.py)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9194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B495C-2F86-C817-CA92-932FF9D8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82FA-C958-CD17-470F-1C5E430F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Folder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84673-7587-43A5-CFA9-02A7EA74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531" y="2698160"/>
            <a:ext cx="2796782" cy="35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010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CE233-BC9D-41B4-02E9-4C7A8BE4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3FF35-8C9B-1551-9E4C-9656373F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requirements.txt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EA6C-D839-8FB0-FC56-F193B1F21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File plays a critical role in any Python project, including </a:t>
            </a:r>
            <a:r>
              <a:rPr lang="en-US" dirty="0" err="1"/>
              <a:t>FastAPI</a:t>
            </a:r>
            <a:r>
              <a:rPr lang="en-US" dirty="0"/>
              <a:t>. </a:t>
            </a:r>
          </a:p>
          <a:p>
            <a:r>
              <a:rPr lang="en-US" dirty="0"/>
              <a:t>Think of it as the </a:t>
            </a:r>
            <a:r>
              <a:rPr lang="en-US" b="1" dirty="0"/>
              <a:t>blueprint for your project’s dependencies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Dependency Management</a:t>
            </a:r>
          </a:p>
          <a:p>
            <a:r>
              <a:rPr lang="en-US" dirty="0"/>
              <a:t>Lists all the Python packages (and their versions) your </a:t>
            </a:r>
            <a:r>
              <a:rPr lang="en-US" dirty="0" err="1"/>
              <a:t>FastAPI</a:t>
            </a:r>
            <a:r>
              <a:rPr lang="en-US" dirty="0"/>
              <a:t> project needs to run.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Reproducibility</a:t>
            </a:r>
          </a:p>
          <a:p>
            <a:r>
              <a:rPr lang="en-US" dirty="0"/>
              <a:t>Ensures that anyone (including CI/CD pipelines, Docker builds, or teammates) can recreate the same environment by running:</a:t>
            </a:r>
          </a:p>
          <a:p>
            <a:pPr lvl="1"/>
            <a:r>
              <a:rPr lang="en-US" dirty="0"/>
              <a:t>pip install -r requirements.txt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Portability</a:t>
            </a:r>
          </a:p>
          <a:p>
            <a:r>
              <a:rPr lang="en-US" dirty="0"/>
              <a:t>Makes your project portable across machines, servers, and cloud deployments. Without it, others would have to guess which packages you used.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Version Control</a:t>
            </a:r>
          </a:p>
          <a:p>
            <a:r>
              <a:rPr lang="en-US" dirty="0"/>
              <a:t>Pinning versions (package==</a:t>
            </a:r>
            <a:r>
              <a:rPr lang="en-US" dirty="0" err="1"/>
              <a:t>x.y.z</a:t>
            </a:r>
            <a:r>
              <a:rPr lang="en-US" dirty="0"/>
              <a:t>) avoids “works on my machine” issues by locking dependencies to tested versions.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95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88C3-E410-9311-2E30-E401D3A1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B1A0-68D4-5291-5811-CA799FB4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requirements.txt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E18D3-762C-4527-57B9-0ABDEEE6D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pPr marL="0" indent="0">
              <a:buNone/>
            </a:pPr>
            <a:r>
              <a:rPr lang="en-IN" dirty="0" err="1"/>
              <a:t>fastapi</a:t>
            </a:r>
            <a:r>
              <a:rPr lang="en-IN" dirty="0"/>
              <a:t>==0.115.0</a:t>
            </a:r>
          </a:p>
          <a:p>
            <a:pPr marL="0" indent="0">
              <a:buNone/>
            </a:pPr>
            <a:r>
              <a:rPr lang="en-IN" dirty="0" err="1"/>
              <a:t>uvicorn</a:t>
            </a:r>
            <a:r>
              <a:rPr lang="en-IN" dirty="0"/>
              <a:t>==0.32.0</a:t>
            </a:r>
          </a:p>
          <a:p>
            <a:pPr marL="0" indent="0">
              <a:buNone/>
            </a:pPr>
            <a:r>
              <a:rPr lang="en-IN" dirty="0" err="1"/>
              <a:t>sqlalchemy</a:t>
            </a:r>
            <a:r>
              <a:rPr lang="en-IN" dirty="0"/>
              <a:t>==2.0.23</a:t>
            </a:r>
          </a:p>
          <a:p>
            <a:pPr marL="0" indent="0">
              <a:buNone/>
            </a:pPr>
            <a:r>
              <a:rPr lang="en-IN" dirty="0"/>
              <a:t>python-</a:t>
            </a:r>
            <a:r>
              <a:rPr lang="en-IN" dirty="0" err="1"/>
              <a:t>dotenv</a:t>
            </a:r>
            <a:r>
              <a:rPr lang="en-IN" dirty="0"/>
              <a:t>==1.0.0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Requirements.txt is the </a:t>
            </a:r>
            <a:r>
              <a:rPr lang="en-US" b="1" dirty="0"/>
              <a:t>contract</a:t>
            </a:r>
            <a:r>
              <a:rPr lang="en-US" dirty="0"/>
              <a:t> between your </a:t>
            </a:r>
            <a:r>
              <a:rPr lang="en-US" dirty="0" err="1"/>
              <a:t>FastAPI</a:t>
            </a:r>
            <a:r>
              <a:rPr lang="en-US" dirty="0"/>
              <a:t> project and its environment. </a:t>
            </a:r>
          </a:p>
          <a:p>
            <a:r>
              <a:rPr lang="en-US" dirty="0"/>
              <a:t>Guarantees that your app runs the same way everywhere — locally, in Docker, and in CI/CD pipelines.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82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8CE5-474D-72DE-F8E2-D5F09373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9F30-888B-735B-65A1-D2080D55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requirements.txt is Important in </a:t>
            </a:r>
            <a:r>
              <a:rPr lang="en-IN" dirty="0" err="1"/>
              <a:t>FastAPI</a:t>
            </a:r>
            <a:r>
              <a:rPr lang="en-IN" dirty="0"/>
              <a:t>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EF71B-D689-2327-AAB3-2E59084E7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 lnSpcReduction="10000"/>
          </a:bodyPr>
          <a:lstStyle/>
          <a:p>
            <a:r>
              <a:rPr lang="en-IN" dirty="0" err="1"/>
              <a:t>FastAPI</a:t>
            </a:r>
            <a:r>
              <a:rPr lang="en-IN" dirty="0"/>
              <a:t> projects often rely on multiple libraries:</a:t>
            </a:r>
          </a:p>
          <a:p>
            <a:pPr lvl="1"/>
            <a:r>
              <a:rPr lang="en-IN" b="1" dirty="0"/>
              <a:t>Web server</a:t>
            </a:r>
            <a:r>
              <a:rPr lang="en-IN" dirty="0"/>
              <a:t>: </a:t>
            </a:r>
            <a:r>
              <a:rPr lang="en-IN" dirty="0" err="1"/>
              <a:t>uvicorn</a:t>
            </a:r>
            <a:r>
              <a:rPr lang="en-IN" dirty="0"/>
              <a:t> or </a:t>
            </a:r>
            <a:r>
              <a:rPr lang="en-IN" dirty="0" err="1"/>
              <a:t>hypercorn</a:t>
            </a:r>
            <a:endParaRPr lang="en-IN" dirty="0"/>
          </a:p>
          <a:p>
            <a:pPr lvl="1"/>
            <a:r>
              <a:rPr lang="en-IN" b="1" dirty="0"/>
              <a:t>Database</a:t>
            </a:r>
            <a:r>
              <a:rPr lang="en-IN" dirty="0"/>
              <a:t>: </a:t>
            </a:r>
            <a:r>
              <a:rPr lang="en-IN" dirty="0" err="1"/>
              <a:t>sqlalchemy</a:t>
            </a:r>
            <a:r>
              <a:rPr lang="en-IN" dirty="0"/>
              <a:t>, psycopg2, tortoise-</a:t>
            </a:r>
            <a:r>
              <a:rPr lang="en-IN" dirty="0" err="1"/>
              <a:t>orm</a:t>
            </a:r>
            <a:endParaRPr lang="en-IN" dirty="0"/>
          </a:p>
          <a:p>
            <a:pPr lvl="1"/>
            <a:r>
              <a:rPr lang="en-IN" b="1" dirty="0"/>
              <a:t>Auth/security</a:t>
            </a:r>
            <a:r>
              <a:rPr lang="en-IN" dirty="0"/>
              <a:t>: python-</a:t>
            </a:r>
            <a:r>
              <a:rPr lang="en-IN" dirty="0" err="1"/>
              <a:t>jose</a:t>
            </a:r>
            <a:r>
              <a:rPr lang="en-IN" dirty="0"/>
              <a:t>, </a:t>
            </a:r>
            <a:r>
              <a:rPr lang="en-IN" dirty="0" err="1"/>
              <a:t>passlib</a:t>
            </a:r>
            <a:endParaRPr lang="en-IN" dirty="0"/>
          </a:p>
          <a:p>
            <a:pPr lvl="1"/>
            <a:r>
              <a:rPr lang="en-IN" b="1" dirty="0"/>
              <a:t>Environment config</a:t>
            </a:r>
            <a:r>
              <a:rPr lang="en-IN" dirty="0"/>
              <a:t>: python-</a:t>
            </a:r>
            <a:r>
              <a:rPr lang="en-IN" dirty="0" err="1"/>
              <a:t>dotenv</a:t>
            </a:r>
            <a:endParaRPr lang="en-IN" dirty="0"/>
          </a:p>
          <a:p>
            <a:pPr lvl="1"/>
            <a:r>
              <a:rPr lang="en-IN" b="1" dirty="0"/>
              <a:t>Testing</a:t>
            </a:r>
            <a:r>
              <a:rPr lang="en-IN" dirty="0"/>
              <a:t>: </a:t>
            </a:r>
            <a:r>
              <a:rPr lang="en-IN" dirty="0" err="1"/>
              <a:t>pytest</a:t>
            </a:r>
            <a:r>
              <a:rPr lang="en-IN" dirty="0"/>
              <a:t>, </a:t>
            </a:r>
            <a:r>
              <a:rPr lang="en-IN" dirty="0" err="1"/>
              <a:t>httpx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Having them in requirements.txt ensures:</a:t>
            </a:r>
          </a:p>
          <a:p>
            <a:r>
              <a:rPr lang="en-IN" b="1" dirty="0"/>
              <a:t>Docker builds</a:t>
            </a:r>
            <a:r>
              <a:rPr lang="en-IN" dirty="0"/>
              <a:t> install the exact same dependencies.</a:t>
            </a:r>
          </a:p>
          <a:p>
            <a:r>
              <a:rPr lang="en-IN" b="1" dirty="0"/>
              <a:t>GitHub Actions CI/CD pipeline</a:t>
            </a:r>
            <a:r>
              <a:rPr lang="en-IN" dirty="0"/>
              <a:t> can run tests consistently.</a:t>
            </a:r>
          </a:p>
          <a:p>
            <a:r>
              <a:rPr lang="en-IN" dirty="0"/>
              <a:t>Teammates can onboard quickly without manual setup.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79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AF018-E165-5ED0-7453-98350D70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5280-7249-45DF-2CC7-BDE781E1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6A81-84D6-4B29-55F3-9293545C4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During development, install packages:</a:t>
            </a:r>
          </a:p>
          <a:p>
            <a:r>
              <a:rPr lang="en-US" dirty="0"/>
              <a:t>pip install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uvicorn</a:t>
            </a:r>
            <a:r>
              <a:rPr lang="en-US" dirty="0"/>
              <a:t> </a:t>
            </a:r>
            <a:r>
              <a:rPr lang="en-US" dirty="0" err="1"/>
              <a:t>sqlalchemy</a:t>
            </a:r>
            <a:r>
              <a:rPr lang="en-US" dirty="0"/>
              <a:t> </a:t>
            </a:r>
          </a:p>
          <a:p>
            <a:pPr>
              <a:buFont typeface="+mj-lt"/>
              <a:buAutoNum type="arabicPeriod" startAt="2"/>
            </a:pPr>
            <a:r>
              <a:rPr lang="en-US" dirty="0"/>
              <a:t>Freeze dependencies:</a:t>
            </a:r>
          </a:p>
          <a:p>
            <a:r>
              <a:rPr lang="en-US" dirty="0"/>
              <a:t>pip freeze &gt; requirements.txt </a:t>
            </a:r>
          </a:p>
          <a:p>
            <a:pPr>
              <a:buFont typeface="+mj-lt"/>
              <a:buAutoNum type="arabicPeriod" startAt="3"/>
            </a:pPr>
            <a:r>
              <a:rPr lang="en-US" dirty="0"/>
              <a:t>Share the project → others just run:</a:t>
            </a:r>
          </a:p>
          <a:p>
            <a:r>
              <a:rPr lang="en-US" dirty="0"/>
              <a:t>pip install -r requirements.txt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502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29C20-268B-3A31-5757-EF165118A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59AA-28E2-E4FA-4C55-3FCFEB13E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create requirements.txt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32785-6E5C-F3FC-EB67-DEC78E2C6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1. Manual Creation</a:t>
            </a:r>
          </a:p>
          <a:p>
            <a:r>
              <a:rPr lang="en-IN" dirty="0"/>
              <a:t>If you already know the dependencies, can simply create a file named requirements.txt in your project root and list them:</a:t>
            </a:r>
          </a:p>
          <a:p>
            <a:pPr marL="0" indent="0">
              <a:buNone/>
            </a:pPr>
            <a:r>
              <a:rPr lang="en-IN" i="1" dirty="0" err="1"/>
              <a:t>fastapi</a:t>
            </a:r>
            <a:endParaRPr lang="en-IN" i="1" dirty="0"/>
          </a:p>
          <a:p>
            <a:pPr marL="0" indent="0">
              <a:buNone/>
            </a:pPr>
            <a:r>
              <a:rPr lang="en-IN" i="1" dirty="0" err="1"/>
              <a:t>uvicorn</a:t>
            </a:r>
            <a:r>
              <a:rPr lang="en-IN" i="1" dirty="0"/>
              <a:t>[standard]</a:t>
            </a:r>
          </a:p>
          <a:p>
            <a:pPr marL="0" indent="0">
              <a:buNone/>
            </a:pPr>
            <a:r>
              <a:rPr lang="en-IN" i="1" dirty="0" err="1"/>
              <a:t>sqlalchemy</a:t>
            </a:r>
            <a:endParaRPr lang="en-IN" i="1" dirty="0"/>
          </a:p>
          <a:p>
            <a:pPr marL="0" indent="0">
              <a:buNone/>
            </a:pPr>
            <a:r>
              <a:rPr lang="en-IN" i="1" dirty="0"/>
              <a:t>psycopg2-binary</a:t>
            </a:r>
          </a:p>
          <a:p>
            <a:pPr marL="0" indent="0">
              <a:buNone/>
            </a:pPr>
            <a:r>
              <a:rPr lang="en-IN" i="1" dirty="0"/>
              <a:t>python-</a:t>
            </a:r>
            <a:r>
              <a:rPr lang="en-IN" i="1" dirty="0" err="1"/>
              <a:t>dotenv</a:t>
            </a:r>
            <a:endParaRPr lang="en-IN" i="1" dirty="0"/>
          </a:p>
          <a:p>
            <a:r>
              <a:rPr lang="en-IN" dirty="0"/>
              <a:t>Then install them with: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pip install -r requirements.txt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469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FA6AC-5B26-AF8A-9578-DD269BCB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9D67-BB9F-ABA8-600C-9B3298D7F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create requirements.txt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49444-AD58-5A0E-3850-0F87738C8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chemeClr val="tx1"/>
                </a:solidFill>
              </a:rPr>
              <a:t> 2. Auto-Generate with pip freeze</a:t>
            </a:r>
          </a:p>
          <a:p>
            <a:r>
              <a:rPr lang="en-IN" sz="1400" dirty="0"/>
              <a:t>If you’ve already installed packages in your virtual environment, you can generate requirements.txt automatically:</a:t>
            </a:r>
          </a:p>
          <a:p>
            <a:r>
              <a:rPr lang="en-IN" sz="1400" dirty="0"/>
              <a:t># Activate your virtual environment first</a:t>
            </a:r>
          </a:p>
          <a:p>
            <a:pPr marL="0" indent="0">
              <a:buNone/>
            </a:pPr>
            <a:r>
              <a:rPr lang="en-IN" sz="1400" b="1" dirty="0">
                <a:solidFill>
                  <a:srgbClr val="FF0000"/>
                </a:solidFill>
              </a:rPr>
              <a:t>source </a:t>
            </a:r>
            <a:r>
              <a:rPr lang="en-IN" sz="1400" b="1" dirty="0" err="1">
                <a:solidFill>
                  <a:srgbClr val="FF0000"/>
                </a:solidFill>
              </a:rPr>
              <a:t>venv</a:t>
            </a:r>
            <a:r>
              <a:rPr lang="en-IN" sz="1400" b="1" dirty="0">
                <a:solidFill>
                  <a:srgbClr val="FF0000"/>
                </a:solidFill>
              </a:rPr>
              <a:t>/bin/activate   # Linux/Mac</a:t>
            </a:r>
          </a:p>
          <a:p>
            <a:pPr marL="0" indent="0">
              <a:buNone/>
            </a:pPr>
            <a:r>
              <a:rPr lang="en-IN" sz="1400" b="1" dirty="0" err="1">
                <a:solidFill>
                  <a:srgbClr val="FF0000"/>
                </a:solidFill>
              </a:rPr>
              <a:t>venv</a:t>
            </a:r>
            <a:r>
              <a:rPr lang="en-IN" sz="1400" b="1" dirty="0">
                <a:solidFill>
                  <a:srgbClr val="FF0000"/>
                </a:solidFill>
              </a:rPr>
              <a:t>\Scripts\Activate.ps1  # Windows PowerShell</a:t>
            </a:r>
          </a:p>
          <a:p>
            <a:r>
              <a:rPr lang="en-IN" sz="1400" dirty="0"/>
              <a:t># Generate requirements.txt</a:t>
            </a:r>
          </a:p>
          <a:p>
            <a:pPr marL="0" indent="0">
              <a:buNone/>
            </a:pPr>
            <a:r>
              <a:rPr lang="en-IN" sz="1400" b="1" dirty="0">
                <a:solidFill>
                  <a:srgbClr val="FF0000"/>
                </a:solidFill>
              </a:rPr>
              <a:t>pip freeze &gt; requirements.txt</a:t>
            </a:r>
          </a:p>
          <a:p>
            <a:r>
              <a:rPr lang="en-IN" sz="1400" dirty="0"/>
              <a:t>This will capture all installed packages (including versions) in your environment.</a:t>
            </a:r>
          </a:p>
          <a:p>
            <a:r>
              <a:rPr lang="en-IN" sz="1400" dirty="0"/>
              <a:t>Example output:</a:t>
            </a:r>
          </a:p>
          <a:p>
            <a:pPr marL="0" indent="0">
              <a:buNone/>
            </a:pPr>
            <a:r>
              <a:rPr lang="en-IN" sz="1400" b="1" dirty="0" err="1">
                <a:solidFill>
                  <a:srgbClr val="FF0000"/>
                </a:solidFill>
              </a:rPr>
              <a:t>fastapi</a:t>
            </a:r>
            <a:r>
              <a:rPr lang="en-IN" sz="1400" b="1" dirty="0">
                <a:solidFill>
                  <a:srgbClr val="FF0000"/>
                </a:solidFill>
              </a:rPr>
              <a:t>==0.115.0</a:t>
            </a:r>
          </a:p>
          <a:p>
            <a:pPr marL="0" indent="0">
              <a:buNone/>
            </a:pPr>
            <a:r>
              <a:rPr lang="en-IN" sz="1400" b="1" dirty="0" err="1">
                <a:solidFill>
                  <a:srgbClr val="FF0000"/>
                </a:solidFill>
              </a:rPr>
              <a:t>uvicorn</a:t>
            </a:r>
            <a:r>
              <a:rPr lang="en-IN" sz="1400" b="1" dirty="0">
                <a:solidFill>
                  <a:srgbClr val="FF0000"/>
                </a:solidFill>
              </a:rPr>
              <a:t>==0.32.0</a:t>
            </a:r>
          </a:p>
          <a:p>
            <a:pPr marL="0" indent="0">
              <a:buNone/>
            </a:pPr>
            <a:r>
              <a:rPr lang="en-IN" sz="1400" b="1" dirty="0" err="1">
                <a:solidFill>
                  <a:srgbClr val="FF0000"/>
                </a:solidFill>
              </a:rPr>
              <a:t>sqlalchemy</a:t>
            </a:r>
            <a:r>
              <a:rPr lang="en-IN" sz="1400" b="1" dirty="0">
                <a:solidFill>
                  <a:srgbClr val="FF0000"/>
                </a:solidFill>
              </a:rPr>
              <a:t>==2.0.23</a:t>
            </a:r>
          </a:p>
          <a:p>
            <a:pPr marL="0" indent="0">
              <a:buNone/>
            </a:pPr>
            <a:r>
              <a:rPr lang="en-IN" sz="1400" b="1" dirty="0">
                <a:solidFill>
                  <a:srgbClr val="FF0000"/>
                </a:solidFill>
              </a:rPr>
              <a:t>python-</a:t>
            </a:r>
            <a:r>
              <a:rPr lang="en-IN" sz="1400" b="1" dirty="0" err="1">
                <a:solidFill>
                  <a:srgbClr val="FF0000"/>
                </a:solidFill>
              </a:rPr>
              <a:t>dotenv</a:t>
            </a:r>
            <a:r>
              <a:rPr lang="en-IN" sz="1400" b="1" dirty="0">
                <a:solidFill>
                  <a:srgbClr val="FF0000"/>
                </a:solidFill>
              </a:rPr>
              <a:t>==1.0.0</a:t>
            </a:r>
          </a:p>
        </p:txBody>
      </p:sp>
    </p:spTree>
    <p:extLst>
      <p:ext uri="{BB962C8B-B14F-4D97-AF65-F5344CB8AC3E}">
        <p14:creationId xmlns:p14="http://schemas.microsoft.com/office/powerpoint/2010/main" val="3991772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BBAEF-5BEF-056C-4337-670331D8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FA06-A7E3-4966-06D4-90F6322D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create requirements.txt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2E1CC-6F53-B046-5504-0EA1FAACE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/>
          </a:bodyPr>
          <a:lstStyle/>
          <a:p>
            <a:r>
              <a:rPr lang="en-IN" dirty="0"/>
              <a:t>3. Use pip-tools for managing dependencies:</a:t>
            </a:r>
          </a:p>
          <a:p>
            <a:r>
              <a:rPr lang="en-IN" dirty="0"/>
              <a:t>pip install pip-tools</a:t>
            </a:r>
          </a:p>
          <a:p>
            <a:r>
              <a:rPr lang="en-IN" dirty="0"/>
              <a:t>pip-compile</a:t>
            </a:r>
          </a:p>
          <a:p>
            <a:r>
              <a:rPr lang="en-IN" dirty="0"/>
              <a:t>- This generates a clean, version-pinned requirements.txt from a simpler requirements.in.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1091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363F-9952-7492-9CD2-95CDFA67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6876-4454-406E-FFAE-A97A2EB2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create requirements.txt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C09A7-62B0-3CF1-890E-FF6A3643D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4. Built-in Tools- </a:t>
            </a:r>
            <a:r>
              <a:rPr lang="en-IN" dirty="0" err="1"/>
              <a:t>pipreqs</a:t>
            </a:r>
            <a:r>
              <a:rPr lang="en-IN" dirty="0"/>
              <a:t> </a:t>
            </a:r>
          </a:p>
          <a:p>
            <a:r>
              <a:rPr lang="en-IN" dirty="0"/>
              <a:t> scans your project imports and generates requirements.txt only for packages you actually use: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pip install </a:t>
            </a:r>
            <a:r>
              <a:rPr lang="en-IN" b="1" dirty="0" err="1">
                <a:solidFill>
                  <a:srgbClr val="C00000"/>
                </a:solidFill>
              </a:rPr>
              <a:t>pipreqs</a:t>
            </a:r>
            <a:endParaRPr lang="en-I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b="1" dirty="0" err="1">
                <a:solidFill>
                  <a:srgbClr val="C00000"/>
                </a:solidFill>
              </a:rPr>
              <a:t>pipreqs</a:t>
            </a:r>
            <a:r>
              <a:rPr lang="en-IN" b="1" dirty="0">
                <a:solidFill>
                  <a:srgbClr val="C00000"/>
                </a:solidFill>
              </a:rPr>
              <a:t> ./ --force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006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8AA88-7F64-E360-9C9A-034BE117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CB72-A495-A4FE-2BB8-71D3EA39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98714-BAF2-CF81-30F2-AC804D8C5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- Pin versions: Always include exact versions (package==</a:t>
            </a:r>
            <a:r>
              <a:rPr lang="en-IN" dirty="0" err="1"/>
              <a:t>x.y.z</a:t>
            </a:r>
            <a:r>
              <a:rPr lang="en-IN" dirty="0"/>
              <a:t>) for reproducibility.</a:t>
            </a:r>
          </a:p>
          <a:p>
            <a:r>
              <a:rPr lang="en-IN" dirty="0"/>
              <a:t>- Minimal list: Avoid dumping unnecessary packages (e.g., dev tools) into production requirements.</a:t>
            </a:r>
          </a:p>
          <a:p>
            <a:r>
              <a:rPr lang="en-IN" dirty="0"/>
              <a:t>- Use separate files:</a:t>
            </a:r>
          </a:p>
          <a:p>
            <a:pPr lvl="1"/>
            <a:r>
              <a:rPr lang="en-IN" dirty="0"/>
              <a:t>- requirements.txt → production</a:t>
            </a:r>
          </a:p>
          <a:p>
            <a:pPr lvl="1"/>
            <a:r>
              <a:rPr lang="en-IN" dirty="0"/>
              <a:t>- requirements-dev.txt → testing, linting, etc.</a:t>
            </a:r>
          </a:p>
          <a:p>
            <a:r>
              <a:rPr lang="en-IN" dirty="0">
                <a:solidFill>
                  <a:schemeClr val="accent3"/>
                </a:solidFill>
              </a:rPr>
              <a:t>In short:- Use pip freeze &gt; requirements.txt if you want a snapshot of your current environment.</a:t>
            </a:r>
          </a:p>
          <a:p>
            <a:r>
              <a:rPr lang="en-IN" dirty="0">
                <a:solidFill>
                  <a:schemeClr val="accent3"/>
                </a:solidFill>
              </a:rPr>
              <a:t>- Use </a:t>
            </a:r>
            <a:r>
              <a:rPr lang="en-IN" dirty="0" err="1">
                <a:solidFill>
                  <a:schemeClr val="accent3"/>
                </a:solidFill>
              </a:rPr>
              <a:t>pipreqs</a:t>
            </a:r>
            <a:r>
              <a:rPr lang="en-IN" dirty="0">
                <a:solidFill>
                  <a:schemeClr val="accent3"/>
                </a:solidFill>
              </a:rPr>
              <a:t> if you want a clean file based only on imports in your code.</a:t>
            </a:r>
          </a:p>
          <a:p>
            <a:r>
              <a:rPr lang="en-IN" dirty="0">
                <a:solidFill>
                  <a:schemeClr val="accent3"/>
                </a:solidFill>
              </a:rPr>
              <a:t>- For enterprise projects (like your </a:t>
            </a:r>
            <a:r>
              <a:rPr lang="en-IN" dirty="0" err="1">
                <a:solidFill>
                  <a:schemeClr val="accent3"/>
                </a:solidFill>
              </a:rPr>
              <a:t>FastAPI</a:t>
            </a:r>
            <a:r>
              <a:rPr lang="en-IN" dirty="0">
                <a:solidFill>
                  <a:schemeClr val="accent3"/>
                </a:solidFill>
              </a:rPr>
              <a:t> + OBDX integration),use pip-tools to keep dependencies tidy and pinned.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185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A5130-40FE-A5C2-F784-D38B126B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DABF-218A-E201-98BB-957E3872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E557D-5E99-E998-C95B-B8ABBF4C5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4769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1790-F617-91C5-31A0-30202F5B5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8629-DC7D-126E-FDC3-291A95EC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CF903-EF1F-782E-9F06-038D4098A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558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98B5E-F32C-0D20-BEB9-73568F494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14CF-88C8-2668-B619-8C6BA9EC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58E46-9D00-40D4-B2FC-734AE001D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77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8DC2A-9B7E-901D-DC40-E6AF660CF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6959-AE66-B3E6-5177-3C51D9D1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057D-2AC0-A00E-CA0B-91A0D8034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72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633BC-0082-ABD3-9DF2-05202EF2A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A1BD8-B8A9-F897-D764-3590DCE1B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7B54C-04E2-4AFD-DEB5-5868E323F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147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4327-BEE8-78ED-9E23-C73DAAE00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6800-3685-593E-B019-ABB5CA8E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5AD0-0110-08EB-2623-6540CC8B3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846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4FB26-BAD1-DD90-B753-0B26026B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BEE0-2EA0-B95E-C429-D997CF3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5E1A1-479B-991A-7502-EE7D83794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3585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FE986-D61A-5746-C329-90E87A44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85C2-773F-10EA-7A4A-F7A13EDC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3E4F1-B4DE-B608-BFF4-2C6F556AC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107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418BB-04CC-690F-B2F3-96C128B1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9843-703A-B337-E2F7-73A259E3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8D2FC-8885-8E42-F2A4-CA9E8CE23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515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C53A7-3C15-68E3-24D4-1A0768EB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6FDE-BEEC-F629-784C-3A389D8DD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8B2CF-7476-9D87-1937-C515ECE1E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816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E7F6A-8B83-878D-A7D1-B5A34053D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9CD4-3D7E-F7EC-458A-3536C5C4D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F3F2C-54B2-BE27-8188-ABA7E73D0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980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3D1F-AD0F-E69C-D8CD-B1E80178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217E2-9BE3-612B-42DD-E16F6D22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2E469-F71E-3782-CC94-2049F42E5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3390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83A4-1F31-6FD9-67D8-DD2858B6C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3355-1A48-90A4-A67B-CA8F43E4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3402D-BD0B-8A3D-D0A7-243A878A9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933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787DC-12AE-145F-3B8F-3034ABA03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4C02-819E-ACEC-605E-3FC594E1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F5120-581E-72E0-371B-27A0FBFB8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149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83D7-E688-00D2-DBA2-2825EF2CB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248A-9A63-D1B2-4C55-B284A513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2E056-C295-5E0C-2111-2F9E7CC9C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2030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BFBA5-09D5-4938-746C-9923D50C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8ED0-6B67-B6DE-860D-A1FC34CE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991AA-9B93-815E-ACE5-FE8A68304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36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A8520-6484-4D2E-CCB3-D481BDA2F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E8B9-CB5E-79BD-7573-67B07AB7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91D63-B4DE-3A51-B5CE-773C1742B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002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9B5C8-CB84-C749-FAF4-4094B0A0F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594E-7961-2328-447B-5864DBFF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64F05-8719-846B-B3D6-CEF750769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5880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BD2D3-913C-0B96-94B7-4956A945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81CF-2548-F058-C374-D040E02C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FBD3-8F51-B0B3-8935-36449ECBB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3175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EF251-E67A-5579-B04C-EEC6D49B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EAA4D-04BD-EDF6-A76C-A55F0A091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021F2-6B31-182C-0728-67CE63962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2624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E15E5-DEE2-1CC3-F5D5-6A641B381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0FF1-671F-45F1-FEE9-CB705F0A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74C17-FF4F-2EE7-AAA5-63A4C24CB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53315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F83C-5EBB-891A-77B0-80A7CA4F6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8477-8FA3-3202-88BD-A929A87DE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153C6-8A8A-3F9F-C915-87E5E7D27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2512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EFF91-24F9-9470-8F42-F88F68921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E92E-4156-5DF9-3311-360AFFA9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8389-42B5-40D0-1F62-4F949F865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6603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FB57-6C80-6D00-AA27-AD20FE4B6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671F-182B-8F34-A2DC-B92AC66A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A829A-D2C6-8247-F3C2-5D4F69D2F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7974" cy="380219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0601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2291</TotalTime>
  <Words>1539</Words>
  <Application>Microsoft Office PowerPoint</Application>
  <PresentationFormat>Widescreen</PresentationFormat>
  <Paragraphs>197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Century Gothic</vt:lpstr>
      <vt:lpstr>Wingdings 3</vt:lpstr>
      <vt:lpstr>Ion Boardroom</vt:lpstr>
      <vt:lpstr>PowerPoint Presentation</vt:lpstr>
      <vt:lpstr>Virtual Environments</vt:lpstr>
      <vt:lpstr>Key features</vt:lpstr>
      <vt:lpstr>Virtual Environments</vt:lpstr>
      <vt:lpstr>Using venv (built-in with Python)</vt:lpstr>
      <vt:lpstr>Install Dependencies</vt:lpstr>
      <vt:lpstr>(Optional) Using virtualenv or pipenv</vt:lpstr>
      <vt:lpstr>Virtual environment workflow with Docker </vt:lpstr>
      <vt:lpstr>Project Structure</vt:lpstr>
      <vt:lpstr>Step 1: Dockerfile</vt:lpstr>
      <vt:lpstr>Step 2: .dockerignore</vt:lpstr>
      <vt:lpstr>Step 3: Build &amp; Run</vt:lpstr>
      <vt:lpstr>Step 4: Local Dev vs Docker</vt:lpstr>
      <vt:lpstr>Step 4: Local Dev vs Docker</vt:lpstr>
      <vt:lpstr>Best practices</vt:lpstr>
      <vt:lpstr>Scaffold a FastAPI project</vt:lpstr>
      <vt:lpstr>Example Folder Structure</vt:lpstr>
      <vt:lpstr>requirements.txt</vt:lpstr>
      <vt:lpstr>Example of requirements.txt</vt:lpstr>
      <vt:lpstr>Why requirements.txt is Important in FastAPI Projects</vt:lpstr>
      <vt:lpstr>Workflow Example</vt:lpstr>
      <vt:lpstr>Ways to create requirements.txt</vt:lpstr>
      <vt:lpstr>Ways to create requirements.txt</vt:lpstr>
      <vt:lpstr>Ways to create requirements.txt</vt:lpstr>
      <vt:lpstr>Ways to create requirements.txt</vt:lpstr>
      <vt:lpstr>Best Practices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35</cp:revision>
  <dcterms:created xsi:type="dcterms:W3CDTF">2025-12-06T04:40:52Z</dcterms:created>
  <dcterms:modified xsi:type="dcterms:W3CDTF">2025-12-07T18:52:29Z</dcterms:modified>
</cp:coreProperties>
</file>